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548640"/>
            <a:ext cx="5486400" cy="274320"/>
          </a:xfrm>
          <a:prstGeom prst="rect">
            <a:avLst/>
          </a:prstGeom>
          <a:noFill/>
        </p:spPr>
        <p:txBody>
          <a:bodyPr wrap="square" lIns="45720" rIns="45720" tIns="18288" bIns="18288" anchor="t">
            <a:spAutoFit/>
          </a:bodyPr>
          <a:lstStyle/>
          <a:p>
            <a:pPr algn="l"/>
            <a:r>
              <a:rPr sz="1000" b="1" i="0">
                <a:solidFill>
                  <a:srgbClr val="00A3E0"/>
                </a:solidFill>
                <a:latin typeface="Poppins"/>
              </a:rPr>
              <a:t>STRATEGIC LAUNCH PLAN   //   CONFIDENTIAL</a:t>
            </a:r>
          </a:p>
        </p:txBody>
      </p:sp>
      <p:sp>
        <p:nvSpPr>
          <p:cNvPr id="5" name="TextBox 4"/>
          <p:cNvSpPr txBox="1"/>
          <p:nvPr/>
        </p:nvSpPr>
        <p:spPr>
          <a:xfrm>
            <a:off x="914400" y="1920240"/>
            <a:ext cx="10058400" cy="1463040"/>
          </a:xfrm>
          <a:prstGeom prst="rect">
            <a:avLst/>
          </a:prstGeom>
          <a:noFill/>
        </p:spPr>
        <p:txBody>
          <a:bodyPr wrap="square" lIns="45720" rIns="45720" tIns="18288" bIns="18288" anchor="t">
            <a:spAutoFit/>
          </a:bodyPr>
          <a:lstStyle/>
          <a:p>
            <a:pPr algn="l"/>
            <a:r>
              <a:rPr sz="9600" b="1" i="0">
                <a:solidFill>
                  <a:srgbClr val="FFFFFF"/>
                </a:solidFill>
                <a:latin typeface="Poppins"/>
              </a:rPr>
              <a:t>CloseClinic</a:t>
            </a:r>
          </a:p>
        </p:txBody>
      </p:sp>
      <p:sp>
        <p:nvSpPr>
          <p:cNvPr id="6" name="Rectangle 5"/>
          <p:cNvSpPr/>
          <p:nvPr/>
        </p:nvSpPr>
        <p:spPr>
          <a:xfrm>
            <a:off x="914400" y="3383280"/>
            <a:ext cx="1828800" cy="54864"/>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520440"/>
            <a:ext cx="10058400" cy="548640"/>
          </a:xfrm>
          <a:prstGeom prst="rect">
            <a:avLst/>
          </a:prstGeom>
          <a:noFill/>
        </p:spPr>
        <p:txBody>
          <a:bodyPr wrap="square" lIns="45720" rIns="45720" tIns="18288" bIns="18288" anchor="t">
            <a:spAutoFit/>
          </a:bodyPr>
          <a:lstStyle/>
          <a:p>
            <a:pPr algn="l"/>
            <a:r>
              <a:rPr sz="2600" b="0" i="0">
                <a:solidFill>
                  <a:srgbClr val="FFFFFF"/>
                </a:solidFill>
                <a:latin typeface="Poppins"/>
              </a:rPr>
              <a:t>The AI-Powered Sales OS for Contractors</a:t>
            </a:r>
          </a:p>
        </p:txBody>
      </p:sp>
      <p:sp>
        <p:nvSpPr>
          <p:cNvPr id="8" name="TextBox 7"/>
          <p:cNvSpPr txBox="1"/>
          <p:nvPr/>
        </p:nvSpPr>
        <p:spPr>
          <a:xfrm>
            <a:off x="914400" y="4160520"/>
            <a:ext cx="10058400" cy="457200"/>
          </a:xfrm>
          <a:prstGeom prst="rect">
            <a:avLst/>
          </a:prstGeom>
          <a:noFill/>
        </p:spPr>
        <p:txBody>
          <a:bodyPr wrap="square" lIns="45720" rIns="45720" tIns="18288" bIns="18288" anchor="t">
            <a:spAutoFit/>
          </a:bodyPr>
          <a:lstStyle/>
          <a:p>
            <a:pPr algn="l"/>
            <a:r>
              <a:rPr sz="1600" b="0" i="1">
                <a:solidFill>
                  <a:srgbClr val="CBD2DC"/>
                </a:solidFill>
                <a:latin typeface="Poppins"/>
              </a:rPr>
              <a:t>We don't just train. We install the stack.</a:t>
            </a:r>
          </a:p>
        </p:txBody>
      </p:sp>
      <p:sp>
        <p:nvSpPr>
          <p:cNvPr id="9" name="TextBox 8"/>
          <p:cNvSpPr txBox="1"/>
          <p:nvPr/>
        </p:nvSpPr>
        <p:spPr>
          <a:xfrm>
            <a:off x="914400" y="5394960"/>
            <a:ext cx="5486400" cy="1097280"/>
          </a:xfrm>
          <a:prstGeom prst="rect">
            <a:avLst/>
          </a:prstGeom>
          <a:noFill/>
        </p:spPr>
        <p:txBody>
          <a:bodyPr wrap="square" lIns="45720" rIns="45720" tIns="18288" bIns="18288" anchor="t">
            <a:spAutoFit/>
          </a:bodyPr>
          <a:lstStyle/>
          <a:p>
            <a:pPr algn="l">
              <a:spcAft>
                <a:spcPts val="200"/>
              </a:spcAft>
            </a:pPr>
            <a:r>
              <a:rPr sz="900" b="1" i="0">
                <a:solidFill>
                  <a:srgbClr val="00A3E0"/>
                </a:solidFill>
                <a:latin typeface="Poppins"/>
              </a:rPr>
              <a:t>PREPARED FOR</a:t>
            </a:r>
          </a:p>
          <a:p>
            <a:pPr algn="l">
              <a:spcAft>
                <a:spcPts val="200"/>
              </a:spcAft>
            </a:pPr>
            <a:r>
              <a:rPr sz="1800" b="1" i="0">
                <a:solidFill>
                  <a:srgbClr val="FFFFFF"/>
                </a:solidFill>
                <a:latin typeface="Poppins"/>
              </a:rPr>
              <a:t>Rob Acheson</a:t>
            </a:r>
          </a:p>
          <a:p>
            <a:pPr algn="l"/>
            <a:r>
              <a:rPr sz="1100" b="0" i="0">
                <a:solidFill>
                  <a:srgbClr val="CBD2DC"/>
                </a:solidFill>
                <a:latin typeface="Poppins"/>
              </a:rPr>
              <a:t>Founder &amp; Chief Executive</a:t>
            </a:r>
          </a:p>
        </p:txBody>
      </p:sp>
      <p:sp>
        <p:nvSpPr>
          <p:cNvPr id="10" name="TextBox 9"/>
          <p:cNvSpPr txBox="1"/>
          <p:nvPr/>
        </p:nvSpPr>
        <p:spPr>
          <a:xfrm>
            <a:off x="8686800" y="5394960"/>
            <a:ext cx="3200400" cy="1097280"/>
          </a:xfrm>
          <a:prstGeom prst="rect">
            <a:avLst/>
          </a:prstGeom>
          <a:noFill/>
        </p:spPr>
        <p:txBody>
          <a:bodyPr wrap="square" lIns="45720" rIns="45720" tIns="18288" bIns="18288" anchor="t">
            <a:spAutoFit/>
          </a:bodyPr>
          <a:lstStyle/>
          <a:p>
            <a:pPr algn="r">
              <a:spcAft>
                <a:spcPts val="200"/>
              </a:spcAft>
            </a:pPr>
            <a:r>
              <a:rPr sz="900" b="1" i="0">
                <a:solidFill>
                  <a:srgbClr val="00A3E0"/>
                </a:solidFill>
                <a:latin typeface="Poppins"/>
              </a:rPr>
              <a:t>DATE</a:t>
            </a:r>
          </a:p>
          <a:p>
            <a:pPr algn="r">
              <a:spcAft>
                <a:spcPts val="200"/>
              </a:spcAft>
            </a:pPr>
            <a:r>
              <a:rPr sz="1800" b="1" i="0">
                <a:solidFill>
                  <a:srgbClr val="FFFFFF"/>
                </a:solidFill>
                <a:latin typeface="Poppins"/>
              </a:rPr>
              <a:t>2026-04-21</a:t>
            </a:r>
          </a:p>
          <a:p>
            <a:pPr algn="r"/>
            <a:r>
              <a:rPr sz="1100" b="0" i="0">
                <a:solidFill>
                  <a:srgbClr val="CBD2DC"/>
                </a:solidFill>
                <a:latin typeface="Poppins"/>
              </a:rPr>
              <a:t>v1.0  //  18 slides</a:t>
            </a:r>
          </a:p>
        </p:txBody>
      </p:sp>
      <p:sp>
        <p:nvSpPr>
          <p:cNvPr id="11" name="Rectangle 10"/>
          <p:cNvSpPr/>
          <p:nvPr/>
        </p:nvSpPr>
        <p:spPr>
          <a:xfrm>
            <a:off x="0" y="6720840"/>
            <a:ext cx="12191695" cy="13716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45720" rIns="45720" tIns="18288" bIns="18288" anchor="t">
            <a:spAutoFit/>
          </a:bodyPr>
          <a:lstStyle/>
          <a:p>
            <a:pPr algn="l"/>
            <a:r>
              <a:rPr sz="1000" b="1" i="0">
                <a:solidFill>
                  <a:srgbClr val="00A3E0"/>
                </a:solidFill>
                <a:latin typeface="Poppins"/>
              </a:rPr>
              <a:t>01 · THE MOMENT</a:t>
            </a:r>
          </a:p>
        </p:txBody>
      </p:sp>
      <p:sp>
        <p:nvSpPr>
          <p:cNvPr id="4" name="TextBox 3"/>
          <p:cNvSpPr txBox="1"/>
          <p:nvPr/>
        </p:nvSpPr>
        <p:spPr>
          <a:xfrm>
            <a:off x="457200" y="594360"/>
            <a:ext cx="11247120" cy="640080"/>
          </a:xfrm>
          <a:prstGeom prst="rect">
            <a:avLst/>
          </a:prstGeom>
          <a:noFill/>
        </p:spPr>
        <p:txBody>
          <a:bodyPr wrap="square" lIns="45720" rIns="45720" tIns="18288" bIns="18288" anchor="t">
            <a:spAutoFit/>
          </a:bodyPr>
          <a:lstStyle/>
          <a:p>
            <a:pPr algn="l"/>
            <a:r>
              <a:rPr sz="2800" b="1" i="0">
                <a:solidFill>
                  <a:srgbClr val="1F2A44"/>
                </a:solidFill>
                <a:latin typeface="Poppins"/>
              </a:rPr>
              <a:t>Rob is leaving STG.</a:t>
            </a:r>
          </a:p>
        </p:txBody>
      </p:sp>
      <p:sp>
        <p:nvSpPr>
          <p:cNvPr id="5" name="Rectangle 4"/>
          <p:cNvSpPr/>
          <p:nvPr/>
        </p:nvSpPr>
        <p:spPr>
          <a:xfrm>
            <a:off x="457200" y="1234440"/>
            <a:ext cx="914400" cy="4572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320040"/>
            <a:ext cx="640080" cy="274320"/>
          </a:xfrm>
          <a:prstGeom prst="rect">
            <a:avLst/>
          </a:prstGeom>
          <a:noFill/>
        </p:spPr>
        <p:txBody>
          <a:bodyPr wrap="square" lIns="45720" rIns="45720" tIns="18288" bIns="18288" anchor="t">
            <a:spAutoFit/>
          </a:bodyPr>
          <a:lstStyle/>
          <a:p>
            <a:pPr algn="r"/>
            <a:r>
              <a:rPr sz="900" b="1" i="0">
                <a:solidFill>
                  <a:srgbClr val="4A5568"/>
                </a:solidFill>
                <a:latin typeface="Poppins"/>
              </a:rPr>
              <a:t>2 / 18</a:t>
            </a:r>
          </a:p>
        </p:txBody>
      </p:sp>
      <p:sp>
        <p:nvSpPr>
          <p:cNvPr id="7" name="Rectangle 6"/>
          <p:cNvSpPr/>
          <p:nvPr/>
        </p:nvSpPr>
        <p:spPr>
          <a:xfrm>
            <a:off x="0" y="6720840"/>
            <a:ext cx="12191695" cy="1371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492240"/>
            <a:ext cx="3657600" cy="274320"/>
          </a:xfrm>
          <a:prstGeom prst="rect">
            <a:avLst/>
          </a:prstGeom>
          <a:noFill/>
        </p:spPr>
        <p:txBody>
          <a:bodyPr wrap="square" lIns="45720" rIns="45720" tIns="18288" bIns="18288" anchor="t">
            <a:spAutoFit/>
          </a:bodyPr>
          <a:lstStyle/>
          <a:p>
            <a:pPr algn="l"/>
            <a:r>
              <a:rPr sz="800" b="1" i="0">
                <a:solidFill>
                  <a:srgbClr val="1F2A44"/>
                </a:solidFill>
                <a:latin typeface="Poppins"/>
              </a:rPr>
              <a:t>CLOSECLINIC</a:t>
            </a:r>
          </a:p>
        </p:txBody>
      </p:sp>
      <p:sp>
        <p:nvSpPr>
          <p:cNvPr id="9" name="TextBox 8"/>
          <p:cNvSpPr txBox="1"/>
          <p:nvPr/>
        </p:nvSpPr>
        <p:spPr>
          <a:xfrm>
            <a:off x="6400800" y="6492240"/>
            <a:ext cx="5486400" cy="274320"/>
          </a:xfrm>
          <a:prstGeom prst="rect">
            <a:avLst/>
          </a:prstGeom>
          <a:noFill/>
        </p:spPr>
        <p:txBody>
          <a:bodyPr wrap="square" lIns="45720" rIns="45720" tIns="18288" bIns="18288" anchor="t">
            <a:spAutoFit/>
          </a:bodyPr>
          <a:lstStyle/>
          <a:p>
            <a:pPr algn="r"/>
            <a:r>
              <a:rPr sz="800" b="0" i="0">
                <a:solidFill>
                  <a:srgbClr val="4A5568"/>
                </a:solidFill>
                <a:latin typeface="Poppins"/>
              </a:rPr>
              <a:t>CloseClinic · Launch Plan · 2026-04-21 · p.2</a:t>
            </a:r>
          </a:p>
        </p:txBody>
      </p:sp>
      <p:sp>
        <p:nvSpPr>
          <p:cNvPr id="10" name="TextBox 9"/>
          <p:cNvSpPr txBox="1"/>
          <p:nvPr/>
        </p:nvSpPr>
        <p:spPr>
          <a:xfrm>
            <a:off x="457200" y="1737360"/>
            <a:ext cx="11247120" cy="822960"/>
          </a:xfrm>
          <a:prstGeom prst="rect">
            <a:avLst/>
          </a:prstGeom>
          <a:noFill/>
        </p:spPr>
        <p:txBody>
          <a:bodyPr wrap="square" lIns="45720" rIns="45720" tIns="18288" bIns="18288" anchor="t">
            <a:spAutoFit/>
          </a:bodyPr>
          <a:lstStyle/>
          <a:p>
            <a:pPr algn="l"/>
            <a:r>
              <a:rPr sz="3400" b="1" i="0">
                <a:solidFill>
                  <a:srgbClr val="1F2A44"/>
                </a:solidFill>
                <a:latin typeface="Poppins"/>
              </a:rPr>
              <a:t>Here's how we beat every competitor in the category.</a:t>
            </a:r>
          </a:p>
        </p:txBody>
      </p:sp>
      <p:sp>
        <p:nvSpPr>
          <p:cNvPr id="11" name="Rectangle 10"/>
          <p:cNvSpPr/>
          <p:nvPr/>
        </p:nvSpPr>
        <p:spPr>
          <a:xfrm>
            <a:off x="457200" y="2926080"/>
            <a:ext cx="3749039" cy="292608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926080"/>
            <a:ext cx="3749039" cy="9144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154680"/>
            <a:ext cx="3291839" cy="365760"/>
          </a:xfrm>
          <a:prstGeom prst="rect">
            <a:avLst/>
          </a:prstGeom>
          <a:noFill/>
        </p:spPr>
        <p:txBody>
          <a:bodyPr wrap="square" lIns="45720" rIns="45720" tIns="18288" bIns="18288" anchor="t">
            <a:spAutoFit/>
          </a:bodyPr>
          <a:lstStyle/>
          <a:p>
            <a:pPr algn="l"/>
            <a:r>
              <a:rPr sz="1100" b="1" i="0">
                <a:solidFill>
                  <a:srgbClr val="00A3E0"/>
                </a:solidFill>
                <a:latin typeface="Poppins"/>
              </a:rPr>
              <a:t>CLEAN EXIT</a:t>
            </a:r>
          </a:p>
        </p:txBody>
      </p:sp>
      <p:sp>
        <p:nvSpPr>
          <p:cNvPr id="14" name="TextBox 13"/>
          <p:cNvSpPr txBox="1"/>
          <p:nvPr/>
        </p:nvSpPr>
        <p:spPr>
          <a:xfrm>
            <a:off x="685800" y="3520440"/>
            <a:ext cx="3291839" cy="914400"/>
          </a:xfrm>
          <a:prstGeom prst="rect">
            <a:avLst/>
          </a:prstGeom>
          <a:noFill/>
        </p:spPr>
        <p:txBody>
          <a:bodyPr wrap="square" lIns="45720" rIns="45720" tIns="18288" bIns="18288" anchor="t">
            <a:spAutoFit/>
          </a:bodyPr>
          <a:lstStyle/>
          <a:p>
            <a:pPr algn="l"/>
            <a:r>
              <a:rPr sz="1600" b="1" i="0">
                <a:solidFill>
                  <a:srgbClr val="1F2A44"/>
                </a:solidFill>
                <a:latin typeface="Poppins"/>
              </a:rPr>
              <a:t>No non-compete. 2-week notice. 90-day client firewall.</a:t>
            </a:r>
          </a:p>
        </p:txBody>
      </p:sp>
      <p:sp>
        <p:nvSpPr>
          <p:cNvPr id="15" name="TextBox 14"/>
          <p:cNvSpPr txBox="1"/>
          <p:nvPr/>
        </p:nvSpPr>
        <p:spPr>
          <a:xfrm>
            <a:off x="685800" y="4526280"/>
            <a:ext cx="3291839" cy="2011680"/>
          </a:xfrm>
          <a:prstGeom prst="rect">
            <a:avLst/>
          </a:prstGeom>
          <a:noFill/>
        </p:spPr>
        <p:txBody>
          <a:bodyPr wrap="square" lIns="45720" rIns="45720" tIns="18288" bIns="18288" anchor="t">
            <a:spAutoFit/>
          </a:bodyPr>
          <a:lstStyle/>
          <a:p>
            <a:pPr algn="l"/>
            <a:r>
              <a:rPr sz="1200" b="0" i="0">
                <a:solidFill>
                  <a:srgbClr val="4A5568"/>
                </a:solidFill>
                <a:latin typeface="Poppins"/>
              </a:rPr>
              <a:t>Retain employment counsel. Document clean separation. Preserve relationships.</a:t>
            </a:r>
          </a:p>
        </p:txBody>
      </p:sp>
      <p:sp>
        <p:nvSpPr>
          <p:cNvPr id="16" name="Rectangle 15"/>
          <p:cNvSpPr/>
          <p:nvPr/>
        </p:nvSpPr>
        <p:spPr>
          <a:xfrm>
            <a:off x="4343399" y="2926080"/>
            <a:ext cx="3749039" cy="292608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43399" y="2926080"/>
            <a:ext cx="3749039" cy="9144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1999" y="3154680"/>
            <a:ext cx="3291839" cy="365760"/>
          </a:xfrm>
          <a:prstGeom prst="rect">
            <a:avLst/>
          </a:prstGeom>
          <a:noFill/>
        </p:spPr>
        <p:txBody>
          <a:bodyPr wrap="square" lIns="45720" rIns="45720" tIns="18288" bIns="18288" anchor="t">
            <a:spAutoFit/>
          </a:bodyPr>
          <a:lstStyle/>
          <a:p>
            <a:pPr algn="l"/>
            <a:r>
              <a:rPr sz="1100" b="1" i="0">
                <a:solidFill>
                  <a:srgbClr val="00A3E0"/>
                </a:solidFill>
                <a:latin typeface="Poppins"/>
              </a:rPr>
              <a:t>INSIDE KNOWLEDGE</a:t>
            </a:r>
          </a:p>
        </p:txBody>
      </p:sp>
      <p:sp>
        <p:nvSpPr>
          <p:cNvPr id="19" name="TextBox 18"/>
          <p:cNvSpPr txBox="1"/>
          <p:nvPr/>
        </p:nvSpPr>
        <p:spPr>
          <a:xfrm>
            <a:off x="4571999" y="3520440"/>
            <a:ext cx="3291839" cy="914400"/>
          </a:xfrm>
          <a:prstGeom prst="rect">
            <a:avLst/>
          </a:prstGeom>
          <a:noFill/>
        </p:spPr>
        <p:txBody>
          <a:bodyPr wrap="square" lIns="45720" rIns="45720" tIns="18288" bIns="18288" anchor="t">
            <a:spAutoFit/>
          </a:bodyPr>
          <a:lstStyle/>
          <a:p>
            <a:pPr algn="l"/>
            <a:r>
              <a:rPr sz="1600" b="1" i="0">
                <a:solidFill>
                  <a:srgbClr val="1F2A44"/>
                </a:solidFill>
                <a:latin typeface="Poppins"/>
              </a:rPr>
              <a:t>Rob knows every weakness of every competitor in the set.</a:t>
            </a:r>
          </a:p>
        </p:txBody>
      </p:sp>
      <p:sp>
        <p:nvSpPr>
          <p:cNvPr id="20" name="TextBox 19"/>
          <p:cNvSpPr txBox="1"/>
          <p:nvPr/>
        </p:nvSpPr>
        <p:spPr>
          <a:xfrm>
            <a:off x="4571999" y="4526280"/>
            <a:ext cx="3291839" cy="2011680"/>
          </a:xfrm>
          <a:prstGeom prst="rect">
            <a:avLst/>
          </a:prstGeom>
          <a:noFill/>
        </p:spPr>
        <p:txBody>
          <a:bodyPr wrap="square" lIns="45720" rIns="45720" tIns="18288" bIns="18288" anchor="t">
            <a:spAutoFit/>
          </a:bodyPr>
          <a:lstStyle/>
          <a:p>
            <a:pPr algn="l"/>
            <a:r>
              <a:rPr sz="1200" b="0" i="0">
                <a:solidFill>
                  <a:srgbClr val="4A5568"/>
                </a:solidFill>
                <a:latin typeface="Poppins"/>
              </a:rPr>
              <a:t>STG's fake 5.0/500 schema is one example. The whole category is technically neglected.</a:t>
            </a:r>
          </a:p>
        </p:txBody>
      </p:sp>
      <p:sp>
        <p:nvSpPr>
          <p:cNvPr id="21" name="Rectangle 20"/>
          <p:cNvSpPr/>
          <p:nvPr/>
        </p:nvSpPr>
        <p:spPr>
          <a:xfrm>
            <a:off x="8229598" y="2926080"/>
            <a:ext cx="3749039" cy="292608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598" y="2926080"/>
            <a:ext cx="3749039" cy="9144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58198" y="3154680"/>
            <a:ext cx="3291839" cy="365760"/>
          </a:xfrm>
          <a:prstGeom prst="rect">
            <a:avLst/>
          </a:prstGeom>
          <a:noFill/>
        </p:spPr>
        <p:txBody>
          <a:bodyPr wrap="square" lIns="45720" rIns="45720" tIns="18288" bIns="18288" anchor="t">
            <a:spAutoFit/>
          </a:bodyPr>
          <a:lstStyle/>
          <a:p>
            <a:pPr algn="l"/>
            <a:r>
              <a:rPr sz="1100" b="1" i="0">
                <a:solidFill>
                  <a:srgbClr val="00A3E0"/>
                </a:solidFill>
                <a:latin typeface="Poppins"/>
              </a:rPr>
              <a:t>OPEN WHITE SPACE</a:t>
            </a:r>
          </a:p>
        </p:txBody>
      </p:sp>
      <p:sp>
        <p:nvSpPr>
          <p:cNvPr id="24" name="TextBox 23"/>
          <p:cNvSpPr txBox="1"/>
          <p:nvPr/>
        </p:nvSpPr>
        <p:spPr>
          <a:xfrm>
            <a:off x="8458198" y="3520440"/>
            <a:ext cx="3291839" cy="914400"/>
          </a:xfrm>
          <a:prstGeom prst="rect">
            <a:avLst/>
          </a:prstGeom>
          <a:noFill/>
        </p:spPr>
        <p:txBody>
          <a:bodyPr wrap="square" lIns="45720" rIns="45720" tIns="18288" bIns="18288" anchor="t">
            <a:spAutoFit/>
          </a:bodyPr>
          <a:lstStyle/>
          <a:p>
            <a:pPr algn="l"/>
            <a:r>
              <a:rPr sz="1600" b="1" i="0">
                <a:solidFill>
                  <a:srgbClr val="1F2A44"/>
                </a:solidFill>
                <a:latin typeface="Poppins"/>
              </a:rPr>
              <a:t>Nobody owns 'AI Sales OS'. Category creation is available today.</a:t>
            </a:r>
          </a:p>
        </p:txBody>
      </p:sp>
      <p:sp>
        <p:nvSpPr>
          <p:cNvPr id="25" name="TextBox 24"/>
          <p:cNvSpPr txBox="1"/>
          <p:nvPr/>
        </p:nvSpPr>
        <p:spPr>
          <a:xfrm>
            <a:off x="8458198" y="4526280"/>
            <a:ext cx="3291839" cy="2011680"/>
          </a:xfrm>
          <a:prstGeom prst="rect">
            <a:avLst/>
          </a:prstGeom>
          <a:noFill/>
        </p:spPr>
        <p:txBody>
          <a:bodyPr wrap="square" lIns="45720" rIns="45720" tIns="18288" bIns="18288" anchor="t">
            <a:spAutoFit/>
          </a:bodyPr>
          <a:lstStyle/>
          <a:p>
            <a:pPr algn="l"/>
            <a:r>
              <a:rPr sz="1200" b="0" i="0">
                <a:solidFill>
                  <a:srgbClr val="4A5568"/>
                </a:solidFill>
                <a:latin typeface="Poppins"/>
              </a:rPr>
              <a:t>12 competitors audited. Zero have Wikipedia entities. Only 1 has competent schema.</a:t>
            </a:r>
          </a:p>
        </p:txBody>
      </p:sp>
      <p:sp>
        <p:nvSpPr>
          <p:cNvPr id="26" name="Rectangle 25"/>
          <p:cNvSpPr/>
          <p:nvPr/>
        </p:nvSpPr>
        <p:spPr>
          <a:xfrm>
            <a:off x="457200" y="5989320"/>
            <a:ext cx="11247120" cy="4572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6016752"/>
            <a:ext cx="10972800" cy="411480"/>
          </a:xfrm>
          <a:prstGeom prst="rect">
            <a:avLst/>
          </a:prstGeom>
          <a:noFill/>
        </p:spPr>
        <p:txBody>
          <a:bodyPr wrap="square" lIns="45720" rIns="45720" tIns="18288" bIns="18288" anchor="ctr">
            <a:spAutoFit/>
          </a:bodyPr>
          <a:lstStyle/>
          <a:p>
            <a:pPr algn="l"/>
            <a:r>
              <a:rPr sz="1300" b="1" i="0">
                <a:solidFill>
                  <a:srgbClr val="FFFFFF"/>
                </a:solidFill>
                <a:latin typeface="Poppins"/>
              </a:rPr>
              <a:t>TARGET:  82 clients  //  $435K MRR  //  $1.76M revenue  //  $635K EBITDA by end of Year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45720" rIns="45720" tIns="18288" bIns="18288" anchor="t">
            <a:spAutoFit/>
          </a:bodyPr>
          <a:lstStyle/>
          <a:p>
            <a:pPr algn="l"/>
            <a:r>
              <a:rPr sz="1000" b="1" i="0">
                <a:solidFill>
                  <a:srgbClr val="00A3E0"/>
                </a:solidFill>
                <a:latin typeface="Poppins"/>
              </a:rPr>
              <a:t>02 · THE POSITIONING</a:t>
            </a:r>
          </a:p>
        </p:txBody>
      </p:sp>
      <p:sp>
        <p:nvSpPr>
          <p:cNvPr id="4" name="TextBox 3"/>
          <p:cNvSpPr txBox="1"/>
          <p:nvPr/>
        </p:nvSpPr>
        <p:spPr>
          <a:xfrm>
            <a:off x="457200" y="594360"/>
            <a:ext cx="11247120" cy="640080"/>
          </a:xfrm>
          <a:prstGeom prst="rect">
            <a:avLst/>
          </a:prstGeom>
          <a:noFill/>
        </p:spPr>
        <p:txBody>
          <a:bodyPr wrap="square" lIns="45720" rIns="45720" tIns="18288" bIns="18288" anchor="t">
            <a:spAutoFit/>
          </a:bodyPr>
          <a:lstStyle/>
          <a:p>
            <a:pPr algn="l"/>
            <a:r>
              <a:rPr sz="2800" b="1" i="0">
                <a:solidFill>
                  <a:srgbClr val="1F2A44"/>
                </a:solidFill>
                <a:latin typeface="Poppins"/>
              </a:rPr>
              <a:t>Category creation, not category competition.</a:t>
            </a:r>
          </a:p>
        </p:txBody>
      </p:sp>
      <p:sp>
        <p:nvSpPr>
          <p:cNvPr id="5" name="Rectangle 4"/>
          <p:cNvSpPr/>
          <p:nvPr/>
        </p:nvSpPr>
        <p:spPr>
          <a:xfrm>
            <a:off x="457200" y="1234440"/>
            <a:ext cx="914400" cy="4572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320040"/>
            <a:ext cx="640080" cy="274320"/>
          </a:xfrm>
          <a:prstGeom prst="rect">
            <a:avLst/>
          </a:prstGeom>
          <a:noFill/>
        </p:spPr>
        <p:txBody>
          <a:bodyPr wrap="square" lIns="45720" rIns="45720" tIns="18288" bIns="18288" anchor="t">
            <a:spAutoFit/>
          </a:bodyPr>
          <a:lstStyle/>
          <a:p>
            <a:pPr algn="r"/>
            <a:r>
              <a:rPr sz="900" b="1" i="0">
                <a:solidFill>
                  <a:srgbClr val="4A5568"/>
                </a:solidFill>
                <a:latin typeface="Poppins"/>
              </a:rPr>
              <a:t>3 / 18</a:t>
            </a:r>
          </a:p>
        </p:txBody>
      </p:sp>
      <p:sp>
        <p:nvSpPr>
          <p:cNvPr id="7" name="Rectangle 6"/>
          <p:cNvSpPr/>
          <p:nvPr/>
        </p:nvSpPr>
        <p:spPr>
          <a:xfrm>
            <a:off x="0" y="6720840"/>
            <a:ext cx="12191695" cy="1371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492240"/>
            <a:ext cx="3657600" cy="274320"/>
          </a:xfrm>
          <a:prstGeom prst="rect">
            <a:avLst/>
          </a:prstGeom>
          <a:noFill/>
        </p:spPr>
        <p:txBody>
          <a:bodyPr wrap="square" lIns="45720" rIns="45720" tIns="18288" bIns="18288" anchor="t">
            <a:spAutoFit/>
          </a:bodyPr>
          <a:lstStyle/>
          <a:p>
            <a:pPr algn="l"/>
            <a:r>
              <a:rPr sz="800" b="1" i="0">
                <a:solidFill>
                  <a:srgbClr val="1F2A44"/>
                </a:solidFill>
                <a:latin typeface="Poppins"/>
              </a:rPr>
              <a:t>CLOSECLINIC</a:t>
            </a:r>
          </a:p>
        </p:txBody>
      </p:sp>
      <p:sp>
        <p:nvSpPr>
          <p:cNvPr id="9" name="TextBox 8"/>
          <p:cNvSpPr txBox="1"/>
          <p:nvPr/>
        </p:nvSpPr>
        <p:spPr>
          <a:xfrm>
            <a:off x="6400800" y="6492240"/>
            <a:ext cx="5486400" cy="274320"/>
          </a:xfrm>
          <a:prstGeom prst="rect">
            <a:avLst/>
          </a:prstGeom>
          <a:noFill/>
        </p:spPr>
        <p:txBody>
          <a:bodyPr wrap="square" lIns="45720" rIns="45720" tIns="18288" bIns="18288" anchor="t">
            <a:spAutoFit/>
          </a:bodyPr>
          <a:lstStyle/>
          <a:p>
            <a:pPr algn="r"/>
            <a:r>
              <a:rPr sz="800" b="0" i="0">
                <a:solidFill>
                  <a:srgbClr val="4A5568"/>
                </a:solidFill>
                <a:latin typeface="Poppins"/>
              </a:rPr>
              <a:t>CloseClinic · Launch Plan · 2026-04-21 · p.3</a:t>
            </a:r>
          </a:p>
        </p:txBody>
      </p:sp>
      <p:sp>
        <p:nvSpPr>
          <p:cNvPr id="10" name="Rectangle 9"/>
          <p:cNvSpPr/>
          <p:nvPr/>
        </p:nvSpPr>
        <p:spPr>
          <a:xfrm>
            <a:off x="457200" y="1691640"/>
            <a:ext cx="11247120" cy="11887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691640"/>
            <a:ext cx="137160" cy="118872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783080"/>
            <a:ext cx="10881360" cy="1097280"/>
          </a:xfrm>
          <a:prstGeom prst="rect">
            <a:avLst/>
          </a:prstGeom>
          <a:noFill/>
        </p:spPr>
        <p:txBody>
          <a:bodyPr wrap="square" lIns="45720" rIns="45720" tIns="18288" bIns="18288" anchor="t">
            <a:spAutoFit/>
          </a:bodyPr>
          <a:lstStyle/>
          <a:p>
            <a:pPr algn="l">
              <a:spcAft>
                <a:spcPts val="400"/>
              </a:spcAft>
            </a:pPr>
            <a:r>
              <a:rPr sz="900" b="1" i="0">
                <a:solidFill>
                  <a:srgbClr val="00A3E0"/>
                </a:solidFill>
                <a:latin typeface="Poppins"/>
              </a:rPr>
              <a:t>ONE-LINE POSITIONING</a:t>
            </a:r>
          </a:p>
          <a:p>
            <a:pPr algn="l">
              <a:spcAft>
                <a:spcPts val="200"/>
              </a:spcAft>
            </a:pPr>
            <a:r>
              <a:rPr sz="2400" b="1" i="0">
                <a:solidFill>
                  <a:srgbClr val="FFFFFF"/>
                </a:solidFill>
                <a:latin typeface="Poppins"/>
              </a:rPr>
              <a:t>The AI-Powered Sales OS for Contractors.</a:t>
            </a:r>
          </a:p>
          <a:p>
            <a:pPr algn="l"/>
            <a:r>
              <a:rPr sz="1600" b="0" i="1">
                <a:solidFill>
                  <a:srgbClr val="CBD2DC"/>
                </a:solidFill>
                <a:latin typeface="Poppins"/>
              </a:rPr>
              <a:t>We don't just train — we install the stack.</a:t>
            </a:r>
          </a:p>
        </p:txBody>
      </p:sp>
      <p:sp>
        <p:nvSpPr>
          <p:cNvPr id="13" name="TextBox 12"/>
          <p:cNvSpPr txBox="1"/>
          <p:nvPr/>
        </p:nvSpPr>
        <p:spPr>
          <a:xfrm>
            <a:off x="457200" y="3108960"/>
            <a:ext cx="7223760" cy="320040"/>
          </a:xfrm>
          <a:prstGeom prst="rect">
            <a:avLst/>
          </a:prstGeom>
          <a:noFill/>
        </p:spPr>
        <p:txBody>
          <a:bodyPr wrap="square" lIns="45720" rIns="45720" tIns="18288" bIns="18288" anchor="t">
            <a:spAutoFit/>
          </a:bodyPr>
          <a:lstStyle/>
          <a:p>
            <a:pPr algn="l"/>
            <a:r>
              <a:rPr sz="1000" b="1" i="0">
                <a:solidFill>
                  <a:srgbClr val="00A3E0"/>
                </a:solidFill>
                <a:latin typeface="Poppins"/>
              </a:rPr>
              <a:t>30-SECOND ELEVATOR PITCH</a:t>
            </a:r>
          </a:p>
        </p:txBody>
      </p:sp>
      <p:sp>
        <p:nvSpPr>
          <p:cNvPr id="14" name="Rectangle 13"/>
          <p:cNvSpPr/>
          <p:nvPr/>
        </p:nvSpPr>
        <p:spPr>
          <a:xfrm>
            <a:off x="457200" y="3429000"/>
            <a:ext cx="7223760" cy="30175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566160"/>
            <a:ext cx="6858000" cy="2834640"/>
          </a:xfrm>
          <a:prstGeom prst="rect">
            <a:avLst/>
          </a:prstGeom>
          <a:noFill/>
        </p:spPr>
        <p:txBody>
          <a:bodyPr wrap="square" lIns="45720" rIns="45720" tIns="18288" bIns="18288" anchor="t">
            <a:spAutoFit/>
          </a:bodyPr>
          <a:lstStyle/>
          <a:p>
            <a:pPr algn="l"/>
            <a:r>
              <a:rPr sz="1200" b="0" i="0">
                <a:solidFill>
                  <a:srgbClr val="111827"/>
                </a:solidFill>
                <a:latin typeface="Poppins"/>
              </a:rPr>
              <a:t>Contractors lose 40–60% of their leads because nobody answers after 5pm, web forms convert at half the rate of inbound calls, and their sales reps don't have the training or tools to close on the first visit.
We diagnose the leaks, install the AI systems that catch every call 24/7 in any language, and coach the team that works the qualified pipeline.
The first AI-powered sales OS built exclusively for contractors.</a:t>
            </a:r>
          </a:p>
        </p:txBody>
      </p:sp>
      <p:sp>
        <p:nvSpPr>
          <p:cNvPr id="16" name="TextBox 15"/>
          <p:cNvSpPr txBox="1"/>
          <p:nvPr/>
        </p:nvSpPr>
        <p:spPr>
          <a:xfrm>
            <a:off x="7863840" y="3108960"/>
            <a:ext cx="3840480" cy="320040"/>
          </a:xfrm>
          <a:prstGeom prst="rect">
            <a:avLst/>
          </a:prstGeom>
          <a:noFill/>
        </p:spPr>
        <p:txBody>
          <a:bodyPr wrap="square" lIns="45720" rIns="45720" tIns="18288" bIns="18288" anchor="t">
            <a:spAutoFit/>
          </a:bodyPr>
          <a:lstStyle/>
          <a:p>
            <a:pPr algn="l"/>
            <a:r>
              <a:rPr sz="1000" b="1" i="0">
                <a:solidFill>
                  <a:srgbClr val="00A3E0"/>
                </a:solidFill>
                <a:latin typeface="Poppins"/>
              </a:rPr>
              <a:t>CATEGORY CREATION</a:t>
            </a:r>
          </a:p>
        </p:txBody>
      </p:sp>
      <p:sp>
        <p:nvSpPr>
          <p:cNvPr id="17" name="Rectangle 16"/>
          <p:cNvSpPr/>
          <p:nvPr/>
        </p:nvSpPr>
        <p:spPr>
          <a:xfrm>
            <a:off x="7863840" y="3429000"/>
            <a:ext cx="3840480" cy="3017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0" y="3566160"/>
            <a:ext cx="3657600" cy="2926080"/>
          </a:xfrm>
          <a:prstGeom prst="rect">
            <a:avLst/>
          </a:prstGeom>
          <a:noFill/>
        </p:spPr>
        <p:txBody>
          <a:bodyPr wrap="square" lIns="45720" rIns="45720" tIns="18288" bIns="18288" anchor="t">
            <a:spAutoFit/>
          </a:bodyPr>
          <a:lstStyle/>
          <a:p>
            <a:pPr algn="l">
              <a:spcAft>
                <a:spcPts val="800"/>
              </a:spcAft>
            </a:pPr>
            <a:r>
              <a:rPr sz="2200" b="1" i="0">
                <a:solidFill>
                  <a:srgbClr val="FFFFFF"/>
                </a:solidFill>
                <a:latin typeface="Poppins"/>
              </a:rPr>
              <a:t>AI Sales OS</a:t>
            </a:r>
          </a:p>
          <a:p>
            <a:pPr algn="l">
              <a:spcAft>
                <a:spcPts val="1200"/>
              </a:spcAft>
            </a:pPr>
            <a:r>
              <a:rPr sz="1300" b="1" i="0">
                <a:solidFill>
                  <a:srgbClr val="00A3E0"/>
                </a:solidFill>
                <a:latin typeface="Poppins"/>
              </a:rPr>
              <a:t>We are creating the category.</a:t>
            </a:r>
          </a:p>
          <a:p>
            <a:pPr algn="l">
              <a:spcAft>
                <a:spcPts val="1000"/>
              </a:spcAft>
            </a:pPr>
            <a:r>
              <a:rPr sz="1100" b="0" i="0">
                <a:solidFill>
                  <a:srgbClr val="CBD2DC"/>
                </a:solidFill>
                <a:latin typeface="Poppins"/>
              </a:rPr>
              <a:t>Nobody in the competitive set owns it. 12 direct and adjacent players audited — none are AI-native sales platforms for contractors.</a:t>
            </a:r>
          </a:p>
          <a:p>
            <a:pPr algn="l">
              <a:spcAft>
                <a:spcPts val="400"/>
              </a:spcAft>
            </a:pPr>
            <a:r>
              <a:rPr sz="1300" b="1" i="0">
                <a:solidFill>
                  <a:srgbClr val="FFFFFF"/>
                </a:solidFill>
                <a:latin typeface="Poppins"/>
              </a:rPr>
              <a:t>Diagnose → Install → Coach</a:t>
            </a:r>
          </a:p>
          <a:p>
            <a:pPr algn="l"/>
            <a:r>
              <a:rPr sz="1000" b="0" i="1">
                <a:solidFill>
                  <a:srgbClr val="CBD2DC"/>
                </a:solidFill>
                <a:latin typeface="Poppins"/>
              </a:rPr>
              <a:t>A 3-act operating system, not a course.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45720" rIns="45720" tIns="18288" bIns="18288" anchor="t">
            <a:spAutoFit/>
          </a:bodyPr>
          <a:lstStyle/>
          <a:p>
            <a:pPr algn="l"/>
            <a:r>
              <a:rPr sz="1000" b="1" i="0">
                <a:solidFill>
                  <a:srgbClr val="00A3E0"/>
                </a:solidFill>
                <a:latin typeface="Poppins"/>
              </a:rPr>
              <a:t>03 · COMPETITIVE LANDSCAPE</a:t>
            </a:r>
          </a:p>
        </p:txBody>
      </p:sp>
      <p:sp>
        <p:nvSpPr>
          <p:cNvPr id="4" name="TextBox 3"/>
          <p:cNvSpPr txBox="1"/>
          <p:nvPr/>
        </p:nvSpPr>
        <p:spPr>
          <a:xfrm>
            <a:off x="457200" y="594360"/>
            <a:ext cx="11247120" cy="640080"/>
          </a:xfrm>
          <a:prstGeom prst="rect">
            <a:avLst/>
          </a:prstGeom>
          <a:noFill/>
        </p:spPr>
        <p:txBody>
          <a:bodyPr wrap="square" lIns="45720" rIns="45720" tIns="18288" bIns="18288" anchor="t">
            <a:spAutoFit/>
          </a:bodyPr>
          <a:lstStyle/>
          <a:p>
            <a:pPr algn="l"/>
            <a:r>
              <a:rPr sz="2800" b="1" i="0">
                <a:solidFill>
                  <a:srgbClr val="1F2A44"/>
                </a:solidFill>
                <a:latin typeface="Poppins"/>
              </a:rPr>
              <a:t>The 12-Competitor Kill-Sheet</a:t>
            </a:r>
          </a:p>
        </p:txBody>
      </p:sp>
      <p:sp>
        <p:nvSpPr>
          <p:cNvPr id="5" name="Rectangle 4"/>
          <p:cNvSpPr/>
          <p:nvPr/>
        </p:nvSpPr>
        <p:spPr>
          <a:xfrm>
            <a:off x="457200" y="1234440"/>
            <a:ext cx="914400" cy="4572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320040"/>
            <a:ext cx="640080" cy="274320"/>
          </a:xfrm>
          <a:prstGeom prst="rect">
            <a:avLst/>
          </a:prstGeom>
          <a:noFill/>
        </p:spPr>
        <p:txBody>
          <a:bodyPr wrap="square" lIns="45720" rIns="45720" tIns="18288" bIns="18288" anchor="t">
            <a:spAutoFit/>
          </a:bodyPr>
          <a:lstStyle/>
          <a:p>
            <a:pPr algn="r"/>
            <a:r>
              <a:rPr sz="900" b="1" i="0">
                <a:solidFill>
                  <a:srgbClr val="4A5568"/>
                </a:solidFill>
                <a:latin typeface="Poppins"/>
              </a:rPr>
              <a:t>4 / 18</a:t>
            </a:r>
          </a:p>
        </p:txBody>
      </p:sp>
      <p:sp>
        <p:nvSpPr>
          <p:cNvPr id="7" name="Rectangle 6"/>
          <p:cNvSpPr/>
          <p:nvPr/>
        </p:nvSpPr>
        <p:spPr>
          <a:xfrm>
            <a:off x="0" y="6720840"/>
            <a:ext cx="12191695" cy="1371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492240"/>
            <a:ext cx="3657600" cy="274320"/>
          </a:xfrm>
          <a:prstGeom prst="rect">
            <a:avLst/>
          </a:prstGeom>
          <a:noFill/>
        </p:spPr>
        <p:txBody>
          <a:bodyPr wrap="square" lIns="45720" rIns="45720" tIns="18288" bIns="18288" anchor="t">
            <a:spAutoFit/>
          </a:bodyPr>
          <a:lstStyle/>
          <a:p>
            <a:pPr algn="l"/>
            <a:r>
              <a:rPr sz="800" b="1" i="0">
                <a:solidFill>
                  <a:srgbClr val="1F2A44"/>
                </a:solidFill>
                <a:latin typeface="Poppins"/>
              </a:rPr>
              <a:t>CLOSECLINIC</a:t>
            </a:r>
          </a:p>
        </p:txBody>
      </p:sp>
      <p:sp>
        <p:nvSpPr>
          <p:cNvPr id="9" name="TextBox 8"/>
          <p:cNvSpPr txBox="1"/>
          <p:nvPr/>
        </p:nvSpPr>
        <p:spPr>
          <a:xfrm>
            <a:off x="6400800" y="6492240"/>
            <a:ext cx="5486400" cy="274320"/>
          </a:xfrm>
          <a:prstGeom prst="rect">
            <a:avLst/>
          </a:prstGeom>
          <a:noFill/>
        </p:spPr>
        <p:txBody>
          <a:bodyPr wrap="square" lIns="45720" rIns="45720" tIns="18288" bIns="18288" anchor="t">
            <a:spAutoFit/>
          </a:bodyPr>
          <a:lstStyle/>
          <a:p>
            <a:pPr algn="r"/>
            <a:r>
              <a:rPr sz="800" b="0" i="0">
                <a:solidFill>
                  <a:srgbClr val="4A5568"/>
                </a:solidFill>
                <a:latin typeface="Poppins"/>
              </a:rPr>
              <a:t>CloseClinic · Launch Plan · 2026-04-21 · p.4</a:t>
            </a:r>
          </a:p>
        </p:txBody>
      </p:sp>
      <p:graphicFrame>
        <p:nvGraphicFramePr>
          <p:cNvPr id="10" name="Table 9"/>
          <p:cNvGraphicFramePr>
            <a:graphicFrameLocks noGrp="1"/>
          </p:cNvGraphicFramePr>
          <p:nvPr/>
        </p:nvGraphicFramePr>
        <p:xfrm>
          <a:off x="365760" y="1417320"/>
          <a:ext cx="11475720" cy="4709160"/>
        </p:xfrm>
        <a:graphic>
          <a:graphicData uri="http://schemas.openxmlformats.org/drawingml/2006/table">
            <a:tbl>
              <a:tblPr firstRow="1" bandRow="1">
                <a:tableStyleId>{5C22544A-7EE6-4342-B048-85BDC9FD1C3A}</a:tableStyleId>
              </a:tblPr>
              <a:tblGrid>
                <a:gridCol w="411480"/>
                <a:gridCol w="1417320"/>
                <a:gridCol w="640080"/>
                <a:gridCol w="1280160"/>
                <a:gridCol w="2240280"/>
                <a:gridCol w="2651760"/>
                <a:gridCol w="2834640"/>
              </a:tblGrid>
              <a:tr h="320040">
                <a:tc>
                  <a:txBody>
                    <a:bodyPr anchor="ctr"/>
                    <a:lstStyle/>
                    <a:p>
                      <a:pPr algn="ctr"/>
                      <a:r>
                        <a:rPr sz="1000" b="1">
                          <a:solidFill>
                            <a:srgbClr val="FFFFFF"/>
                          </a:solidFill>
                          <a:latin typeface="Poppins"/>
                        </a:rPr>
                        <a:t>#</a:t>
                      </a:r>
                    </a:p>
                  </a:txBody>
                  <a:tcPr>
                    <a:solidFill>
                      <a:srgbClr val="1F2A44"/>
                    </a:solidFill>
                  </a:tcPr>
                </a:tc>
                <a:tc>
                  <a:txBody>
                    <a:bodyPr anchor="ctr"/>
                    <a:lstStyle/>
                    <a:p>
                      <a:pPr algn="l"/>
                      <a:r>
                        <a:rPr sz="1000" b="1">
                          <a:solidFill>
                            <a:srgbClr val="FFFFFF"/>
                          </a:solidFill>
                          <a:latin typeface="Poppins"/>
                        </a:rPr>
                        <a:t>Brand</a:t>
                      </a:r>
                    </a:p>
                  </a:txBody>
                  <a:tcPr>
                    <a:solidFill>
                      <a:srgbClr val="1F2A44"/>
                    </a:solidFill>
                  </a:tcPr>
                </a:tc>
                <a:tc>
                  <a:txBody>
                    <a:bodyPr anchor="ctr"/>
                    <a:lstStyle/>
                    <a:p>
                      <a:pPr algn="ctr"/>
                      <a:r>
                        <a:rPr sz="1000" b="1">
                          <a:solidFill>
                            <a:srgbClr val="FFFFFF"/>
                          </a:solidFill>
                          <a:latin typeface="Poppins"/>
                        </a:rPr>
                        <a:t>GEO</a:t>
                      </a:r>
                    </a:p>
                  </a:txBody>
                  <a:tcPr>
                    <a:solidFill>
                      <a:srgbClr val="1F2A44"/>
                    </a:solidFill>
                  </a:tcPr>
                </a:tc>
                <a:tc>
                  <a:txBody>
                    <a:bodyPr anchor="ctr"/>
                    <a:lstStyle/>
                    <a:p>
                      <a:pPr algn="l"/>
                      <a:r>
                        <a:rPr sz="1000" b="1">
                          <a:solidFill>
                            <a:srgbClr val="FFFFFF"/>
                          </a:solidFill>
                          <a:latin typeface="Poppins"/>
                        </a:rPr>
                        <a:t>Owner</a:t>
                      </a:r>
                    </a:p>
                  </a:txBody>
                  <a:tcPr>
                    <a:solidFill>
                      <a:srgbClr val="1F2A44"/>
                    </a:solidFill>
                  </a:tcPr>
                </a:tc>
                <a:tc>
                  <a:txBody>
                    <a:bodyPr anchor="ctr"/>
                    <a:lstStyle/>
                    <a:p>
                      <a:pPr algn="l"/>
                      <a:r>
                        <a:rPr sz="1000" b="1">
                          <a:solidFill>
                            <a:srgbClr val="FFFFFF"/>
                          </a:solidFill>
                          <a:latin typeface="Poppins"/>
                        </a:rPr>
                        <a:t>Primary Moat</a:t>
                      </a:r>
                    </a:p>
                  </a:txBody>
                  <a:tcPr>
                    <a:solidFill>
                      <a:srgbClr val="1F2A44"/>
                    </a:solidFill>
                  </a:tcPr>
                </a:tc>
                <a:tc>
                  <a:txBody>
                    <a:bodyPr anchor="ctr"/>
                    <a:lstStyle/>
                    <a:p>
                      <a:pPr algn="l"/>
                      <a:r>
                        <a:rPr sz="1000" b="1">
                          <a:solidFill>
                            <a:srgbClr val="FFFFFF"/>
                          </a:solidFill>
                          <a:latin typeface="Poppins"/>
                        </a:rPr>
                        <a:t>Fatal Flaw</a:t>
                      </a:r>
                    </a:p>
                  </a:txBody>
                  <a:tcPr>
                    <a:solidFill>
                      <a:srgbClr val="1F2A44"/>
                    </a:solidFill>
                  </a:tcPr>
                </a:tc>
                <a:tc>
                  <a:txBody>
                    <a:bodyPr anchor="ctr"/>
                    <a:lstStyle/>
                    <a:p>
                      <a:pPr algn="l"/>
                      <a:r>
                        <a:rPr sz="1000" b="1">
                          <a:solidFill>
                            <a:srgbClr val="FFFFFF"/>
                          </a:solidFill>
                          <a:latin typeface="Poppins"/>
                        </a:rPr>
                        <a:t>Attack Vector</a:t>
                      </a:r>
                    </a:p>
                  </a:txBody>
                  <a:tcPr>
                    <a:solidFill>
                      <a:srgbClr val="1F2A44"/>
                    </a:solidFill>
                  </a:tcPr>
                </a:tc>
              </a:tr>
              <a:tr h="365760">
                <a:tc>
                  <a:txBody>
                    <a:bodyPr anchor="ctr"/>
                    <a:lstStyle/>
                    <a:p>
                      <a:pPr algn="ctr"/>
                      <a:r>
                        <a:rPr sz="900" b="0">
                          <a:solidFill>
                            <a:srgbClr val="111827"/>
                          </a:solidFill>
                          <a:latin typeface="Poppins"/>
                        </a:rPr>
                        <a:t>1</a:t>
                      </a:r>
                    </a:p>
                  </a:txBody>
                  <a:tcPr>
                    <a:solidFill>
                      <a:srgbClr val="FFFFFF"/>
                    </a:solidFill>
                  </a:tcPr>
                </a:tc>
                <a:tc>
                  <a:txBody>
                    <a:bodyPr anchor="ctr"/>
                    <a:lstStyle/>
                    <a:p>
                      <a:pPr algn="l"/>
                      <a:r>
                        <a:rPr sz="900" b="1">
                          <a:solidFill>
                            <a:srgbClr val="1F2A44"/>
                          </a:solidFill>
                          <a:latin typeface="Poppins"/>
                        </a:rPr>
                        <a:t>Hook Agency</a:t>
                      </a:r>
                    </a:p>
                  </a:txBody>
                  <a:tcPr>
                    <a:solidFill>
                      <a:srgbClr val="FFFFFF"/>
                    </a:solidFill>
                  </a:tcPr>
                </a:tc>
                <a:tc>
                  <a:txBody>
                    <a:bodyPr anchor="ctr"/>
                    <a:lstStyle/>
                    <a:p>
                      <a:pPr algn="ctr"/>
                      <a:r>
                        <a:rPr sz="1100" b="1">
                          <a:solidFill>
                            <a:srgbClr val="FFFFFF"/>
                          </a:solidFill>
                          <a:latin typeface="Poppins"/>
                        </a:rPr>
                        <a:t>78</a:t>
                      </a:r>
                    </a:p>
                  </a:txBody>
                  <a:tcPr>
                    <a:solidFill>
                      <a:srgbClr val="22C55E"/>
                    </a:solidFill>
                  </a:tcPr>
                </a:tc>
                <a:tc>
                  <a:txBody>
                    <a:bodyPr anchor="ctr"/>
                    <a:lstStyle/>
                    <a:p>
                      <a:pPr algn="l"/>
                      <a:r>
                        <a:rPr sz="900" b="0">
                          <a:solidFill>
                            <a:srgbClr val="111827"/>
                          </a:solidFill>
                          <a:latin typeface="Poppins"/>
                        </a:rPr>
                        <a:t>Tim Brown</a:t>
                      </a:r>
                    </a:p>
                  </a:txBody>
                  <a:tcPr>
                    <a:solidFill>
                      <a:srgbClr val="FFFFFF"/>
                    </a:solidFill>
                  </a:tcPr>
                </a:tc>
                <a:tc>
                  <a:txBody>
                    <a:bodyPr anchor="ctr"/>
                    <a:lstStyle/>
                    <a:p>
                      <a:pPr algn="l"/>
                      <a:r>
                        <a:rPr sz="900" b="0">
                          <a:solidFill>
                            <a:srgbClr val="111827"/>
                          </a:solidFill>
                          <a:latin typeface="Poppins"/>
                        </a:rPr>
                        <a:t>156K YT + GEO-literate</a:t>
                      </a:r>
                    </a:p>
                  </a:txBody>
                  <a:tcPr>
                    <a:solidFill>
                      <a:srgbClr val="FFFFFF"/>
                    </a:solidFill>
                  </a:tcPr>
                </a:tc>
                <a:tc>
                  <a:txBody>
                    <a:bodyPr anchor="ctr"/>
                    <a:lstStyle/>
                    <a:p>
                      <a:pPr algn="l"/>
                      <a:r>
                        <a:rPr sz="900" b="0">
                          <a:solidFill>
                            <a:srgbClr val="111827"/>
                          </a:solidFill>
                          <a:latin typeface="Poppins"/>
                        </a:rPr>
                        <a:t>Marketing only, no sales training</a:t>
                      </a:r>
                    </a:p>
                  </a:txBody>
                  <a:tcPr>
                    <a:solidFill>
                      <a:srgbClr val="FFFFFF"/>
                    </a:solidFill>
                  </a:tcPr>
                </a:tc>
                <a:tc>
                  <a:txBody>
                    <a:bodyPr anchor="ctr"/>
                    <a:lstStyle/>
                    <a:p>
                      <a:pPr algn="l"/>
                      <a:r>
                        <a:rPr sz="900" b="0">
                          <a:solidFill>
                            <a:srgbClr val="111827"/>
                          </a:solidFill>
                          <a:latin typeface="Poppins"/>
                        </a:rPr>
                        <a:t>Partner not compete</a:t>
                      </a:r>
                    </a:p>
                  </a:txBody>
                  <a:tcPr>
                    <a:solidFill>
                      <a:srgbClr val="FFFFFF"/>
                    </a:solidFill>
                  </a:tcPr>
                </a:tc>
              </a:tr>
              <a:tr h="365760">
                <a:tc>
                  <a:txBody>
                    <a:bodyPr anchor="ctr"/>
                    <a:lstStyle/>
                    <a:p>
                      <a:pPr algn="ctr"/>
                      <a:r>
                        <a:rPr sz="900" b="0">
                          <a:solidFill>
                            <a:srgbClr val="111827"/>
                          </a:solidFill>
                          <a:latin typeface="Poppins"/>
                        </a:rPr>
                        <a:t>2</a:t>
                      </a:r>
                    </a:p>
                  </a:txBody>
                  <a:tcPr>
                    <a:solidFill>
                      <a:srgbClr val="F3F5F9"/>
                    </a:solidFill>
                  </a:tcPr>
                </a:tc>
                <a:tc>
                  <a:txBody>
                    <a:bodyPr anchor="ctr"/>
                    <a:lstStyle/>
                    <a:p>
                      <a:pPr algn="l"/>
                      <a:r>
                        <a:rPr sz="900" b="1">
                          <a:solidFill>
                            <a:srgbClr val="1F2A44"/>
                          </a:solidFill>
                          <a:latin typeface="Poppins"/>
                        </a:rPr>
                        <a:t>Contractor Fight</a:t>
                      </a:r>
                    </a:p>
                  </a:txBody>
                  <a:tcPr>
                    <a:solidFill>
                      <a:srgbClr val="F3F5F9"/>
                    </a:solidFill>
                  </a:tcPr>
                </a:tc>
                <a:tc>
                  <a:txBody>
                    <a:bodyPr anchor="ctr"/>
                    <a:lstStyle/>
                    <a:p>
                      <a:pPr algn="ctr"/>
                      <a:r>
                        <a:rPr sz="1100" b="1">
                          <a:solidFill>
                            <a:srgbClr val="FFFFFF"/>
                          </a:solidFill>
                          <a:latin typeface="Poppins"/>
                        </a:rPr>
                        <a:t>72</a:t>
                      </a:r>
                    </a:p>
                  </a:txBody>
                  <a:tcPr>
                    <a:solidFill>
                      <a:srgbClr val="22C55E"/>
                    </a:solidFill>
                  </a:tcPr>
                </a:tc>
                <a:tc>
                  <a:txBody>
                    <a:bodyPr anchor="ctr"/>
                    <a:lstStyle/>
                    <a:p>
                      <a:pPr algn="l"/>
                      <a:r>
                        <a:rPr sz="900" b="0">
                          <a:solidFill>
                            <a:srgbClr val="111827"/>
                          </a:solidFill>
                          <a:latin typeface="Poppins"/>
                        </a:rPr>
                        <a:t>Tom Reber</a:t>
                      </a:r>
                    </a:p>
                  </a:txBody>
                  <a:tcPr>
                    <a:solidFill>
                      <a:srgbClr val="F3F5F9"/>
                    </a:solidFill>
                  </a:tcPr>
                </a:tc>
                <a:tc>
                  <a:txBody>
                    <a:bodyPr anchor="ctr"/>
                    <a:lstStyle/>
                    <a:p>
                      <a:pPr algn="l"/>
                      <a:r>
                        <a:rPr sz="900" b="0">
                          <a:solidFill>
                            <a:srgbClr val="111827"/>
                          </a:solidFill>
                          <a:latin typeface="Poppins"/>
                        </a:rPr>
                        <a:t>1,091 pods + TM'd IP</a:t>
                      </a:r>
                    </a:p>
                  </a:txBody>
                  <a:tcPr>
                    <a:solidFill>
                      <a:srgbClr val="F3F5F9"/>
                    </a:solidFill>
                  </a:tcPr>
                </a:tc>
                <a:tc>
                  <a:txBody>
                    <a:bodyPr anchor="ctr"/>
                    <a:lstStyle/>
                    <a:p>
                      <a:pPr algn="l"/>
                      <a:r>
                        <a:rPr sz="900" b="0">
                          <a:solidFill>
                            <a:srgbClr val="111827"/>
                          </a:solidFill>
                          <a:latin typeface="Poppins"/>
                        </a:rPr>
                        <a:t>No Wiki, no Course schema</a:t>
                      </a:r>
                    </a:p>
                  </a:txBody>
                  <a:tcPr>
                    <a:solidFill>
                      <a:srgbClr val="F3F5F9"/>
                    </a:solidFill>
                  </a:tcPr>
                </a:tc>
                <a:tc>
                  <a:txBody>
                    <a:bodyPr anchor="ctr"/>
                    <a:lstStyle/>
                    <a:p>
                      <a:pPr algn="l"/>
                      <a:r>
                        <a:rPr sz="900" b="0">
                          <a:solidFill>
                            <a:srgbClr val="111827"/>
                          </a:solidFill>
                          <a:latin typeface="Poppins"/>
                        </a:rPr>
                        <a:t>Attack on schema + outcomes</a:t>
                      </a:r>
                    </a:p>
                  </a:txBody>
                  <a:tcPr>
                    <a:solidFill>
                      <a:srgbClr val="F3F5F9"/>
                    </a:solidFill>
                  </a:tcPr>
                </a:tc>
              </a:tr>
              <a:tr h="365760">
                <a:tc>
                  <a:txBody>
                    <a:bodyPr anchor="ctr"/>
                    <a:lstStyle/>
                    <a:p>
                      <a:pPr algn="ctr"/>
                      <a:r>
                        <a:rPr sz="900" b="0">
                          <a:solidFill>
                            <a:srgbClr val="111827"/>
                          </a:solidFill>
                          <a:latin typeface="Poppins"/>
                        </a:rPr>
                        <a:t>3</a:t>
                      </a:r>
                    </a:p>
                  </a:txBody>
                  <a:tcPr>
                    <a:solidFill>
                      <a:srgbClr val="FFFFFF"/>
                    </a:solidFill>
                  </a:tcPr>
                </a:tc>
                <a:tc>
                  <a:txBody>
                    <a:bodyPr anchor="ctr"/>
                    <a:lstStyle/>
                    <a:p>
                      <a:pPr algn="l"/>
                      <a:r>
                        <a:rPr sz="900" b="1">
                          <a:solidFill>
                            <a:srgbClr val="1F2A44"/>
                          </a:solidFill>
                          <a:latin typeface="Poppins"/>
                        </a:rPr>
                        <a:t>D2D Experts</a:t>
                      </a:r>
                    </a:p>
                  </a:txBody>
                  <a:tcPr>
                    <a:solidFill>
                      <a:srgbClr val="FFFFFF"/>
                    </a:solidFill>
                  </a:tcPr>
                </a:tc>
                <a:tc>
                  <a:txBody>
                    <a:bodyPr anchor="ctr"/>
                    <a:lstStyle/>
                    <a:p>
                      <a:pPr algn="ctr"/>
                      <a:r>
                        <a:rPr sz="1100" b="1">
                          <a:solidFill>
                            <a:srgbClr val="FFFFFF"/>
                          </a:solidFill>
                          <a:latin typeface="Poppins"/>
                        </a:rPr>
                        <a:t>64</a:t>
                      </a:r>
                    </a:p>
                  </a:txBody>
                  <a:tcPr>
                    <a:solidFill>
                      <a:srgbClr val="F59E0B"/>
                    </a:solidFill>
                  </a:tcPr>
                </a:tc>
                <a:tc>
                  <a:txBody>
                    <a:bodyPr anchor="ctr"/>
                    <a:lstStyle/>
                    <a:p>
                      <a:pPr algn="l"/>
                      <a:r>
                        <a:rPr sz="900" b="0">
                          <a:solidFill>
                            <a:srgbClr val="111827"/>
                          </a:solidFill>
                          <a:latin typeface="Poppins"/>
                        </a:rPr>
                        <a:t>Sam Taggart</a:t>
                      </a:r>
                    </a:p>
                  </a:txBody>
                  <a:tcPr>
                    <a:solidFill>
                      <a:srgbClr val="FFFFFF"/>
                    </a:solidFill>
                  </a:tcPr>
                </a:tc>
                <a:tc>
                  <a:txBody>
                    <a:bodyPr anchor="ctr"/>
                    <a:lstStyle/>
                    <a:p>
                      <a:pPr algn="l"/>
                      <a:r>
                        <a:rPr sz="900" b="0">
                          <a:solidFill>
                            <a:srgbClr val="111827"/>
                          </a:solidFill>
                          <a:latin typeface="Poppins"/>
                        </a:rPr>
                        <a:t>D2DCon + llms.txt</a:t>
                      </a:r>
                    </a:p>
                  </a:txBody>
                  <a:tcPr>
                    <a:solidFill>
                      <a:srgbClr val="FFFFFF"/>
                    </a:solidFill>
                  </a:tcPr>
                </a:tc>
                <a:tc>
                  <a:txBody>
                    <a:bodyPr anchor="ctr"/>
                    <a:lstStyle/>
                    <a:p>
                      <a:pPr algn="l"/>
                      <a:r>
                        <a:rPr sz="900" b="0">
                          <a:solidFill>
                            <a:srgbClr val="111827"/>
                          </a:solidFill>
                          <a:latin typeface="Poppins"/>
                        </a:rPr>
                        <a:t>No Wiki, weak schema</a:t>
                      </a:r>
                    </a:p>
                  </a:txBody>
                  <a:tcPr>
                    <a:solidFill>
                      <a:srgbClr val="FFFFFF"/>
                    </a:solidFill>
                  </a:tcPr>
                </a:tc>
                <a:tc>
                  <a:txBody>
                    <a:bodyPr anchor="ctr"/>
                    <a:lstStyle/>
                    <a:p>
                      <a:pPr algn="l"/>
                      <a:r>
                        <a:rPr sz="900" b="0">
                          <a:solidFill>
                            <a:srgbClr val="111827"/>
                          </a:solidFill>
                          <a:latin typeface="Poppins"/>
                        </a:rPr>
                        <a:t>D2DCon owns events, we own AI</a:t>
                      </a:r>
                    </a:p>
                  </a:txBody>
                  <a:tcPr>
                    <a:solidFill>
                      <a:srgbClr val="FFFFFF"/>
                    </a:solidFill>
                  </a:tcPr>
                </a:tc>
              </a:tr>
              <a:tr h="365760">
                <a:tc>
                  <a:txBody>
                    <a:bodyPr anchor="ctr"/>
                    <a:lstStyle/>
                    <a:p>
                      <a:pPr algn="ctr"/>
                      <a:r>
                        <a:rPr sz="900" b="0">
                          <a:solidFill>
                            <a:srgbClr val="111827"/>
                          </a:solidFill>
                          <a:latin typeface="Poppins"/>
                        </a:rPr>
                        <a:t>4</a:t>
                      </a:r>
                    </a:p>
                  </a:txBody>
                  <a:tcPr>
                    <a:solidFill>
                      <a:srgbClr val="F3F5F9"/>
                    </a:solidFill>
                  </a:tcPr>
                </a:tc>
                <a:tc>
                  <a:txBody>
                    <a:bodyPr anchor="ctr"/>
                    <a:lstStyle/>
                    <a:p>
                      <a:pPr algn="l"/>
                      <a:r>
                        <a:rPr sz="900" b="1">
                          <a:solidFill>
                            <a:srgbClr val="1F2A44"/>
                          </a:solidFill>
                          <a:latin typeface="Poppins"/>
                        </a:rPr>
                        <a:t>STG</a:t>
                      </a:r>
                    </a:p>
                  </a:txBody>
                  <a:tcPr>
                    <a:solidFill>
                      <a:srgbClr val="F3F5F9"/>
                    </a:solidFill>
                  </a:tcPr>
                </a:tc>
                <a:tc>
                  <a:txBody>
                    <a:bodyPr anchor="ctr"/>
                    <a:lstStyle/>
                    <a:p>
                      <a:pPr algn="ctr"/>
                      <a:r>
                        <a:rPr sz="1100" b="1">
                          <a:solidFill>
                            <a:srgbClr val="FFFFFF"/>
                          </a:solidFill>
                          <a:latin typeface="Poppins"/>
                        </a:rPr>
                        <a:t>63</a:t>
                      </a:r>
                    </a:p>
                  </a:txBody>
                  <a:tcPr>
                    <a:solidFill>
                      <a:srgbClr val="F59E0B"/>
                    </a:solidFill>
                  </a:tcPr>
                </a:tc>
                <a:tc>
                  <a:txBody>
                    <a:bodyPr anchor="ctr"/>
                    <a:lstStyle/>
                    <a:p>
                      <a:pPr algn="l"/>
                      <a:r>
                        <a:rPr sz="900" b="0">
                          <a:solidFill>
                            <a:srgbClr val="111827"/>
                          </a:solidFill>
                          <a:latin typeface="Poppins"/>
                        </a:rPr>
                        <a:t>Ryan Groth</a:t>
                      </a:r>
                    </a:p>
                  </a:txBody>
                  <a:tcPr>
                    <a:solidFill>
                      <a:srgbClr val="F3F5F9"/>
                    </a:solidFill>
                  </a:tcPr>
                </a:tc>
                <a:tc>
                  <a:txBody>
                    <a:bodyPr anchor="ctr"/>
                    <a:lstStyle/>
                    <a:p>
                      <a:pPr algn="l"/>
                      <a:r>
                        <a:rPr sz="900" b="0">
                          <a:solidFill>
                            <a:srgbClr val="111827"/>
                          </a:solidFill>
                          <a:latin typeface="Poppins"/>
                        </a:rPr>
                        <a:t>llms.txt + AI-open</a:t>
                      </a:r>
                    </a:p>
                  </a:txBody>
                  <a:tcPr>
                    <a:solidFill>
                      <a:srgbClr val="F3F5F9"/>
                    </a:solidFill>
                  </a:tcPr>
                </a:tc>
                <a:tc>
                  <a:txBody>
                    <a:bodyPr anchor="ctr"/>
                    <a:lstStyle/>
                    <a:p>
                      <a:pPr algn="l"/>
                      <a:r>
                        <a:rPr sz="900" b="0">
                          <a:solidFill>
                            <a:srgbClr val="111827"/>
                          </a:solidFill>
                          <a:latin typeface="Poppins"/>
                        </a:rPr>
                        <a:t>FAKE 5.0/500 schema violation</a:t>
                      </a:r>
                    </a:p>
                  </a:txBody>
                  <a:tcPr>
                    <a:solidFill>
                      <a:srgbClr val="F3F5F9"/>
                    </a:solidFill>
                  </a:tcPr>
                </a:tc>
                <a:tc>
                  <a:txBody>
                    <a:bodyPr anchor="ctr"/>
                    <a:lstStyle/>
                    <a:p>
                      <a:pPr algn="l"/>
                      <a:r>
                        <a:rPr sz="900" b="0">
                          <a:solidFill>
                            <a:srgbClr val="111827"/>
                          </a:solidFill>
                          <a:latin typeface="Poppins"/>
                        </a:rPr>
                        <a:t>Rob knows every weakness inside</a:t>
                      </a:r>
                    </a:p>
                  </a:txBody>
                  <a:tcPr>
                    <a:solidFill>
                      <a:srgbClr val="F3F5F9"/>
                    </a:solidFill>
                  </a:tcPr>
                </a:tc>
              </a:tr>
              <a:tr h="365760">
                <a:tc>
                  <a:txBody>
                    <a:bodyPr anchor="ctr"/>
                    <a:lstStyle/>
                    <a:p>
                      <a:pPr algn="ctr"/>
                      <a:r>
                        <a:rPr sz="900" b="0">
                          <a:solidFill>
                            <a:srgbClr val="111827"/>
                          </a:solidFill>
                          <a:latin typeface="Poppins"/>
                        </a:rPr>
                        <a:t>5</a:t>
                      </a:r>
                    </a:p>
                  </a:txBody>
                  <a:tcPr>
                    <a:solidFill>
                      <a:srgbClr val="FFFFFF"/>
                    </a:solidFill>
                  </a:tcPr>
                </a:tc>
                <a:tc>
                  <a:txBody>
                    <a:bodyPr anchor="ctr"/>
                    <a:lstStyle/>
                    <a:p>
                      <a:pPr algn="l"/>
                      <a:r>
                        <a:rPr sz="900" b="1">
                          <a:solidFill>
                            <a:srgbClr val="1F2A44"/>
                          </a:solidFill>
                          <a:latin typeface="Poppins"/>
                        </a:rPr>
                        <a:t>Roofing Insights</a:t>
                      </a:r>
                    </a:p>
                  </a:txBody>
                  <a:tcPr>
                    <a:solidFill>
                      <a:srgbClr val="FFFFFF"/>
                    </a:solidFill>
                  </a:tcPr>
                </a:tc>
                <a:tc>
                  <a:txBody>
                    <a:bodyPr anchor="ctr"/>
                    <a:lstStyle/>
                    <a:p>
                      <a:pPr algn="ctr"/>
                      <a:r>
                        <a:rPr sz="1100" b="1">
                          <a:solidFill>
                            <a:srgbClr val="FFFFFF"/>
                          </a:solidFill>
                          <a:latin typeface="Poppins"/>
                        </a:rPr>
                        <a:t>58</a:t>
                      </a:r>
                    </a:p>
                  </a:txBody>
                  <a:tcPr>
                    <a:solidFill>
                      <a:srgbClr val="F59E0B"/>
                    </a:solidFill>
                  </a:tcPr>
                </a:tc>
                <a:tc>
                  <a:txBody>
                    <a:bodyPr anchor="ctr"/>
                    <a:lstStyle/>
                    <a:p>
                      <a:pPr algn="l"/>
                      <a:r>
                        <a:rPr sz="900" b="0">
                          <a:solidFill>
                            <a:srgbClr val="111827"/>
                          </a:solidFill>
                          <a:latin typeface="Poppins"/>
                        </a:rPr>
                        <a:t>Dmitry Lipinskiy</a:t>
                      </a:r>
                    </a:p>
                  </a:txBody>
                  <a:tcPr>
                    <a:solidFill>
                      <a:srgbClr val="FFFFFF"/>
                    </a:solidFill>
                  </a:tcPr>
                </a:tc>
                <a:tc>
                  <a:txBody>
                    <a:bodyPr anchor="ctr"/>
                    <a:lstStyle/>
                    <a:p>
                      <a:pPr algn="l"/>
                      <a:r>
                        <a:rPr sz="900" b="0">
                          <a:solidFill>
                            <a:srgbClr val="111827"/>
                          </a:solidFill>
                          <a:latin typeface="Poppins"/>
                        </a:rPr>
                        <a:t>147K YT</a:t>
                      </a:r>
                    </a:p>
                  </a:txBody>
                  <a:tcPr>
                    <a:solidFill>
                      <a:srgbClr val="FFFFFF"/>
                    </a:solidFill>
                  </a:tcPr>
                </a:tc>
                <a:tc>
                  <a:txBody>
                    <a:bodyPr anchor="ctr"/>
                    <a:lstStyle/>
                    <a:p>
                      <a:pPr algn="l"/>
                      <a:r>
                        <a:rPr sz="900" b="0">
                          <a:solidFill>
                            <a:srgbClr val="111827"/>
                          </a:solidFill>
                          <a:latin typeface="Poppins"/>
                        </a:rPr>
                        <a:t>No schema, no llms.txt</a:t>
                      </a:r>
                    </a:p>
                  </a:txBody>
                  <a:tcPr>
                    <a:solidFill>
                      <a:srgbClr val="FFFFFF"/>
                    </a:solidFill>
                  </a:tcPr>
                </a:tc>
                <a:tc>
                  <a:txBody>
                    <a:bodyPr anchor="ctr"/>
                    <a:lstStyle/>
                    <a:p>
                      <a:pPr algn="l"/>
                      <a:r>
                        <a:rPr sz="900" b="0">
                          <a:solidFill>
                            <a:srgbClr val="111827"/>
                          </a:solidFill>
                          <a:latin typeface="Poppins"/>
                        </a:rPr>
                        <a:t>YT his, AI search ours</a:t>
                      </a:r>
                    </a:p>
                  </a:txBody>
                  <a:tcPr>
                    <a:solidFill>
                      <a:srgbClr val="FFFFFF"/>
                    </a:solidFill>
                  </a:tcPr>
                </a:tc>
              </a:tr>
              <a:tr h="365760">
                <a:tc>
                  <a:txBody>
                    <a:bodyPr anchor="ctr"/>
                    <a:lstStyle/>
                    <a:p>
                      <a:pPr algn="ctr"/>
                      <a:r>
                        <a:rPr sz="900" b="0">
                          <a:solidFill>
                            <a:srgbClr val="111827"/>
                          </a:solidFill>
                          <a:latin typeface="Poppins"/>
                        </a:rPr>
                        <a:t>6</a:t>
                      </a:r>
                    </a:p>
                  </a:txBody>
                  <a:tcPr>
                    <a:solidFill>
                      <a:srgbClr val="F3F5F9"/>
                    </a:solidFill>
                  </a:tcPr>
                </a:tc>
                <a:tc>
                  <a:txBody>
                    <a:bodyPr anchor="ctr"/>
                    <a:lstStyle/>
                    <a:p>
                      <a:pPr algn="l"/>
                      <a:r>
                        <a:rPr sz="900" b="1">
                          <a:solidFill>
                            <a:srgbClr val="1F2A44"/>
                          </a:solidFill>
                          <a:latin typeface="Poppins"/>
                        </a:rPr>
                        <a:t>Breakthrough Academy</a:t>
                      </a:r>
                    </a:p>
                  </a:txBody>
                  <a:tcPr>
                    <a:solidFill>
                      <a:srgbClr val="F3F5F9"/>
                    </a:solidFill>
                  </a:tcPr>
                </a:tc>
                <a:tc>
                  <a:txBody>
                    <a:bodyPr anchor="ctr"/>
                    <a:lstStyle/>
                    <a:p>
                      <a:pPr algn="ctr"/>
                      <a:r>
                        <a:rPr sz="1100" b="1">
                          <a:solidFill>
                            <a:srgbClr val="FFFFFF"/>
                          </a:solidFill>
                          <a:latin typeface="Poppins"/>
                        </a:rPr>
                        <a:t>58</a:t>
                      </a:r>
                    </a:p>
                  </a:txBody>
                  <a:tcPr>
                    <a:solidFill>
                      <a:srgbClr val="F59E0B"/>
                    </a:solidFill>
                  </a:tcPr>
                </a:tc>
                <a:tc>
                  <a:txBody>
                    <a:bodyPr anchor="ctr"/>
                    <a:lstStyle/>
                    <a:p>
                      <a:pPr algn="l"/>
                      <a:r>
                        <a:rPr sz="900" b="0">
                          <a:solidFill>
                            <a:srgbClr val="111827"/>
                          </a:solidFill>
                          <a:latin typeface="Poppins"/>
                        </a:rPr>
                        <a:t>Canadian team</a:t>
                      </a:r>
                    </a:p>
                  </a:txBody>
                  <a:tcPr>
                    <a:solidFill>
                      <a:srgbClr val="F3F5F9"/>
                    </a:solidFill>
                  </a:tcPr>
                </a:tc>
                <a:tc>
                  <a:txBody>
                    <a:bodyPr anchor="ctr"/>
                    <a:lstStyle/>
                    <a:p>
                      <a:pPr algn="l"/>
                      <a:r>
                        <a:rPr sz="900" b="0">
                          <a:solidFill>
                            <a:srgbClr val="111827"/>
                          </a:solidFill>
                          <a:latin typeface="Poppins"/>
                        </a:rPr>
                        <a:t>Contractor Evolution pod</a:t>
                      </a:r>
                    </a:p>
                  </a:txBody>
                  <a:tcPr>
                    <a:solidFill>
                      <a:srgbClr val="F3F5F9"/>
                    </a:solidFill>
                  </a:tcPr>
                </a:tc>
                <a:tc>
                  <a:txBody>
                    <a:bodyPr anchor="ctr"/>
                    <a:lstStyle/>
                    <a:p>
                      <a:pPr algn="l"/>
                      <a:r>
                        <a:rPr sz="900" b="0">
                          <a:solidFill>
                            <a:srgbClr val="111827"/>
                          </a:solidFill>
                          <a:latin typeface="Poppins"/>
                        </a:rPr>
                        <a:t>NO sales lane at all</a:t>
                      </a:r>
                    </a:p>
                  </a:txBody>
                  <a:tcPr>
                    <a:solidFill>
                      <a:srgbClr val="F3F5F9"/>
                    </a:solidFill>
                  </a:tcPr>
                </a:tc>
                <a:tc>
                  <a:txBody>
                    <a:bodyPr anchor="ctr"/>
                    <a:lstStyle/>
                    <a:p>
                      <a:pPr algn="l"/>
                      <a:r>
                        <a:rPr sz="900" b="0">
                          <a:solidFill>
                            <a:srgbClr val="111827"/>
                          </a:solidFill>
                          <a:latin typeface="Poppins"/>
                        </a:rPr>
                        <a:t>Wide open on sales-first</a:t>
                      </a:r>
                    </a:p>
                  </a:txBody>
                  <a:tcPr>
                    <a:solidFill>
                      <a:srgbClr val="F3F5F9"/>
                    </a:solidFill>
                  </a:tcPr>
                </a:tc>
              </a:tr>
              <a:tr h="365760">
                <a:tc>
                  <a:txBody>
                    <a:bodyPr anchor="ctr"/>
                    <a:lstStyle/>
                    <a:p>
                      <a:pPr algn="ctr"/>
                      <a:r>
                        <a:rPr sz="900" b="0">
                          <a:solidFill>
                            <a:srgbClr val="111827"/>
                          </a:solidFill>
                          <a:latin typeface="Poppins"/>
                        </a:rPr>
                        <a:t>7</a:t>
                      </a:r>
                    </a:p>
                  </a:txBody>
                  <a:tcPr>
                    <a:solidFill>
                      <a:srgbClr val="FFFFFF"/>
                    </a:solidFill>
                  </a:tcPr>
                </a:tc>
                <a:tc>
                  <a:txBody>
                    <a:bodyPr anchor="ctr"/>
                    <a:lstStyle/>
                    <a:p>
                      <a:pPr algn="l"/>
                      <a:r>
                        <a:rPr sz="900" b="1">
                          <a:solidFill>
                            <a:srgbClr val="1F2A44"/>
                          </a:solidFill>
                          <a:latin typeface="Poppins"/>
                        </a:rPr>
                        <a:t>Forrest / FPG</a:t>
                      </a:r>
                    </a:p>
                  </a:txBody>
                  <a:tcPr>
                    <a:solidFill>
                      <a:srgbClr val="FFFFFF"/>
                    </a:solidFill>
                  </a:tcPr>
                </a:tc>
                <a:tc>
                  <a:txBody>
                    <a:bodyPr anchor="ctr"/>
                    <a:lstStyle/>
                    <a:p>
                      <a:pPr algn="ctr"/>
                      <a:r>
                        <a:rPr sz="1100" b="1">
                          <a:solidFill>
                            <a:srgbClr val="FFFFFF"/>
                          </a:solidFill>
                          <a:latin typeface="Poppins"/>
                        </a:rPr>
                        <a:t>58</a:t>
                      </a:r>
                    </a:p>
                  </a:txBody>
                  <a:tcPr>
                    <a:solidFill>
                      <a:srgbClr val="F59E0B"/>
                    </a:solidFill>
                  </a:tcPr>
                </a:tc>
                <a:tc>
                  <a:txBody>
                    <a:bodyPr anchor="ctr"/>
                    <a:lstStyle/>
                    <a:p>
                      <a:pPr algn="l"/>
                      <a:r>
                        <a:rPr sz="900" b="0">
                          <a:solidFill>
                            <a:srgbClr val="111827"/>
                          </a:solidFill>
                          <a:latin typeface="Poppins"/>
                        </a:rPr>
                        <a:t>Jason Forrest</a:t>
                      </a:r>
                    </a:p>
                  </a:txBody>
                  <a:tcPr>
                    <a:solidFill>
                      <a:srgbClr val="FFFFFF"/>
                    </a:solidFill>
                  </a:tcPr>
                </a:tc>
                <a:tc>
                  <a:txBody>
                    <a:bodyPr anchor="ctr"/>
                    <a:lstStyle/>
                    <a:p>
                      <a:pPr algn="l"/>
                      <a:r>
                        <a:rPr sz="900" b="0">
                          <a:solidFill>
                            <a:srgbClr val="111827"/>
                          </a:solidFill>
                          <a:latin typeface="Poppins"/>
                        </a:rPr>
                        <a:t>9 Stevies + 6 books</a:t>
                      </a:r>
                    </a:p>
                  </a:txBody>
                  <a:tcPr>
                    <a:solidFill>
                      <a:srgbClr val="FFFFFF"/>
                    </a:solidFill>
                  </a:tcPr>
                </a:tc>
                <a:tc>
                  <a:txBody>
                    <a:bodyPr anchor="ctr"/>
                    <a:lstStyle/>
                    <a:p>
                      <a:pPr algn="l"/>
                      <a:r>
                        <a:rPr sz="900" b="0">
                          <a:solidFill>
                            <a:srgbClr val="111827"/>
                          </a:solidFill>
                          <a:latin typeface="Poppins"/>
                        </a:rPr>
                        <a:t>Not contractor-specific</a:t>
                      </a:r>
                    </a:p>
                  </a:txBody>
                  <a:tcPr>
                    <a:solidFill>
                      <a:srgbClr val="FFFFFF"/>
                    </a:solidFill>
                  </a:tcPr>
                </a:tc>
                <a:tc>
                  <a:txBody>
                    <a:bodyPr anchor="ctr"/>
                    <a:lstStyle/>
                    <a:p>
                      <a:pPr algn="l"/>
                      <a:r>
                        <a:rPr sz="900" b="0">
                          <a:solidFill>
                            <a:srgbClr val="111827"/>
                          </a:solidFill>
                          <a:latin typeface="Poppins"/>
                        </a:rPr>
                        <a:t>Vertical depth beats horizontal</a:t>
                      </a:r>
                    </a:p>
                  </a:txBody>
                  <a:tcPr>
                    <a:solidFill>
                      <a:srgbClr val="FFFFFF"/>
                    </a:solidFill>
                  </a:tcPr>
                </a:tc>
              </a:tr>
              <a:tr h="365760">
                <a:tc>
                  <a:txBody>
                    <a:bodyPr anchor="ctr"/>
                    <a:lstStyle/>
                    <a:p>
                      <a:pPr algn="ctr"/>
                      <a:r>
                        <a:rPr sz="900" b="0">
                          <a:solidFill>
                            <a:srgbClr val="111827"/>
                          </a:solidFill>
                          <a:latin typeface="Poppins"/>
                        </a:rPr>
                        <a:t>8</a:t>
                      </a:r>
                    </a:p>
                  </a:txBody>
                  <a:tcPr>
                    <a:solidFill>
                      <a:srgbClr val="F3F5F9"/>
                    </a:solidFill>
                  </a:tcPr>
                </a:tc>
                <a:tc>
                  <a:txBody>
                    <a:bodyPr anchor="ctr"/>
                    <a:lstStyle/>
                    <a:p>
                      <a:pPr algn="l"/>
                      <a:r>
                        <a:rPr sz="900" b="1">
                          <a:solidFill>
                            <a:srgbClr val="1F2A44"/>
                          </a:solidFill>
                          <a:latin typeface="Poppins"/>
                        </a:rPr>
                        <a:t>Roofing Academy</a:t>
                      </a:r>
                    </a:p>
                  </a:txBody>
                  <a:tcPr>
                    <a:solidFill>
                      <a:srgbClr val="F3F5F9"/>
                    </a:solidFill>
                  </a:tcPr>
                </a:tc>
                <a:tc>
                  <a:txBody>
                    <a:bodyPr anchor="ctr"/>
                    <a:lstStyle/>
                    <a:p>
                      <a:pPr algn="ctr"/>
                      <a:r>
                        <a:rPr sz="1100" b="1">
                          <a:solidFill>
                            <a:srgbClr val="FFFFFF"/>
                          </a:solidFill>
                          <a:latin typeface="Poppins"/>
                        </a:rPr>
                        <a:t>42</a:t>
                      </a:r>
                    </a:p>
                  </a:txBody>
                  <a:tcPr>
                    <a:solidFill>
                      <a:srgbClr val="EF4444"/>
                    </a:solidFill>
                  </a:tcPr>
                </a:tc>
                <a:tc>
                  <a:txBody>
                    <a:bodyPr anchor="ctr"/>
                    <a:lstStyle/>
                    <a:p>
                      <a:pPr algn="l"/>
                      <a:r>
                        <a:rPr sz="900" b="0">
                          <a:solidFill>
                            <a:srgbClr val="111827"/>
                          </a:solidFill>
                          <a:latin typeface="Poppins"/>
                        </a:rPr>
                        <a:t>Randy Brothers</a:t>
                      </a:r>
                    </a:p>
                  </a:txBody>
                  <a:tcPr>
                    <a:solidFill>
                      <a:srgbClr val="F3F5F9"/>
                    </a:solidFill>
                  </a:tcPr>
                </a:tc>
                <a:tc>
                  <a:txBody>
                    <a:bodyPr anchor="ctr"/>
                    <a:lstStyle/>
                    <a:p>
                      <a:pPr algn="l"/>
                      <a:r>
                        <a:rPr sz="900" b="0">
                          <a:solidFill>
                            <a:srgbClr val="111827"/>
                          </a:solidFill>
                          <a:latin typeface="Poppins"/>
                        </a:rPr>
                        <a:t>200-ep podcast</a:t>
                      </a:r>
                    </a:p>
                  </a:txBody>
                  <a:tcPr>
                    <a:solidFill>
                      <a:srgbClr val="F3F5F9"/>
                    </a:solidFill>
                  </a:tcPr>
                </a:tc>
                <a:tc>
                  <a:txBody>
                    <a:bodyPr anchor="ctr"/>
                    <a:lstStyle/>
                    <a:p>
                      <a:pPr algn="l"/>
                      <a:r>
                        <a:rPr sz="900" b="0">
                          <a:solidFill>
                            <a:srgbClr val="111827"/>
                          </a:solidFill>
                          <a:latin typeface="Poppins"/>
                        </a:rPr>
                        <a:t>Wix junk, zero schema</a:t>
                      </a:r>
                    </a:p>
                  </a:txBody>
                  <a:tcPr>
                    <a:solidFill>
                      <a:srgbClr val="F3F5F9"/>
                    </a:solidFill>
                  </a:tcPr>
                </a:tc>
                <a:tc>
                  <a:txBody>
                    <a:bodyPr anchor="ctr"/>
                    <a:lstStyle/>
                    <a:p>
                      <a:pPr algn="l"/>
                      <a:r>
                        <a:rPr sz="900" b="0">
                          <a:solidFill>
                            <a:srgbClr val="111827"/>
                          </a:solidFill>
                          <a:latin typeface="Poppins"/>
                        </a:rPr>
                        <a:t>Entity-invisible to LLMs</a:t>
                      </a:r>
                    </a:p>
                  </a:txBody>
                  <a:tcPr>
                    <a:solidFill>
                      <a:srgbClr val="F3F5F9"/>
                    </a:solidFill>
                  </a:tcPr>
                </a:tc>
              </a:tr>
              <a:tr h="365760">
                <a:tc>
                  <a:txBody>
                    <a:bodyPr anchor="ctr"/>
                    <a:lstStyle/>
                    <a:p>
                      <a:pPr algn="ctr"/>
                      <a:r>
                        <a:rPr sz="900" b="0">
                          <a:solidFill>
                            <a:srgbClr val="111827"/>
                          </a:solidFill>
                          <a:latin typeface="Poppins"/>
                        </a:rPr>
                        <a:t>9</a:t>
                      </a:r>
                    </a:p>
                  </a:txBody>
                  <a:tcPr>
                    <a:solidFill>
                      <a:srgbClr val="FFFFFF"/>
                    </a:solidFill>
                  </a:tcPr>
                </a:tc>
                <a:tc>
                  <a:txBody>
                    <a:bodyPr anchor="ctr"/>
                    <a:lstStyle/>
                    <a:p>
                      <a:pPr algn="l"/>
                      <a:r>
                        <a:rPr sz="900" b="1">
                          <a:solidFill>
                            <a:srgbClr val="1F2A44"/>
                          </a:solidFill>
                          <a:latin typeface="Poppins"/>
                        </a:rPr>
                        <a:t>Closers.io</a:t>
                      </a:r>
                    </a:p>
                  </a:txBody>
                  <a:tcPr>
                    <a:solidFill>
                      <a:srgbClr val="FFFFFF"/>
                    </a:solidFill>
                  </a:tcPr>
                </a:tc>
                <a:tc>
                  <a:txBody>
                    <a:bodyPr anchor="ctr"/>
                    <a:lstStyle/>
                    <a:p>
                      <a:pPr algn="ctr"/>
                      <a:r>
                        <a:rPr sz="1100" b="1">
                          <a:solidFill>
                            <a:srgbClr val="FFFFFF"/>
                          </a:solidFill>
                          <a:latin typeface="Poppins"/>
                        </a:rPr>
                        <a:t>38</a:t>
                      </a:r>
                    </a:p>
                  </a:txBody>
                  <a:tcPr>
                    <a:solidFill>
                      <a:srgbClr val="EF4444"/>
                    </a:solidFill>
                  </a:tcPr>
                </a:tc>
                <a:tc>
                  <a:txBody>
                    <a:bodyPr anchor="ctr"/>
                    <a:lstStyle/>
                    <a:p>
                      <a:pPr algn="l"/>
                      <a:r>
                        <a:rPr sz="900" b="0">
                          <a:solidFill>
                            <a:srgbClr val="111827"/>
                          </a:solidFill>
                          <a:latin typeface="Poppins"/>
                        </a:rPr>
                        <a:t>Cole Gordon</a:t>
                      </a:r>
                    </a:p>
                  </a:txBody>
                  <a:tcPr>
                    <a:solidFill>
                      <a:srgbClr val="FFFFFF"/>
                    </a:solidFill>
                  </a:tcPr>
                </a:tc>
                <a:tc>
                  <a:txBody>
                    <a:bodyPr anchor="ctr"/>
                    <a:lstStyle/>
                    <a:p>
                      <a:pPr algn="l"/>
                      <a:r>
                        <a:rPr sz="900" b="0">
                          <a:solidFill>
                            <a:srgbClr val="111827"/>
                          </a:solidFill>
                          <a:latin typeface="Poppins"/>
                        </a:rPr>
                        <a:t>Celebrity client logos</a:t>
                      </a:r>
                    </a:p>
                  </a:txBody>
                  <a:tcPr>
                    <a:solidFill>
                      <a:srgbClr val="FFFFFF"/>
                    </a:solidFill>
                  </a:tcPr>
                </a:tc>
                <a:tc>
                  <a:txBody>
                    <a:bodyPr anchor="ctr"/>
                    <a:lstStyle/>
                    <a:p>
                      <a:pPr algn="l"/>
                      <a:r>
                        <a:rPr sz="900" b="0">
                          <a:solidFill>
                            <a:srgbClr val="111827"/>
                          </a:solidFill>
                          <a:latin typeface="Poppins"/>
                        </a:rPr>
                        <a:t>NOT home services</a:t>
                      </a:r>
                    </a:p>
                  </a:txBody>
                  <a:tcPr>
                    <a:solidFill>
                      <a:srgbClr val="FFFFFF"/>
                    </a:solidFill>
                  </a:tcPr>
                </a:tc>
                <a:tc>
                  <a:txBody>
                    <a:bodyPr anchor="ctr"/>
                    <a:lstStyle/>
                    <a:p>
                      <a:pPr algn="l"/>
                      <a:r>
                        <a:rPr sz="900" b="0">
                          <a:solidFill>
                            <a:srgbClr val="111827"/>
                          </a:solidFill>
                          <a:latin typeface="Poppins"/>
                        </a:rPr>
                        <a:t>Wrong vertical</a:t>
                      </a:r>
                    </a:p>
                  </a:txBody>
                  <a:tcPr>
                    <a:solidFill>
                      <a:srgbClr val="FFFFFF"/>
                    </a:solidFill>
                  </a:tcPr>
                </a:tc>
              </a:tr>
              <a:tr h="365760">
                <a:tc>
                  <a:txBody>
                    <a:bodyPr anchor="ctr"/>
                    <a:lstStyle/>
                    <a:p>
                      <a:pPr algn="ctr"/>
                      <a:r>
                        <a:rPr sz="900" b="0">
                          <a:solidFill>
                            <a:srgbClr val="111827"/>
                          </a:solidFill>
                          <a:latin typeface="Poppins"/>
                        </a:rPr>
                        <a:t>10</a:t>
                      </a:r>
                    </a:p>
                  </a:txBody>
                  <a:tcPr>
                    <a:solidFill>
                      <a:srgbClr val="F3F5F9"/>
                    </a:solidFill>
                  </a:tcPr>
                </a:tc>
                <a:tc>
                  <a:txBody>
                    <a:bodyPr anchor="ctr"/>
                    <a:lstStyle/>
                    <a:p>
                      <a:pPr algn="l"/>
                      <a:r>
                        <a:rPr sz="900" b="1">
                          <a:solidFill>
                            <a:srgbClr val="1F2A44"/>
                          </a:solidFill>
                          <a:latin typeface="Poppins"/>
                        </a:rPr>
                        <a:t>TOP REP</a:t>
                      </a:r>
                    </a:p>
                  </a:txBody>
                  <a:tcPr>
                    <a:solidFill>
                      <a:srgbClr val="F3F5F9"/>
                    </a:solidFill>
                  </a:tcPr>
                </a:tc>
                <a:tc>
                  <a:txBody>
                    <a:bodyPr anchor="ctr"/>
                    <a:lstStyle/>
                    <a:p>
                      <a:pPr algn="ctr"/>
                      <a:r>
                        <a:rPr sz="1100" b="1">
                          <a:solidFill>
                            <a:srgbClr val="FFFFFF"/>
                          </a:solidFill>
                          <a:latin typeface="Poppins"/>
                        </a:rPr>
                        <a:t>38</a:t>
                      </a:r>
                    </a:p>
                  </a:txBody>
                  <a:tcPr>
                    <a:solidFill>
                      <a:srgbClr val="EF4444"/>
                    </a:solidFill>
                  </a:tcPr>
                </a:tc>
                <a:tc>
                  <a:txBody>
                    <a:bodyPr anchor="ctr"/>
                    <a:lstStyle/>
                    <a:p>
                      <a:pPr algn="l"/>
                      <a:r>
                        <a:rPr sz="900" b="0">
                          <a:solidFill>
                            <a:srgbClr val="111827"/>
                          </a:solidFill>
                          <a:latin typeface="Poppins"/>
                        </a:rPr>
                        <a:t>Chuck Thokey</a:t>
                      </a:r>
                    </a:p>
                  </a:txBody>
                  <a:tcPr>
                    <a:solidFill>
                      <a:srgbClr val="F3F5F9"/>
                    </a:solidFill>
                  </a:tcPr>
                </a:tc>
                <a:tc>
                  <a:txBody>
                    <a:bodyPr anchor="ctr"/>
                    <a:lstStyle/>
                    <a:p>
                      <a:pPr algn="l"/>
                      <a:r>
                        <a:rPr sz="900" b="0">
                          <a:solidFill>
                            <a:srgbClr val="111827"/>
                          </a:solidFill>
                          <a:latin typeface="Poppins"/>
                        </a:rPr>
                        <a:t>Transparent pricing</a:t>
                      </a:r>
                    </a:p>
                  </a:txBody>
                  <a:tcPr>
                    <a:solidFill>
                      <a:srgbClr val="F3F5F9"/>
                    </a:solidFill>
                  </a:tcPr>
                </a:tc>
                <a:tc>
                  <a:txBody>
                    <a:bodyPr anchor="ctr"/>
                    <a:lstStyle/>
                    <a:p>
                      <a:pPr algn="l"/>
                      <a:r>
                        <a:rPr sz="900" b="0">
                          <a:solidFill>
                            <a:srgbClr val="111827"/>
                          </a:solidFill>
                          <a:latin typeface="Poppins"/>
                        </a:rPr>
                        <a:t>Entity-invisible</a:t>
                      </a:r>
                    </a:p>
                  </a:txBody>
                  <a:tcPr>
                    <a:solidFill>
                      <a:srgbClr val="F3F5F9"/>
                    </a:solidFill>
                  </a:tcPr>
                </a:tc>
                <a:tc>
                  <a:txBody>
                    <a:bodyPr anchor="ctr"/>
                    <a:lstStyle/>
                    <a:p>
                      <a:pPr algn="l"/>
                      <a:r>
                        <a:rPr sz="900" b="0">
                          <a:solidFill>
                            <a:srgbClr val="111827"/>
                          </a:solidFill>
                          <a:latin typeface="Poppins"/>
                        </a:rPr>
                        <a:t>No entity graph presence</a:t>
                      </a:r>
                    </a:p>
                  </a:txBody>
                  <a:tcPr>
                    <a:solidFill>
                      <a:srgbClr val="F3F5F9"/>
                    </a:solidFill>
                  </a:tcPr>
                </a:tc>
              </a:tr>
              <a:tr h="365760">
                <a:tc>
                  <a:txBody>
                    <a:bodyPr anchor="ctr"/>
                    <a:lstStyle/>
                    <a:p>
                      <a:pPr algn="ctr"/>
                      <a:r>
                        <a:rPr sz="900" b="0">
                          <a:solidFill>
                            <a:srgbClr val="111827"/>
                          </a:solidFill>
                          <a:latin typeface="Poppins"/>
                        </a:rPr>
                        <a:t>11</a:t>
                      </a:r>
                    </a:p>
                  </a:txBody>
                  <a:tcPr>
                    <a:solidFill>
                      <a:srgbClr val="FFFFFF"/>
                    </a:solidFill>
                  </a:tcPr>
                </a:tc>
                <a:tc>
                  <a:txBody>
                    <a:bodyPr anchor="ctr"/>
                    <a:lstStyle/>
                    <a:p>
                      <a:pPr algn="l"/>
                      <a:r>
                        <a:rPr sz="900" b="1">
                          <a:solidFill>
                            <a:srgbClr val="1F2A44"/>
                          </a:solidFill>
                          <a:latin typeface="Poppins"/>
                        </a:rPr>
                        <a:t>CertainPath</a:t>
                      </a:r>
                    </a:p>
                  </a:txBody>
                  <a:tcPr>
                    <a:solidFill>
                      <a:srgbClr val="FFFFFF"/>
                    </a:solidFill>
                  </a:tcPr>
                </a:tc>
                <a:tc>
                  <a:txBody>
                    <a:bodyPr anchor="ctr"/>
                    <a:lstStyle/>
                    <a:p>
                      <a:pPr algn="ctr"/>
                      <a:r>
                        <a:rPr sz="1100" b="1">
                          <a:solidFill>
                            <a:srgbClr val="FFFFFF"/>
                          </a:solidFill>
                          <a:latin typeface="Poppins"/>
                        </a:rPr>
                        <a:t>42</a:t>
                      </a:r>
                    </a:p>
                  </a:txBody>
                  <a:tcPr>
                    <a:solidFill>
                      <a:srgbClr val="EF4444"/>
                    </a:solidFill>
                  </a:tcPr>
                </a:tc>
                <a:tc>
                  <a:txBody>
                    <a:bodyPr anchor="ctr"/>
                    <a:lstStyle/>
                    <a:p>
                      <a:pPr algn="l"/>
                      <a:r>
                        <a:rPr sz="900" b="0">
                          <a:solidFill>
                            <a:srgbClr val="111827"/>
                          </a:solidFill>
                          <a:latin typeface="Poppins"/>
                        </a:rPr>
                        <a:t>Lon Cassel</a:t>
                      </a:r>
                    </a:p>
                  </a:txBody>
                  <a:tcPr>
                    <a:solidFill>
                      <a:srgbClr val="FFFFFF"/>
                    </a:solidFill>
                  </a:tcPr>
                </a:tc>
                <a:tc>
                  <a:txBody>
                    <a:bodyPr anchor="ctr"/>
                    <a:lstStyle/>
                    <a:p>
                      <a:pPr algn="l"/>
                      <a:r>
                        <a:rPr sz="900" b="0">
                          <a:solidFill>
                            <a:srgbClr val="111827"/>
                          </a:solidFill>
                          <a:latin typeface="Poppins"/>
                        </a:rPr>
                        <a:t>1,500+ members</a:t>
                      </a:r>
                    </a:p>
                  </a:txBody>
                  <a:tcPr>
                    <a:solidFill>
                      <a:srgbClr val="FFFFFF"/>
                    </a:solidFill>
                  </a:tcPr>
                </a:tc>
                <a:tc>
                  <a:txBody>
                    <a:bodyPr anchor="ctr"/>
                    <a:lstStyle/>
                    <a:p>
                      <a:pPr algn="l"/>
                      <a:r>
                        <a:rPr sz="900" b="0">
                          <a:solidFill>
                            <a:srgbClr val="111827"/>
                          </a:solidFill>
                          <a:latin typeface="Poppins"/>
                        </a:rPr>
                        <a:t>Primary domain parked</a:t>
                      </a:r>
                    </a:p>
                  </a:txBody>
                  <a:tcPr>
                    <a:solidFill>
                      <a:srgbClr val="FFFFFF"/>
                    </a:solidFill>
                  </a:tcPr>
                </a:tc>
                <a:tc>
                  <a:txBody>
                    <a:bodyPr anchor="ctr"/>
                    <a:lstStyle/>
                    <a:p>
                      <a:pPr algn="l"/>
                      <a:r>
                        <a:rPr sz="900" b="0">
                          <a:solidFill>
                            <a:srgbClr val="111827"/>
                          </a:solidFill>
                          <a:latin typeface="Poppins"/>
                        </a:rPr>
                        <a:t>Technical neglect</a:t>
                      </a:r>
                    </a:p>
                  </a:txBody>
                  <a:tcPr>
                    <a:solidFill>
                      <a:srgbClr val="FFFFFF"/>
                    </a:solidFill>
                  </a:tcPr>
                </a:tc>
              </a:tr>
              <a:tr h="365760">
                <a:tc>
                  <a:txBody>
                    <a:bodyPr anchor="ctr"/>
                    <a:lstStyle/>
                    <a:p>
                      <a:pPr algn="ctr"/>
                      <a:r>
                        <a:rPr sz="900" b="0">
                          <a:solidFill>
                            <a:srgbClr val="111827"/>
                          </a:solidFill>
                          <a:latin typeface="Poppins"/>
                        </a:rPr>
                        <a:t>12</a:t>
                      </a:r>
                    </a:p>
                  </a:txBody>
                  <a:tcPr>
                    <a:solidFill>
                      <a:srgbClr val="F3F5F9"/>
                    </a:solidFill>
                  </a:tcPr>
                </a:tc>
                <a:tc>
                  <a:txBody>
                    <a:bodyPr anchor="ctr"/>
                    <a:lstStyle/>
                    <a:p>
                      <a:pPr algn="l"/>
                      <a:r>
                        <a:rPr sz="900" b="1">
                          <a:solidFill>
                            <a:srgbClr val="1F2A44"/>
                          </a:solidFill>
                          <a:latin typeface="Poppins"/>
                        </a:rPr>
                        <a:t>Roof Strategist</a:t>
                      </a:r>
                    </a:p>
                  </a:txBody>
                  <a:tcPr>
                    <a:solidFill>
                      <a:srgbClr val="F3F5F9"/>
                    </a:solidFill>
                  </a:tcPr>
                </a:tc>
                <a:tc>
                  <a:txBody>
                    <a:bodyPr anchor="ctr"/>
                    <a:lstStyle/>
                    <a:p>
                      <a:pPr algn="ctr"/>
                      <a:r>
                        <a:rPr sz="1100" b="1">
                          <a:solidFill>
                            <a:srgbClr val="FFFFFF"/>
                          </a:solidFill>
                          <a:latin typeface="Poppins"/>
                        </a:rPr>
                        <a:t>35</a:t>
                      </a:r>
                    </a:p>
                  </a:txBody>
                  <a:tcPr>
                    <a:solidFill>
                      <a:srgbClr val="EF4444"/>
                    </a:solidFill>
                  </a:tcPr>
                </a:tc>
                <a:tc>
                  <a:txBody>
                    <a:bodyPr anchor="ctr"/>
                    <a:lstStyle/>
                    <a:p>
                      <a:pPr algn="l"/>
                      <a:r>
                        <a:rPr sz="900" b="0">
                          <a:solidFill>
                            <a:srgbClr val="111827"/>
                          </a:solidFill>
                          <a:latin typeface="Poppins"/>
                        </a:rPr>
                        <a:t>Adam Bensman</a:t>
                      </a:r>
                    </a:p>
                  </a:txBody>
                  <a:tcPr>
                    <a:solidFill>
                      <a:srgbClr val="F3F5F9"/>
                    </a:solidFill>
                  </a:tcPr>
                </a:tc>
                <a:tc>
                  <a:txBody>
                    <a:bodyPr anchor="ctr"/>
                    <a:lstStyle/>
                    <a:p>
                      <a:pPr algn="l"/>
                      <a:r>
                        <a:rPr sz="900" b="0">
                          <a:solidFill>
                            <a:srgbClr val="111827"/>
                          </a:solidFill>
                          <a:latin typeface="Poppins"/>
                        </a:rPr>
                        <a:t>117K YT + 660 pods</a:t>
                      </a:r>
                    </a:p>
                  </a:txBody>
                  <a:tcPr>
                    <a:solidFill>
                      <a:srgbClr val="F3F5F9"/>
                    </a:solidFill>
                  </a:tcPr>
                </a:tc>
                <a:tc>
                  <a:txBody>
                    <a:bodyPr anchor="ctr"/>
                    <a:lstStyle/>
                    <a:p>
                      <a:pPr algn="l"/>
                      <a:r>
                        <a:rPr sz="900" b="0">
                          <a:solidFill>
                            <a:srgbClr val="111827"/>
                          </a:solidFill>
                          <a:latin typeface="Poppins"/>
                        </a:rPr>
                        <a:t>Sitewide noindex,nofollow</a:t>
                      </a:r>
                    </a:p>
                  </a:txBody>
                  <a:tcPr>
                    <a:solidFill>
                      <a:srgbClr val="F3F5F9"/>
                    </a:solidFill>
                  </a:tcPr>
                </a:tc>
                <a:tc>
                  <a:txBody>
                    <a:bodyPr anchor="ctr"/>
                    <a:lstStyle/>
                    <a:p>
                      <a:pPr algn="l"/>
                      <a:r>
                        <a:rPr sz="900" b="0">
                          <a:solidFill>
                            <a:srgbClr val="111827"/>
                          </a:solidFill>
                          <a:latin typeface="Poppins"/>
                        </a:rPr>
                        <a:t>Self-inflicted invisibility</a:t>
                      </a:r>
                    </a:p>
                  </a:txBody>
                  <a:tcPr>
                    <a:solidFill>
                      <a:srgbClr val="F3F5F9"/>
                    </a:solidFill>
                  </a:tcPr>
                </a:tc>
              </a:tr>
            </a:tbl>
          </a:graphicData>
        </a:graphic>
      </p:graphicFrame>
      <p:sp>
        <p:nvSpPr>
          <p:cNvPr id="11" name="Rectangle 10"/>
          <p:cNvSpPr/>
          <p:nvPr/>
        </p:nvSpPr>
        <p:spPr>
          <a:xfrm>
            <a:off x="365760" y="6400800"/>
            <a:ext cx="228600" cy="13716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55080"/>
            <a:ext cx="1828800" cy="228600"/>
          </a:xfrm>
          <a:prstGeom prst="rect">
            <a:avLst/>
          </a:prstGeom>
          <a:noFill/>
        </p:spPr>
        <p:txBody>
          <a:bodyPr wrap="square" lIns="45720" rIns="45720" tIns="18288" bIns="18288" anchor="t">
            <a:spAutoFit/>
          </a:bodyPr>
          <a:lstStyle/>
          <a:p>
            <a:pPr algn="l"/>
            <a:r>
              <a:rPr sz="800" b="1" i="0">
                <a:solidFill>
                  <a:srgbClr val="4A5568"/>
                </a:solidFill>
                <a:latin typeface="Poppins"/>
              </a:rPr>
              <a:t>GEO 70+</a:t>
            </a:r>
          </a:p>
        </p:txBody>
      </p:sp>
      <p:sp>
        <p:nvSpPr>
          <p:cNvPr id="13" name="Rectangle 12"/>
          <p:cNvSpPr/>
          <p:nvPr/>
        </p:nvSpPr>
        <p:spPr>
          <a:xfrm>
            <a:off x="1737360" y="6400800"/>
            <a:ext cx="228600"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0" y="6355080"/>
            <a:ext cx="1828800" cy="228600"/>
          </a:xfrm>
          <a:prstGeom prst="rect">
            <a:avLst/>
          </a:prstGeom>
          <a:noFill/>
        </p:spPr>
        <p:txBody>
          <a:bodyPr wrap="square" lIns="45720" rIns="45720" tIns="18288" bIns="18288" anchor="t">
            <a:spAutoFit/>
          </a:bodyPr>
          <a:lstStyle/>
          <a:p>
            <a:pPr algn="l"/>
            <a:r>
              <a:rPr sz="800" b="1" i="0">
                <a:solidFill>
                  <a:srgbClr val="4A5568"/>
                </a:solidFill>
                <a:latin typeface="Poppins"/>
              </a:rPr>
              <a:t>GEO 55–69</a:t>
            </a:r>
          </a:p>
        </p:txBody>
      </p:sp>
      <p:sp>
        <p:nvSpPr>
          <p:cNvPr id="15" name="Rectangle 14"/>
          <p:cNvSpPr/>
          <p:nvPr/>
        </p:nvSpPr>
        <p:spPr>
          <a:xfrm>
            <a:off x="3200400" y="6400800"/>
            <a:ext cx="228600" cy="13716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6355080"/>
            <a:ext cx="1828800" cy="228600"/>
          </a:xfrm>
          <a:prstGeom prst="rect">
            <a:avLst/>
          </a:prstGeom>
          <a:noFill/>
        </p:spPr>
        <p:txBody>
          <a:bodyPr wrap="square" lIns="45720" rIns="45720" tIns="18288" bIns="18288" anchor="t">
            <a:spAutoFit/>
          </a:bodyPr>
          <a:lstStyle/>
          <a:p>
            <a:pPr algn="l"/>
            <a:r>
              <a:rPr sz="800" b="1" i="0">
                <a:solidFill>
                  <a:srgbClr val="4A5568"/>
                </a:solidFill>
                <a:latin typeface="Poppins"/>
              </a:rPr>
              <a:t>GEO &lt;55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45720" rIns="45720" tIns="18288" bIns="18288" anchor="t">
            <a:spAutoFit/>
          </a:bodyPr>
          <a:lstStyle/>
          <a:p>
            <a:pPr algn="l"/>
            <a:r>
              <a:rPr sz="1000" b="1" i="0">
                <a:solidFill>
                  <a:srgbClr val="00A3E0"/>
                </a:solidFill>
                <a:latin typeface="Poppins"/>
              </a:rPr>
              <a:t>04 · THREE UNIVERSAL PATTERNS</a:t>
            </a:r>
          </a:p>
        </p:txBody>
      </p:sp>
      <p:sp>
        <p:nvSpPr>
          <p:cNvPr id="4" name="TextBox 3"/>
          <p:cNvSpPr txBox="1"/>
          <p:nvPr/>
        </p:nvSpPr>
        <p:spPr>
          <a:xfrm>
            <a:off x="457200" y="594360"/>
            <a:ext cx="11247120" cy="640080"/>
          </a:xfrm>
          <a:prstGeom prst="rect">
            <a:avLst/>
          </a:prstGeom>
          <a:noFill/>
        </p:spPr>
        <p:txBody>
          <a:bodyPr wrap="square" lIns="45720" rIns="45720" tIns="18288" bIns="18288" anchor="t">
            <a:spAutoFit/>
          </a:bodyPr>
          <a:lstStyle/>
          <a:p>
            <a:pPr algn="l"/>
            <a:r>
              <a:rPr sz="2800" b="1" i="0">
                <a:solidFill>
                  <a:srgbClr val="1F2A44"/>
                </a:solidFill>
                <a:latin typeface="Poppins"/>
              </a:rPr>
              <a:t>Every competitor has the same three holes.</a:t>
            </a:r>
          </a:p>
        </p:txBody>
      </p:sp>
      <p:sp>
        <p:nvSpPr>
          <p:cNvPr id="5" name="Rectangle 4"/>
          <p:cNvSpPr/>
          <p:nvPr/>
        </p:nvSpPr>
        <p:spPr>
          <a:xfrm>
            <a:off x="457200" y="1234440"/>
            <a:ext cx="914400" cy="4572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320040"/>
            <a:ext cx="640080" cy="274320"/>
          </a:xfrm>
          <a:prstGeom prst="rect">
            <a:avLst/>
          </a:prstGeom>
          <a:noFill/>
        </p:spPr>
        <p:txBody>
          <a:bodyPr wrap="square" lIns="45720" rIns="45720" tIns="18288" bIns="18288" anchor="t">
            <a:spAutoFit/>
          </a:bodyPr>
          <a:lstStyle/>
          <a:p>
            <a:pPr algn="r"/>
            <a:r>
              <a:rPr sz="900" b="1" i="0">
                <a:solidFill>
                  <a:srgbClr val="4A5568"/>
                </a:solidFill>
                <a:latin typeface="Poppins"/>
              </a:rPr>
              <a:t>5 / 18</a:t>
            </a:r>
          </a:p>
        </p:txBody>
      </p:sp>
      <p:sp>
        <p:nvSpPr>
          <p:cNvPr id="7" name="Rectangle 6"/>
          <p:cNvSpPr/>
          <p:nvPr/>
        </p:nvSpPr>
        <p:spPr>
          <a:xfrm>
            <a:off x="0" y="6720840"/>
            <a:ext cx="12191695" cy="1371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492240"/>
            <a:ext cx="3657600" cy="274320"/>
          </a:xfrm>
          <a:prstGeom prst="rect">
            <a:avLst/>
          </a:prstGeom>
          <a:noFill/>
        </p:spPr>
        <p:txBody>
          <a:bodyPr wrap="square" lIns="45720" rIns="45720" tIns="18288" bIns="18288" anchor="t">
            <a:spAutoFit/>
          </a:bodyPr>
          <a:lstStyle/>
          <a:p>
            <a:pPr algn="l"/>
            <a:r>
              <a:rPr sz="800" b="1" i="0">
                <a:solidFill>
                  <a:srgbClr val="1F2A44"/>
                </a:solidFill>
                <a:latin typeface="Poppins"/>
              </a:rPr>
              <a:t>CLOSECLINIC</a:t>
            </a:r>
          </a:p>
        </p:txBody>
      </p:sp>
      <p:sp>
        <p:nvSpPr>
          <p:cNvPr id="9" name="TextBox 8"/>
          <p:cNvSpPr txBox="1"/>
          <p:nvPr/>
        </p:nvSpPr>
        <p:spPr>
          <a:xfrm>
            <a:off x="6400800" y="6492240"/>
            <a:ext cx="5486400" cy="274320"/>
          </a:xfrm>
          <a:prstGeom prst="rect">
            <a:avLst/>
          </a:prstGeom>
          <a:noFill/>
        </p:spPr>
        <p:txBody>
          <a:bodyPr wrap="square" lIns="45720" rIns="45720" tIns="18288" bIns="18288" anchor="t">
            <a:spAutoFit/>
          </a:bodyPr>
          <a:lstStyle/>
          <a:p>
            <a:pPr algn="r"/>
            <a:r>
              <a:rPr sz="800" b="0" i="0">
                <a:solidFill>
                  <a:srgbClr val="4A5568"/>
                </a:solidFill>
                <a:latin typeface="Poppins"/>
              </a:rPr>
              <a:t>CloseClinic · Launch Plan · 2026-04-21 · p.5</a:t>
            </a:r>
          </a:p>
        </p:txBody>
      </p:sp>
      <p:sp>
        <p:nvSpPr>
          <p:cNvPr id="10" name="Rectangle 9"/>
          <p:cNvSpPr/>
          <p:nvPr/>
        </p:nvSpPr>
        <p:spPr>
          <a:xfrm>
            <a:off x="457200" y="1737360"/>
            <a:ext cx="3749039" cy="448056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3749039" cy="73152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828800"/>
            <a:ext cx="914400" cy="274320"/>
          </a:xfrm>
          <a:prstGeom prst="rect">
            <a:avLst/>
          </a:prstGeom>
          <a:noFill/>
        </p:spPr>
        <p:txBody>
          <a:bodyPr wrap="square" lIns="45720" rIns="45720" tIns="18288" bIns="18288" anchor="t">
            <a:spAutoFit/>
          </a:bodyPr>
          <a:lstStyle/>
          <a:p>
            <a:pPr algn="l"/>
            <a:r>
              <a:rPr sz="1000" b="1" i="0">
                <a:solidFill>
                  <a:srgbClr val="FFFFFF"/>
                </a:solidFill>
                <a:latin typeface="Poppins"/>
              </a:rPr>
              <a:t>01</a:t>
            </a:r>
          </a:p>
        </p:txBody>
      </p:sp>
      <p:sp>
        <p:nvSpPr>
          <p:cNvPr id="13" name="TextBox 12"/>
          <p:cNvSpPr txBox="1"/>
          <p:nvPr/>
        </p:nvSpPr>
        <p:spPr>
          <a:xfrm>
            <a:off x="685800" y="2084832"/>
            <a:ext cx="3291839" cy="365760"/>
          </a:xfrm>
          <a:prstGeom prst="rect">
            <a:avLst/>
          </a:prstGeom>
          <a:noFill/>
        </p:spPr>
        <p:txBody>
          <a:bodyPr wrap="square" lIns="45720" rIns="45720" tIns="18288" bIns="18288" anchor="t">
            <a:spAutoFit/>
          </a:bodyPr>
          <a:lstStyle/>
          <a:p>
            <a:pPr algn="l"/>
            <a:r>
              <a:rPr sz="1800" b="1" i="0">
                <a:solidFill>
                  <a:srgbClr val="FFFFFF"/>
                </a:solidFill>
                <a:latin typeface="Poppins"/>
              </a:rPr>
              <a:t>Zero Wikipedia</a:t>
            </a:r>
          </a:p>
        </p:txBody>
      </p:sp>
      <p:sp>
        <p:nvSpPr>
          <p:cNvPr id="14" name="TextBox 13"/>
          <p:cNvSpPr txBox="1"/>
          <p:nvPr/>
        </p:nvSpPr>
        <p:spPr>
          <a:xfrm>
            <a:off x="731520" y="2651760"/>
            <a:ext cx="3200399" cy="3383280"/>
          </a:xfrm>
          <a:prstGeom prst="rect">
            <a:avLst/>
          </a:prstGeom>
          <a:noFill/>
        </p:spPr>
        <p:txBody>
          <a:bodyPr wrap="square" lIns="45720" rIns="45720" tIns="18288" bIns="18288" anchor="t">
            <a:spAutoFit/>
          </a:bodyPr>
          <a:lstStyle/>
          <a:p>
            <a:pPr algn="l">
              <a:spcAft>
                <a:spcPts val="1000"/>
              </a:spcAft>
            </a:pPr>
            <a:r>
              <a:rPr sz="1600" b="1" i="0">
                <a:solidFill>
                  <a:srgbClr val="1F2A44"/>
                </a:solidFill>
                <a:latin typeface="Poppins"/>
              </a:rPr>
              <a:t>0 of 12 competitors have Wikipedia entities.</a:t>
            </a:r>
          </a:p>
          <a:p>
            <a:pPr algn="l">
              <a:spcAft>
                <a:spcPts val="1400"/>
              </a:spcAft>
            </a:pPr>
            <a:r>
              <a:rPr sz="1100" b="0" i="0">
                <a:solidFill>
                  <a:srgbClr val="4A5568"/>
                </a:solidFill>
                <a:latin typeface="Poppins"/>
              </a:rPr>
              <a:t>LLMs lean on Wikipedia for entity grounding. Every citation, every 'according to' goes somewhere else by default.</a:t>
            </a:r>
          </a:p>
          <a:p>
            <a:pPr algn="l">
              <a:spcAft>
                <a:spcPts val="300"/>
              </a:spcAft>
            </a:pPr>
            <a:r>
              <a:rPr sz="900" b="1" i="0">
                <a:solidFill>
                  <a:srgbClr val="00A3E0"/>
                </a:solidFill>
                <a:latin typeface="Poppins"/>
              </a:rPr>
              <a:t>OUR PLAY</a:t>
            </a:r>
          </a:p>
          <a:p>
            <a:pPr algn="l"/>
            <a:r>
              <a:rPr sz="1100" b="1" i="0">
                <a:solidFill>
                  <a:srgbClr val="111827"/>
                </a:solidFill>
                <a:latin typeface="Poppins"/>
              </a:rPr>
              <a:t>Build the citation basket now. File Wiki stub in Month 6.</a:t>
            </a:r>
          </a:p>
        </p:txBody>
      </p:sp>
      <p:sp>
        <p:nvSpPr>
          <p:cNvPr id="15" name="Rectangle 14"/>
          <p:cNvSpPr/>
          <p:nvPr/>
        </p:nvSpPr>
        <p:spPr>
          <a:xfrm>
            <a:off x="4343399" y="1737360"/>
            <a:ext cx="3749039" cy="448056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399" y="1737360"/>
            <a:ext cx="3749039" cy="7315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1999" y="1828800"/>
            <a:ext cx="914400" cy="274320"/>
          </a:xfrm>
          <a:prstGeom prst="rect">
            <a:avLst/>
          </a:prstGeom>
          <a:noFill/>
        </p:spPr>
        <p:txBody>
          <a:bodyPr wrap="square" lIns="45720" rIns="45720" tIns="18288" bIns="18288" anchor="t">
            <a:spAutoFit/>
          </a:bodyPr>
          <a:lstStyle/>
          <a:p>
            <a:pPr algn="l"/>
            <a:r>
              <a:rPr sz="1000" b="1" i="0">
                <a:solidFill>
                  <a:srgbClr val="FFFFFF"/>
                </a:solidFill>
                <a:latin typeface="Poppins"/>
              </a:rPr>
              <a:t>02</a:t>
            </a:r>
          </a:p>
        </p:txBody>
      </p:sp>
      <p:sp>
        <p:nvSpPr>
          <p:cNvPr id="18" name="TextBox 17"/>
          <p:cNvSpPr txBox="1"/>
          <p:nvPr/>
        </p:nvSpPr>
        <p:spPr>
          <a:xfrm>
            <a:off x="4571999" y="2084832"/>
            <a:ext cx="3291839" cy="365760"/>
          </a:xfrm>
          <a:prstGeom prst="rect">
            <a:avLst/>
          </a:prstGeom>
          <a:noFill/>
        </p:spPr>
        <p:txBody>
          <a:bodyPr wrap="square" lIns="45720" rIns="45720" tIns="18288" bIns="18288" anchor="t">
            <a:spAutoFit/>
          </a:bodyPr>
          <a:lstStyle/>
          <a:p>
            <a:pPr algn="l"/>
            <a:r>
              <a:rPr sz="1800" b="1" i="0">
                <a:solidFill>
                  <a:srgbClr val="FFFFFF"/>
                </a:solidFill>
                <a:latin typeface="Poppins"/>
              </a:rPr>
              <a:t>Schema Malpractice</a:t>
            </a:r>
          </a:p>
        </p:txBody>
      </p:sp>
      <p:sp>
        <p:nvSpPr>
          <p:cNvPr id="19" name="TextBox 18"/>
          <p:cNvSpPr txBox="1"/>
          <p:nvPr/>
        </p:nvSpPr>
        <p:spPr>
          <a:xfrm>
            <a:off x="4617719" y="2651760"/>
            <a:ext cx="3200399" cy="3383280"/>
          </a:xfrm>
          <a:prstGeom prst="rect">
            <a:avLst/>
          </a:prstGeom>
          <a:noFill/>
        </p:spPr>
        <p:txBody>
          <a:bodyPr wrap="square" lIns="45720" rIns="45720" tIns="18288" bIns="18288" anchor="t">
            <a:spAutoFit/>
          </a:bodyPr>
          <a:lstStyle/>
          <a:p>
            <a:pPr algn="l">
              <a:spcAft>
                <a:spcPts val="1000"/>
              </a:spcAft>
            </a:pPr>
            <a:r>
              <a:rPr sz="1600" b="1" i="0">
                <a:solidFill>
                  <a:srgbClr val="1F2A44"/>
                </a:solidFill>
                <a:latin typeface="Poppins"/>
              </a:rPr>
              <a:t>Only 1 of 12 has competent JSON-LD schema.</a:t>
            </a:r>
          </a:p>
          <a:p>
            <a:pPr algn="l">
              <a:spcAft>
                <a:spcPts val="1400"/>
              </a:spcAft>
            </a:pPr>
            <a:r>
              <a:rPr sz="1100" b="0" i="0">
                <a:solidFill>
                  <a:srgbClr val="4A5568"/>
                </a:solidFill>
                <a:latin typeface="Poppins"/>
              </a:rPr>
              <a:t>STG ships a fake 5.0/500 review schema (violation). Roof Strategist runs sitewide noindex. The rest just omit.</a:t>
            </a:r>
          </a:p>
          <a:p>
            <a:pPr algn="l">
              <a:spcAft>
                <a:spcPts val="300"/>
              </a:spcAft>
            </a:pPr>
            <a:r>
              <a:rPr sz="900" b="1" i="0">
                <a:solidFill>
                  <a:srgbClr val="00A3E0"/>
                </a:solidFill>
                <a:latin typeface="Poppins"/>
              </a:rPr>
              <a:t>OUR PLAY</a:t>
            </a:r>
          </a:p>
          <a:p>
            <a:pPr algn="l"/>
            <a:r>
              <a:rPr sz="1100" b="1" i="0">
                <a:solidFill>
                  <a:srgbClr val="111827"/>
                </a:solidFill>
                <a:latin typeface="Poppins"/>
              </a:rPr>
              <a:t>Ship Organization + Course + FAQPage + Service schema Day 10.</a:t>
            </a:r>
          </a:p>
        </p:txBody>
      </p:sp>
      <p:sp>
        <p:nvSpPr>
          <p:cNvPr id="20" name="Rectangle 19"/>
          <p:cNvSpPr/>
          <p:nvPr/>
        </p:nvSpPr>
        <p:spPr>
          <a:xfrm>
            <a:off x="8229598" y="1737360"/>
            <a:ext cx="3749039" cy="448056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598" y="1737360"/>
            <a:ext cx="3749039" cy="73152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58198" y="1828800"/>
            <a:ext cx="914400" cy="274320"/>
          </a:xfrm>
          <a:prstGeom prst="rect">
            <a:avLst/>
          </a:prstGeom>
          <a:noFill/>
        </p:spPr>
        <p:txBody>
          <a:bodyPr wrap="square" lIns="45720" rIns="45720" tIns="18288" bIns="18288" anchor="t">
            <a:spAutoFit/>
          </a:bodyPr>
          <a:lstStyle/>
          <a:p>
            <a:pPr algn="l"/>
            <a:r>
              <a:rPr sz="1000" b="1" i="0">
                <a:solidFill>
                  <a:srgbClr val="FFFFFF"/>
                </a:solidFill>
                <a:latin typeface="Poppins"/>
              </a:rPr>
              <a:t>03</a:t>
            </a:r>
          </a:p>
        </p:txBody>
      </p:sp>
      <p:sp>
        <p:nvSpPr>
          <p:cNvPr id="23" name="TextBox 22"/>
          <p:cNvSpPr txBox="1"/>
          <p:nvPr/>
        </p:nvSpPr>
        <p:spPr>
          <a:xfrm>
            <a:off x="8458198" y="2084832"/>
            <a:ext cx="3291839" cy="365760"/>
          </a:xfrm>
          <a:prstGeom prst="rect">
            <a:avLst/>
          </a:prstGeom>
          <a:noFill/>
        </p:spPr>
        <p:txBody>
          <a:bodyPr wrap="square" lIns="45720" rIns="45720" tIns="18288" bIns="18288" anchor="t">
            <a:spAutoFit/>
          </a:bodyPr>
          <a:lstStyle/>
          <a:p>
            <a:pPr algn="l"/>
            <a:r>
              <a:rPr sz="1800" b="1" i="0">
                <a:solidFill>
                  <a:srgbClr val="FFFFFF"/>
                </a:solidFill>
                <a:latin typeface="Poppins"/>
              </a:rPr>
              <a:t>Pricing Opacity</a:t>
            </a:r>
          </a:p>
        </p:txBody>
      </p:sp>
      <p:sp>
        <p:nvSpPr>
          <p:cNvPr id="24" name="TextBox 23"/>
          <p:cNvSpPr txBox="1"/>
          <p:nvPr/>
        </p:nvSpPr>
        <p:spPr>
          <a:xfrm>
            <a:off x="8503918" y="2651760"/>
            <a:ext cx="3200399" cy="3383280"/>
          </a:xfrm>
          <a:prstGeom prst="rect">
            <a:avLst/>
          </a:prstGeom>
          <a:noFill/>
        </p:spPr>
        <p:txBody>
          <a:bodyPr wrap="square" lIns="45720" rIns="45720" tIns="18288" bIns="18288" anchor="t">
            <a:spAutoFit/>
          </a:bodyPr>
          <a:lstStyle/>
          <a:p>
            <a:pPr algn="l">
              <a:spcAft>
                <a:spcPts val="1000"/>
              </a:spcAft>
            </a:pPr>
            <a:r>
              <a:rPr sz="1600" b="1" i="0">
                <a:solidFill>
                  <a:srgbClr val="1F2A44"/>
                </a:solidFill>
                <a:latin typeface="Poppins"/>
              </a:rPr>
              <a:t>Only 2 of 12 publish pricing publicly.</a:t>
            </a:r>
          </a:p>
          <a:p>
            <a:pPr algn="l">
              <a:spcAft>
                <a:spcPts val="1400"/>
              </a:spcAft>
            </a:pPr>
            <a:r>
              <a:rPr sz="1100" b="0" i="0">
                <a:solidFill>
                  <a:srgbClr val="4A5568"/>
                </a:solidFill>
                <a:latin typeface="Poppins"/>
              </a:rPr>
              <a:t>Contractors hate gatekept pricing. Transparency is a differentiation weapon — and a lead-qualification filter.</a:t>
            </a:r>
          </a:p>
          <a:p>
            <a:pPr algn="l">
              <a:spcAft>
                <a:spcPts val="300"/>
              </a:spcAft>
            </a:pPr>
            <a:r>
              <a:rPr sz="900" b="1" i="0">
                <a:solidFill>
                  <a:srgbClr val="00A3E0"/>
                </a:solidFill>
                <a:latin typeface="Poppins"/>
              </a:rPr>
              <a:t>OUR PLAY</a:t>
            </a:r>
          </a:p>
          <a:p>
            <a:pPr algn="l"/>
            <a:r>
              <a:rPr sz="1100" b="1" i="0">
                <a:solidFill>
                  <a:srgbClr val="111827"/>
                </a:solidFill>
                <a:latin typeface="Poppins"/>
              </a:rPr>
              <a:t>Publish $1,497 / $4,997 / $14,997 above the fold on /pricing.</a:t>
            </a:r>
          </a:p>
        </p:txBody>
      </p:sp>
      <p:sp>
        <p:nvSpPr>
          <p:cNvPr id="25" name="Rectangle 24"/>
          <p:cNvSpPr/>
          <p:nvPr/>
        </p:nvSpPr>
        <p:spPr>
          <a:xfrm>
            <a:off x="457200" y="6355080"/>
            <a:ext cx="11247120" cy="32004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364224"/>
            <a:ext cx="10972800" cy="320040"/>
          </a:xfrm>
          <a:prstGeom prst="rect">
            <a:avLst/>
          </a:prstGeom>
          <a:noFill/>
        </p:spPr>
        <p:txBody>
          <a:bodyPr wrap="square" lIns="45720" rIns="45720" tIns="18288" bIns="18288" anchor="ctr">
            <a:spAutoFit/>
          </a:bodyPr>
          <a:lstStyle/>
          <a:p>
            <a:pPr algn="l"/>
            <a:r>
              <a:rPr sz="1100" b="1" i="1">
                <a:solidFill>
                  <a:srgbClr val="FFFFFF"/>
                </a:solidFill>
                <a:latin typeface="Poppins"/>
              </a:rPr>
              <a:t>All three are fixable in Week 1–2. First-mover prize is technical + temporal, not budgetary.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45720" rIns="45720" tIns="18288" bIns="18288" anchor="t">
            <a:spAutoFit/>
          </a:bodyPr>
          <a:lstStyle/>
          <a:p>
            <a:pPr algn="l"/>
            <a:r>
              <a:rPr sz="1000" b="1" i="0">
                <a:solidFill>
                  <a:srgbClr val="00A3E0"/>
                </a:solidFill>
                <a:latin typeface="Poppins"/>
              </a:rPr>
              <a:t>05 · THE WHITE SPACE</a:t>
            </a:r>
          </a:p>
        </p:txBody>
      </p:sp>
      <p:sp>
        <p:nvSpPr>
          <p:cNvPr id="4" name="TextBox 3"/>
          <p:cNvSpPr txBox="1"/>
          <p:nvPr/>
        </p:nvSpPr>
        <p:spPr>
          <a:xfrm>
            <a:off x="457200" y="594360"/>
            <a:ext cx="11247120" cy="640080"/>
          </a:xfrm>
          <a:prstGeom prst="rect">
            <a:avLst/>
          </a:prstGeom>
          <a:noFill/>
        </p:spPr>
        <p:txBody>
          <a:bodyPr wrap="square" lIns="45720" rIns="45720" tIns="18288" bIns="18288" anchor="t">
            <a:spAutoFit/>
          </a:bodyPr>
          <a:lstStyle/>
          <a:p>
            <a:pPr algn="l"/>
            <a:r>
              <a:rPr sz="2800" b="1" i="0">
                <a:solidFill>
                  <a:srgbClr val="1F2A44"/>
                </a:solidFill>
                <a:latin typeface="Poppins"/>
              </a:rPr>
              <a:t>6 lanes are closed. 3 are wide open.</a:t>
            </a:r>
          </a:p>
        </p:txBody>
      </p:sp>
      <p:sp>
        <p:nvSpPr>
          <p:cNvPr id="5" name="Rectangle 4"/>
          <p:cNvSpPr/>
          <p:nvPr/>
        </p:nvSpPr>
        <p:spPr>
          <a:xfrm>
            <a:off x="457200" y="1234440"/>
            <a:ext cx="914400" cy="4572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320040"/>
            <a:ext cx="640080" cy="274320"/>
          </a:xfrm>
          <a:prstGeom prst="rect">
            <a:avLst/>
          </a:prstGeom>
          <a:noFill/>
        </p:spPr>
        <p:txBody>
          <a:bodyPr wrap="square" lIns="45720" rIns="45720" tIns="18288" bIns="18288" anchor="t">
            <a:spAutoFit/>
          </a:bodyPr>
          <a:lstStyle/>
          <a:p>
            <a:pPr algn="r"/>
            <a:r>
              <a:rPr sz="900" b="1" i="0">
                <a:solidFill>
                  <a:srgbClr val="4A5568"/>
                </a:solidFill>
                <a:latin typeface="Poppins"/>
              </a:rPr>
              <a:t>6 / 18</a:t>
            </a:r>
          </a:p>
        </p:txBody>
      </p:sp>
      <p:sp>
        <p:nvSpPr>
          <p:cNvPr id="7" name="Rectangle 6"/>
          <p:cNvSpPr/>
          <p:nvPr/>
        </p:nvSpPr>
        <p:spPr>
          <a:xfrm>
            <a:off x="0" y="6720840"/>
            <a:ext cx="12191695" cy="1371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492240"/>
            <a:ext cx="3657600" cy="274320"/>
          </a:xfrm>
          <a:prstGeom prst="rect">
            <a:avLst/>
          </a:prstGeom>
          <a:noFill/>
        </p:spPr>
        <p:txBody>
          <a:bodyPr wrap="square" lIns="45720" rIns="45720" tIns="18288" bIns="18288" anchor="t">
            <a:spAutoFit/>
          </a:bodyPr>
          <a:lstStyle/>
          <a:p>
            <a:pPr algn="l"/>
            <a:r>
              <a:rPr sz="800" b="1" i="0">
                <a:solidFill>
                  <a:srgbClr val="1F2A44"/>
                </a:solidFill>
                <a:latin typeface="Poppins"/>
              </a:rPr>
              <a:t>CLOSECLINIC</a:t>
            </a:r>
          </a:p>
        </p:txBody>
      </p:sp>
      <p:sp>
        <p:nvSpPr>
          <p:cNvPr id="9" name="TextBox 8"/>
          <p:cNvSpPr txBox="1"/>
          <p:nvPr/>
        </p:nvSpPr>
        <p:spPr>
          <a:xfrm>
            <a:off x="6400800" y="6492240"/>
            <a:ext cx="5486400" cy="274320"/>
          </a:xfrm>
          <a:prstGeom prst="rect">
            <a:avLst/>
          </a:prstGeom>
          <a:noFill/>
        </p:spPr>
        <p:txBody>
          <a:bodyPr wrap="square" lIns="45720" rIns="45720" tIns="18288" bIns="18288" anchor="t">
            <a:spAutoFit/>
          </a:bodyPr>
          <a:lstStyle/>
          <a:p>
            <a:pPr algn="r"/>
            <a:r>
              <a:rPr sz="800" b="0" i="0">
                <a:solidFill>
                  <a:srgbClr val="4A5568"/>
                </a:solidFill>
                <a:latin typeface="Poppins"/>
              </a:rPr>
              <a:t>CloseClinic · Launch Plan · 2026-04-21 · p.6</a:t>
            </a:r>
          </a:p>
        </p:txBody>
      </p:sp>
      <p:sp>
        <p:nvSpPr>
          <p:cNvPr id="10" name="TextBox 9"/>
          <p:cNvSpPr txBox="1"/>
          <p:nvPr/>
        </p:nvSpPr>
        <p:spPr>
          <a:xfrm>
            <a:off x="457200" y="1508760"/>
            <a:ext cx="5486400" cy="274320"/>
          </a:xfrm>
          <a:prstGeom prst="rect">
            <a:avLst/>
          </a:prstGeom>
          <a:noFill/>
        </p:spPr>
        <p:txBody>
          <a:bodyPr wrap="square" lIns="45720" rIns="45720" tIns="18288" bIns="18288" anchor="t">
            <a:spAutoFit/>
          </a:bodyPr>
          <a:lstStyle/>
          <a:p>
            <a:pPr algn="l"/>
            <a:r>
              <a:rPr sz="1000" b="1" i="0">
                <a:solidFill>
                  <a:srgbClr val="4A5568"/>
                </a:solidFill>
                <a:latin typeface="Poppins"/>
              </a:rPr>
              <a:t>CLOSED TERRITORIES</a:t>
            </a:r>
          </a:p>
        </p:txBody>
      </p:sp>
      <p:sp>
        <p:nvSpPr>
          <p:cNvPr id="11" name="TextBox 10"/>
          <p:cNvSpPr txBox="1"/>
          <p:nvPr/>
        </p:nvSpPr>
        <p:spPr>
          <a:xfrm>
            <a:off x="6400800" y="1508760"/>
            <a:ext cx="5486400" cy="274320"/>
          </a:xfrm>
          <a:prstGeom prst="rect">
            <a:avLst/>
          </a:prstGeom>
          <a:noFill/>
        </p:spPr>
        <p:txBody>
          <a:bodyPr wrap="square" lIns="45720" rIns="45720" tIns="18288" bIns="18288" anchor="t">
            <a:spAutoFit/>
          </a:bodyPr>
          <a:lstStyle/>
          <a:p>
            <a:pPr algn="l"/>
            <a:r>
              <a:rPr sz="1000" b="1" i="0">
                <a:solidFill>
                  <a:srgbClr val="00A3E0"/>
                </a:solidFill>
                <a:latin typeface="Poppins"/>
              </a:rPr>
              <a:t>OPEN TERRITORIES  (OUR LANES)</a:t>
            </a:r>
          </a:p>
        </p:txBody>
      </p:sp>
      <p:sp>
        <p:nvSpPr>
          <p:cNvPr id="12" name="Rectangle 11"/>
          <p:cNvSpPr/>
          <p:nvPr/>
        </p:nvSpPr>
        <p:spPr>
          <a:xfrm>
            <a:off x="457200" y="1828800"/>
            <a:ext cx="5760720" cy="5029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1828800"/>
            <a:ext cx="73152" cy="502920"/>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56231"/>
            <a:ext cx="3840480" cy="256032"/>
          </a:xfrm>
          <a:prstGeom prst="rect">
            <a:avLst/>
          </a:prstGeom>
          <a:noFill/>
        </p:spPr>
        <p:txBody>
          <a:bodyPr wrap="square" lIns="45720" rIns="45720" tIns="18288" bIns="18288" anchor="t">
            <a:spAutoFit/>
          </a:bodyPr>
          <a:lstStyle/>
          <a:p>
            <a:pPr algn="l"/>
            <a:r>
              <a:rPr sz="1200" b="1" i="0">
                <a:solidFill>
                  <a:srgbClr val="1F2A44"/>
                </a:solidFill>
                <a:latin typeface="Poppins"/>
              </a:rPr>
              <a:t>Mindset / Community</a:t>
            </a:r>
          </a:p>
        </p:txBody>
      </p:sp>
      <p:sp>
        <p:nvSpPr>
          <p:cNvPr id="15" name="TextBox 14"/>
          <p:cNvSpPr txBox="1"/>
          <p:nvPr/>
        </p:nvSpPr>
        <p:spPr>
          <a:xfrm>
            <a:off x="685800" y="2084832"/>
            <a:ext cx="3840480" cy="228600"/>
          </a:xfrm>
          <a:prstGeom prst="rect">
            <a:avLst/>
          </a:prstGeom>
          <a:noFill/>
        </p:spPr>
        <p:txBody>
          <a:bodyPr wrap="square" lIns="45720" rIns="45720" tIns="18288" bIns="18288" anchor="t">
            <a:spAutoFit/>
          </a:bodyPr>
          <a:lstStyle/>
          <a:p>
            <a:pPr algn="l"/>
            <a:r>
              <a:rPr sz="900" b="0" i="1">
                <a:solidFill>
                  <a:srgbClr val="4A5568"/>
                </a:solidFill>
                <a:latin typeface="Poppins"/>
              </a:rPr>
              <a:t>Owned by TCF</a:t>
            </a:r>
          </a:p>
        </p:txBody>
      </p:sp>
      <p:sp>
        <p:nvSpPr>
          <p:cNvPr id="16" name="TextBox 15"/>
          <p:cNvSpPr txBox="1"/>
          <p:nvPr/>
        </p:nvSpPr>
        <p:spPr>
          <a:xfrm>
            <a:off x="5669280" y="1938528"/>
            <a:ext cx="457200" cy="274320"/>
          </a:xfrm>
          <a:prstGeom prst="rect">
            <a:avLst/>
          </a:prstGeom>
          <a:noFill/>
        </p:spPr>
        <p:txBody>
          <a:bodyPr wrap="square" lIns="45720" rIns="45720" tIns="18288" bIns="18288" anchor="t">
            <a:spAutoFit/>
          </a:bodyPr>
          <a:lstStyle/>
          <a:p>
            <a:pPr algn="ctr"/>
            <a:r>
              <a:rPr sz="1600" b="1" i="0">
                <a:solidFill>
                  <a:srgbClr val="EF4444"/>
                </a:solidFill>
                <a:latin typeface="Poppins"/>
              </a:rPr>
              <a:t>✕</a:t>
            </a:r>
          </a:p>
        </p:txBody>
      </p:sp>
      <p:sp>
        <p:nvSpPr>
          <p:cNvPr id="17" name="Rectangle 16"/>
          <p:cNvSpPr/>
          <p:nvPr/>
        </p:nvSpPr>
        <p:spPr>
          <a:xfrm>
            <a:off x="457200" y="2468880"/>
            <a:ext cx="5760720" cy="5029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2468880"/>
            <a:ext cx="73152" cy="502920"/>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496312"/>
            <a:ext cx="3840480" cy="256032"/>
          </a:xfrm>
          <a:prstGeom prst="rect">
            <a:avLst/>
          </a:prstGeom>
          <a:noFill/>
        </p:spPr>
        <p:txBody>
          <a:bodyPr wrap="square" lIns="45720" rIns="45720" tIns="18288" bIns="18288" anchor="t">
            <a:spAutoFit/>
          </a:bodyPr>
          <a:lstStyle/>
          <a:p>
            <a:pPr algn="l"/>
            <a:r>
              <a:rPr sz="1200" b="1" i="0">
                <a:solidFill>
                  <a:srgbClr val="1F2A44"/>
                </a:solidFill>
                <a:latin typeface="Poppins"/>
              </a:rPr>
              <a:t>YouTube education</a:t>
            </a:r>
          </a:p>
        </p:txBody>
      </p:sp>
      <p:sp>
        <p:nvSpPr>
          <p:cNvPr id="20" name="TextBox 19"/>
          <p:cNvSpPr txBox="1"/>
          <p:nvPr/>
        </p:nvSpPr>
        <p:spPr>
          <a:xfrm>
            <a:off x="685800" y="2724912"/>
            <a:ext cx="3840480" cy="228600"/>
          </a:xfrm>
          <a:prstGeom prst="rect">
            <a:avLst/>
          </a:prstGeom>
          <a:noFill/>
        </p:spPr>
        <p:txBody>
          <a:bodyPr wrap="square" lIns="45720" rIns="45720" tIns="18288" bIns="18288" anchor="t">
            <a:spAutoFit/>
          </a:bodyPr>
          <a:lstStyle/>
          <a:p>
            <a:pPr algn="l"/>
            <a:r>
              <a:rPr sz="900" b="0" i="1">
                <a:solidFill>
                  <a:srgbClr val="4A5568"/>
                </a:solidFill>
                <a:latin typeface="Poppins"/>
              </a:rPr>
              <a:t>Owned by Roofing Insights, Hook</a:t>
            </a:r>
          </a:p>
        </p:txBody>
      </p:sp>
      <p:sp>
        <p:nvSpPr>
          <p:cNvPr id="21" name="TextBox 20"/>
          <p:cNvSpPr txBox="1"/>
          <p:nvPr/>
        </p:nvSpPr>
        <p:spPr>
          <a:xfrm>
            <a:off x="5669280" y="2578608"/>
            <a:ext cx="457200" cy="274320"/>
          </a:xfrm>
          <a:prstGeom prst="rect">
            <a:avLst/>
          </a:prstGeom>
          <a:noFill/>
        </p:spPr>
        <p:txBody>
          <a:bodyPr wrap="square" lIns="45720" rIns="45720" tIns="18288" bIns="18288" anchor="t">
            <a:spAutoFit/>
          </a:bodyPr>
          <a:lstStyle/>
          <a:p>
            <a:pPr algn="ctr"/>
            <a:r>
              <a:rPr sz="1600" b="1" i="0">
                <a:solidFill>
                  <a:srgbClr val="EF4444"/>
                </a:solidFill>
                <a:latin typeface="Poppins"/>
              </a:rPr>
              <a:t>✕</a:t>
            </a:r>
          </a:p>
        </p:txBody>
      </p:sp>
      <p:sp>
        <p:nvSpPr>
          <p:cNvPr id="22" name="Rectangle 21"/>
          <p:cNvSpPr/>
          <p:nvPr/>
        </p:nvSpPr>
        <p:spPr>
          <a:xfrm>
            <a:off x="457200" y="3108960"/>
            <a:ext cx="5760720" cy="5029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3108960"/>
            <a:ext cx="73152" cy="502920"/>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136392"/>
            <a:ext cx="3840480" cy="256032"/>
          </a:xfrm>
          <a:prstGeom prst="rect">
            <a:avLst/>
          </a:prstGeom>
          <a:noFill/>
        </p:spPr>
        <p:txBody>
          <a:bodyPr wrap="square" lIns="45720" rIns="45720" tIns="18288" bIns="18288" anchor="t">
            <a:spAutoFit/>
          </a:bodyPr>
          <a:lstStyle/>
          <a:p>
            <a:pPr algn="l"/>
            <a:r>
              <a:rPr sz="1200" b="1" i="0">
                <a:solidFill>
                  <a:srgbClr val="1F2A44"/>
                </a:solidFill>
                <a:latin typeface="Poppins"/>
              </a:rPr>
              <a:t>D2D sales</a:t>
            </a:r>
          </a:p>
        </p:txBody>
      </p:sp>
      <p:sp>
        <p:nvSpPr>
          <p:cNvPr id="25" name="TextBox 24"/>
          <p:cNvSpPr txBox="1"/>
          <p:nvPr/>
        </p:nvSpPr>
        <p:spPr>
          <a:xfrm>
            <a:off x="685800" y="3364992"/>
            <a:ext cx="3840480" cy="228600"/>
          </a:xfrm>
          <a:prstGeom prst="rect">
            <a:avLst/>
          </a:prstGeom>
          <a:noFill/>
        </p:spPr>
        <p:txBody>
          <a:bodyPr wrap="square" lIns="45720" rIns="45720" tIns="18288" bIns="18288" anchor="t">
            <a:spAutoFit/>
          </a:bodyPr>
          <a:lstStyle/>
          <a:p>
            <a:pPr algn="l"/>
            <a:r>
              <a:rPr sz="900" b="0" i="1">
                <a:solidFill>
                  <a:srgbClr val="4A5568"/>
                </a:solidFill>
                <a:latin typeface="Poppins"/>
              </a:rPr>
              <a:t>Owned by D2D Experts</a:t>
            </a:r>
          </a:p>
        </p:txBody>
      </p:sp>
      <p:sp>
        <p:nvSpPr>
          <p:cNvPr id="26" name="TextBox 25"/>
          <p:cNvSpPr txBox="1"/>
          <p:nvPr/>
        </p:nvSpPr>
        <p:spPr>
          <a:xfrm>
            <a:off x="5669280" y="3218688"/>
            <a:ext cx="457200" cy="274320"/>
          </a:xfrm>
          <a:prstGeom prst="rect">
            <a:avLst/>
          </a:prstGeom>
          <a:noFill/>
        </p:spPr>
        <p:txBody>
          <a:bodyPr wrap="square" lIns="45720" rIns="45720" tIns="18288" bIns="18288" anchor="t">
            <a:spAutoFit/>
          </a:bodyPr>
          <a:lstStyle/>
          <a:p>
            <a:pPr algn="ctr"/>
            <a:r>
              <a:rPr sz="1600" b="1" i="0">
                <a:solidFill>
                  <a:srgbClr val="EF4444"/>
                </a:solidFill>
                <a:latin typeface="Poppins"/>
              </a:rPr>
              <a:t>✕</a:t>
            </a:r>
          </a:p>
        </p:txBody>
      </p:sp>
      <p:sp>
        <p:nvSpPr>
          <p:cNvPr id="27" name="Rectangle 26"/>
          <p:cNvSpPr/>
          <p:nvPr/>
        </p:nvSpPr>
        <p:spPr>
          <a:xfrm>
            <a:off x="457200" y="3749040"/>
            <a:ext cx="5760720" cy="5029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3749040"/>
            <a:ext cx="73152" cy="502920"/>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3776472"/>
            <a:ext cx="3840480" cy="256032"/>
          </a:xfrm>
          <a:prstGeom prst="rect">
            <a:avLst/>
          </a:prstGeom>
          <a:noFill/>
        </p:spPr>
        <p:txBody>
          <a:bodyPr wrap="square" lIns="45720" rIns="45720" tIns="18288" bIns="18288" anchor="t">
            <a:spAutoFit/>
          </a:bodyPr>
          <a:lstStyle/>
          <a:p>
            <a:pPr algn="l"/>
            <a:r>
              <a:rPr sz="1200" b="1" i="0">
                <a:solidFill>
                  <a:srgbClr val="1F2A44"/>
                </a:solidFill>
                <a:latin typeface="Poppins"/>
              </a:rPr>
              <a:t>Business systems</a:t>
            </a:r>
          </a:p>
        </p:txBody>
      </p:sp>
      <p:sp>
        <p:nvSpPr>
          <p:cNvPr id="30" name="TextBox 29"/>
          <p:cNvSpPr txBox="1"/>
          <p:nvPr/>
        </p:nvSpPr>
        <p:spPr>
          <a:xfrm>
            <a:off x="685800" y="4005072"/>
            <a:ext cx="3840480" cy="228600"/>
          </a:xfrm>
          <a:prstGeom prst="rect">
            <a:avLst/>
          </a:prstGeom>
          <a:noFill/>
        </p:spPr>
        <p:txBody>
          <a:bodyPr wrap="square" lIns="45720" rIns="45720" tIns="18288" bIns="18288" anchor="t">
            <a:spAutoFit/>
          </a:bodyPr>
          <a:lstStyle/>
          <a:p>
            <a:pPr algn="l"/>
            <a:r>
              <a:rPr sz="900" b="0" i="1">
                <a:solidFill>
                  <a:srgbClr val="4A5568"/>
                </a:solidFill>
                <a:latin typeface="Poppins"/>
              </a:rPr>
              <a:t>Owned by BTA</a:t>
            </a:r>
          </a:p>
        </p:txBody>
      </p:sp>
      <p:sp>
        <p:nvSpPr>
          <p:cNvPr id="31" name="TextBox 30"/>
          <p:cNvSpPr txBox="1"/>
          <p:nvPr/>
        </p:nvSpPr>
        <p:spPr>
          <a:xfrm>
            <a:off x="5669280" y="3858768"/>
            <a:ext cx="457200" cy="274320"/>
          </a:xfrm>
          <a:prstGeom prst="rect">
            <a:avLst/>
          </a:prstGeom>
          <a:noFill/>
        </p:spPr>
        <p:txBody>
          <a:bodyPr wrap="square" lIns="45720" rIns="45720" tIns="18288" bIns="18288" anchor="t">
            <a:spAutoFit/>
          </a:bodyPr>
          <a:lstStyle/>
          <a:p>
            <a:pPr algn="ctr"/>
            <a:r>
              <a:rPr sz="1600" b="1" i="0">
                <a:solidFill>
                  <a:srgbClr val="EF4444"/>
                </a:solidFill>
                <a:latin typeface="Poppins"/>
              </a:rPr>
              <a:t>✕</a:t>
            </a:r>
          </a:p>
        </p:txBody>
      </p:sp>
      <p:sp>
        <p:nvSpPr>
          <p:cNvPr id="32" name="Rectangle 31"/>
          <p:cNvSpPr/>
          <p:nvPr/>
        </p:nvSpPr>
        <p:spPr>
          <a:xfrm>
            <a:off x="457200" y="4389120"/>
            <a:ext cx="5760720" cy="5029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4389120"/>
            <a:ext cx="73152" cy="502920"/>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416552"/>
            <a:ext cx="3840480" cy="256032"/>
          </a:xfrm>
          <a:prstGeom prst="rect">
            <a:avLst/>
          </a:prstGeom>
          <a:noFill/>
        </p:spPr>
        <p:txBody>
          <a:bodyPr wrap="square" lIns="45720" rIns="45720" tIns="18288" bIns="18288" anchor="t">
            <a:spAutoFit/>
          </a:bodyPr>
          <a:lstStyle/>
          <a:p>
            <a:pPr algn="l"/>
            <a:r>
              <a:rPr sz="1200" b="1" i="0">
                <a:solidFill>
                  <a:srgbClr val="1F2A44"/>
                </a:solidFill>
                <a:latin typeface="Poppins"/>
              </a:rPr>
              <a:t>Marketing / Lead gen</a:t>
            </a:r>
          </a:p>
        </p:txBody>
      </p:sp>
      <p:sp>
        <p:nvSpPr>
          <p:cNvPr id="35" name="TextBox 34"/>
          <p:cNvSpPr txBox="1"/>
          <p:nvPr/>
        </p:nvSpPr>
        <p:spPr>
          <a:xfrm>
            <a:off x="685800" y="4645152"/>
            <a:ext cx="3840480" cy="228600"/>
          </a:xfrm>
          <a:prstGeom prst="rect">
            <a:avLst/>
          </a:prstGeom>
          <a:noFill/>
        </p:spPr>
        <p:txBody>
          <a:bodyPr wrap="square" lIns="45720" rIns="45720" tIns="18288" bIns="18288" anchor="t">
            <a:spAutoFit/>
          </a:bodyPr>
          <a:lstStyle/>
          <a:p>
            <a:pPr algn="l"/>
            <a:r>
              <a:rPr sz="900" b="0" i="1">
                <a:solidFill>
                  <a:srgbClr val="4A5568"/>
                </a:solidFill>
                <a:latin typeface="Poppins"/>
              </a:rPr>
              <a:t>Owned by Hook Agency</a:t>
            </a:r>
          </a:p>
        </p:txBody>
      </p:sp>
      <p:sp>
        <p:nvSpPr>
          <p:cNvPr id="36" name="TextBox 35"/>
          <p:cNvSpPr txBox="1"/>
          <p:nvPr/>
        </p:nvSpPr>
        <p:spPr>
          <a:xfrm>
            <a:off x="5669280" y="4498848"/>
            <a:ext cx="457200" cy="274320"/>
          </a:xfrm>
          <a:prstGeom prst="rect">
            <a:avLst/>
          </a:prstGeom>
          <a:noFill/>
        </p:spPr>
        <p:txBody>
          <a:bodyPr wrap="square" lIns="45720" rIns="45720" tIns="18288" bIns="18288" anchor="t">
            <a:spAutoFit/>
          </a:bodyPr>
          <a:lstStyle/>
          <a:p>
            <a:pPr algn="ctr"/>
            <a:r>
              <a:rPr sz="1600" b="1" i="0">
                <a:solidFill>
                  <a:srgbClr val="EF4444"/>
                </a:solidFill>
                <a:latin typeface="Poppins"/>
              </a:rPr>
              <a:t>✕</a:t>
            </a:r>
          </a:p>
        </p:txBody>
      </p:sp>
      <p:sp>
        <p:nvSpPr>
          <p:cNvPr id="37" name="Rectangle 36"/>
          <p:cNvSpPr/>
          <p:nvPr/>
        </p:nvSpPr>
        <p:spPr>
          <a:xfrm>
            <a:off x="457200" y="5029200"/>
            <a:ext cx="5760720" cy="5029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57200" y="5029200"/>
            <a:ext cx="73152" cy="502920"/>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5056632"/>
            <a:ext cx="3840480" cy="256032"/>
          </a:xfrm>
          <a:prstGeom prst="rect">
            <a:avLst/>
          </a:prstGeom>
          <a:noFill/>
        </p:spPr>
        <p:txBody>
          <a:bodyPr wrap="square" lIns="45720" rIns="45720" tIns="18288" bIns="18288" anchor="t">
            <a:spAutoFit/>
          </a:bodyPr>
          <a:lstStyle/>
          <a:p>
            <a:pPr algn="l"/>
            <a:r>
              <a:rPr sz="1200" b="1" i="0">
                <a:solidFill>
                  <a:srgbClr val="1F2A44"/>
                </a:solidFill>
                <a:latin typeface="Poppins"/>
              </a:rPr>
              <a:t>Elite sales authority</a:t>
            </a:r>
          </a:p>
        </p:txBody>
      </p:sp>
      <p:sp>
        <p:nvSpPr>
          <p:cNvPr id="40" name="TextBox 39"/>
          <p:cNvSpPr txBox="1"/>
          <p:nvPr/>
        </p:nvSpPr>
        <p:spPr>
          <a:xfrm>
            <a:off x="685800" y="5285232"/>
            <a:ext cx="3840480" cy="228600"/>
          </a:xfrm>
          <a:prstGeom prst="rect">
            <a:avLst/>
          </a:prstGeom>
          <a:noFill/>
        </p:spPr>
        <p:txBody>
          <a:bodyPr wrap="square" lIns="45720" rIns="45720" tIns="18288" bIns="18288" anchor="t">
            <a:spAutoFit/>
          </a:bodyPr>
          <a:lstStyle/>
          <a:p>
            <a:pPr algn="l"/>
            <a:r>
              <a:rPr sz="900" b="0" i="1">
                <a:solidFill>
                  <a:srgbClr val="4A5568"/>
                </a:solidFill>
                <a:latin typeface="Poppins"/>
              </a:rPr>
              <a:t>Owned by FPG</a:t>
            </a:r>
          </a:p>
        </p:txBody>
      </p:sp>
      <p:sp>
        <p:nvSpPr>
          <p:cNvPr id="41" name="TextBox 40"/>
          <p:cNvSpPr txBox="1"/>
          <p:nvPr/>
        </p:nvSpPr>
        <p:spPr>
          <a:xfrm>
            <a:off x="5669280" y="5138928"/>
            <a:ext cx="457200" cy="274320"/>
          </a:xfrm>
          <a:prstGeom prst="rect">
            <a:avLst/>
          </a:prstGeom>
          <a:noFill/>
        </p:spPr>
        <p:txBody>
          <a:bodyPr wrap="square" lIns="45720" rIns="45720" tIns="18288" bIns="18288" anchor="t">
            <a:spAutoFit/>
          </a:bodyPr>
          <a:lstStyle/>
          <a:p>
            <a:pPr algn="ctr"/>
            <a:r>
              <a:rPr sz="1600" b="1" i="0">
                <a:solidFill>
                  <a:srgbClr val="EF4444"/>
                </a:solidFill>
                <a:latin typeface="Poppins"/>
              </a:rPr>
              <a:t>✕</a:t>
            </a:r>
          </a:p>
        </p:txBody>
      </p:sp>
      <p:sp>
        <p:nvSpPr>
          <p:cNvPr id="42" name="Rectangle 41"/>
          <p:cNvSpPr/>
          <p:nvPr/>
        </p:nvSpPr>
        <p:spPr>
          <a:xfrm>
            <a:off x="6400800" y="1828800"/>
            <a:ext cx="5303520" cy="12801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400800" y="1828800"/>
            <a:ext cx="109728" cy="128016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75120" y="1965960"/>
            <a:ext cx="4754880" cy="411480"/>
          </a:xfrm>
          <a:prstGeom prst="rect">
            <a:avLst/>
          </a:prstGeom>
          <a:noFill/>
        </p:spPr>
        <p:txBody>
          <a:bodyPr wrap="square" lIns="45720" rIns="45720" tIns="18288" bIns="18288" anchor="t">
            <a:spAutoFit/>
          </a:bodyPr>
          <a:lstStyle/>
          <a:p>
            <a:pPr algn="l"/>
            <a:r>
              <a:rPr sz="1400" b="1" i="0">
                <a:solidFill>
                  <a:srgbClr val="FFFFFF"/>
                </a:solidFill>
                <a:latin typeface="Poppins"/>
              </a:rPr>
              <a:t>AI-native sales OS</a:t>
            </a:r>
          </a:p>
        </p:txBody>
      </p:sp>
      <p:sp>
        <p:nvSpPr>
          <p:cNvPr id="45" name="TextBox 44"/>
          <p:cNvSpPr txBox="1"/>
          <p:nvPr/>
        </p:nvSpPr>
        <p:spPr>
          <a:xfrm>
            <a:off x="6675120" y="2423160"/>
            <a:ext cx="2743200" cy="320040"/>
          </a:xfrm>
          <a:prstGeom prst="rect">
            <a:avLst/>
          </a:prstGeom>
          <a:noFill/>
        </p:spPr>
        <p:txBody>
          <a:bodyPr wrap="square" lIns="45720" rIns="45720" tIns="18288" bIns="18288" anchor="t">
            <a:spAutoFit/>
          </a:bodyPr>
          <a:lstStyle/>
          <a:p>
            <a:pPr algn="l"/>
            <a:r>
              <a:rPr sz="900" b="1" i="0">
                <a:solidFill>
                  <a:srgbClr val="00A3E0"/>
                </a:solidFill>
                <a:latin typeface="Poppins"/>
              </a:rPr>
              <a:t>UNCLAIMED</a:t>
            </a:r>
          </a:p>
        </p:txBody>
      </p:sp>
      <p:sp>
        <p:nvSpPr>
          <p:cNvPr id="46" name="TextBox 45"/>
          <p:cNvSpPr txBox="1"/>
          <p:nvPr/>
        </p:nvSpPr>
        <p:spPr>
          <a:xfrm>
            <a:off x="6675120" y="2697480"/>
            <a:ext cx="4754880" cy="365760"/>
          </a:xfrm>
          <a:prstGeom prst="rect">
            <a:avLst/>
          </a:prstGeom>
          <a:noFill/>
        </p:spPr>
        <p:txBody>
          <a:bodyPr wrap="square" lIns="45720" rIns="45720" tIns="18288" bIns="18288" anchor="t">
            <a:spAutoFit/>
          </a:bodyPr>
          <a:lstStyle/>
          <a:p>
            <a:pPr algn="l"/>
            <a:r>
              <a:rPr sz="1000" b="0" i="1">
                <a:solidFill>
                  <a:srgbClr val="CBD2DC"/>
                </a:solidFill>
                <a:latin typeface="Poppins"/>
              </a:rPr>
              <a:t>First-mover advantage available. We plant the flag.</a:t>
            </a:r>
          </a:p>
        </p:txBody>
      </p:sp>
      <p:sp>
        <p:nvSpPr>
          <p:cNvPr id="47" name="Rectangle 46"/>
          <p:cNvSpPr/>
          <p:nvPr/>
        </p:nvSpPr>
        <p:spPr>
          <a:xfrm>
            <a:off x="6400800" y="3246120"/>
            <a:ext cx="5303520" cy="12801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400800" y="3246120"/>
            <a:ext cx="109728" cy="128016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75120" y="3383279"/>
            <a:ext cx="4754880" cy="411480"/>
          </a:xfrm>
          <a:prstGeom prst="rect">
            <a:avLst/>
          </a:prstGeom>
          <a:noFill/>
        </p:spPr>
        <p:txBody>
          <a:bodyPr wrap="square" lIns="45720" rIns="45720" tIns="18288" bIns="18288" anchor="t">
            <a:spAutoFit/>
          </a:bodyPr>
          <a:lstStyle/>
          <a:p>
            <a:pPr algn="l"/>
            <a:r>
              <a:rPr sz="1400" b="1" i="0">
                <a:solidFill>
                  <a:srgbClr val="FFFFFF"/>
                </a:solidFill>
                <a:latin typeface="Poppins"/>
              </a:rPr>
              <a:t>24/7 AI Receptionist (Leaky Bucket)</a:t>
            </a:r>
          </a:p>
        </p:txBody>
      </p:sp>
      <p:sp>
        <p:nvSpPr>
          <p:cNvPr id="50" name="TextBox 49"/>
          <p:cNvSpPr txBox="1"/>
          <p:nvPr/>
        </p:nvSpPr>
        <p:spPr>
          <a:xfrm>
            <a:off x="6675120" y="3840480"/>
            <a:ext cx="2743200" cy="320040"/>
          </a:xfrm>
          <a:prstGeom prst="rect">
            <a:avLst/>
          </a:prstGeom>
          <a:noFill/>
        </p:spPr>
        <p:txBody>
          <a:bodyPr wrap="square" lIns="45720" rIns="45720" tIns="18288" bIns="18288" anchor="t">
            <a:spAutoFit/>
          </a:bodyPr>
          <a:lstStyle/>
          <a:p>
            <a:pPr algn="l"/>
            <a:r>
              <a:rPr sz="900" b="1" i="0">
                <a:solidFill>
                  <a:srgbClr val="00A3E0"/>
                </a:solidFill>
                <a:latin typeface="Poppins"/>
              </a:rPr>
              <a:t>UNCLAIMED</a:t>
            </a:r>
          </a:p>
        </p:txBody>
      </p:sp>
      <p:sp>
        <p:nvSpPr>
          <p:cNvPr id="51" name="TextBox 50"/>
          <p:cNvSpPr txBox="1"/>
          <p:nvPr/>
        </p:nvSpPr>
        <p:spPr>
          <a:xfrm>
            <a:off x="6675120" y="4114800"/>
            <a:ext cx="4754880" cy="365760"/>
          </a:xfrm>
          <a:prstGeom prst="rect">
            <a:avLst/>
          </a:prstGeom>
          <a:noFill/>
        </p:spPr>
        <p:txBody>
          <a:bodyPr wrap="square" lIns="45720" rIns="45720" tIns="18288" bIns="18288" anchor="t">
            <a:spAutoFit/>
          </a:bodyPr>
          <a:lstStyle/>
          <a:p>
            <a:pPr algn="l"/>
            <a:r>
              <a:rPr sz="1000" b="0" i="1">
                <a:solidFill>
                  <a:srgbClr val="CBD2DC"/>
                </a:solidFill>
                <a:latin typeface="Poppins"/>
              </a:rPr>
              <a:t>First-mover advantage available. We plant the flag.</a:t>
            </a:r>
          </a:p>
        </p:txBody>
      </p:sp>
      <p:sp>
        <p:nvSpPr>
          <p:cNvPr id="52" name="Rectangle 51"/>
          <p:cNvSpPr/>
          <p:nvPr/>
        </p:nvSpPr>
        <p:spPr>
          <a:xfrm>
            <a:off x="6400800" y="4663440"/>
            <a:ext cx="5303520" cy="12801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400800" y="4663440"/>
            <a:ext cx="109728" cy="128016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675120" y="4800600"/>
            <a:ext cx="4754880" cy="411480"/>
          </a:xfrm>
          <a:prstGeom prst="rect">
            <a:avLst/>
          </a:prstGeom>
          <a:noFill/>
        </p:spPr>
        <p:txBody>
          <a:bodyPr wrap="square" lIns="45720" rIns="45720" tIns="18288" bIns="18288" anchor="t">
            <a:spAutoFit/>
          </a:bodyPr>
          <a:lstStyle/>
          <a:p>
            <a:pPr algn="l"/>
            <a:r>
              <a:rPr sz="1400" b="1" i="0">
                <a:solidFill>
                  <a:srgbClr val="FFFFFF"/>
                </a:solidFill>
                <a:latin typeface="Poppins"/>
              </a:rPr>
              <a:t>Done-FOR-you AI + Done-WITH-you coaching hybrid</a:t>
            </a:r>
          </a:p>
        </p:txBody>
      </p:sp>
      <p:sp>
        <p:nvSpPr>
          <p:cNvPr id="55" name="TextBox 54"/>
          <p:cNvSpPr txBox="1"/>
          <p:nvPr/>
        </p:nvSpPr>
        <p:spPr>
          <a:xfrm>
            <a:off x="6675120" y="5257800"/>
            <a:ext cx="2743200" cy="320040"/>
          </a:xfrm>
          <a:prstGeom prst="rect">
            <a:avLst/>
          </a:prstGeom>
          <a:noFill/>
        </p:spPr>
        <p:txBody>
          <a:bodyPr wrap="square" lIns="45720" rIns="45720" tIns="18288" bIns="18288" anchor="t">
            <a:spAutoFit/>
          </a:bodyPr>
          <a:lstStyle/>
          <a:p>
            <a:pPr algn="l"/>
            <a:r>
              <a:rPr sz="900" b="1" i="0">
                <a:solidFill>
                  <a:srgbClr val="00A3E0"/>
                </a:solidFill>
                <a:latin typeface="Poppins"/>
              </a:rPr>
              <a:t>UNCLAIMED</a:t>
            </a:r>
          </a:p>
        </p:txBody>
      </p:sp>
      <p:sp>
        <p:nvSpPr>
          <p:cNvPr id="56" name="TextBox 55"/>
          <p:cNvSpPr txBox="1"/>
          <p:nvPr/>
        </p:nvSpPr>
        <p:spPr>
          <a:xfrm>
            <a:off x="6675120" y="5532120"/>
            <a:ext cx="4754880" cy="365760"/>
          </a:xfrm>
          <a:prstGeom prst="rect">
            <a:avLst/>
          </a:prstGeom>
          <a:noFill/>
        </p:spPr>
        <p:txBody>
          <a:bodyPr wrap="square" lIns="45720" rIns="45720" tIns="18288" bIns="18288" anchor="t">
            <a:spAutoFit/>
          </a:bodyPr>
          <a:lstStyle/>
          <a:p>
            <a:pPr algn="l"/>
            <a:r>
              <a:rPr sz="1000" b="0" i="1">
                <a:solidFill>
                  <a:srgbClr val="CBD2DC"/>
                </a:solidFill>
                <a:latin typeface="Poppins"/>
              </a:rPr>
              <a:t>First-mover advantage available. We plant the flag.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45720" rIns="45720" tIns="18288" bIns="18288" anchor="t">
            <a:spAutoFit/>
          </a:bodyPr>
          <a:lstStyle/>
          <a:p>
            <a:pPr algn="l"/>
            <a:r>
              <a:rPr sz="1000" b="1" i="0">
                <a:solidFill>
                  <a:srgbClr val="00A3E0"/>
                </a:solidFill>
                <a:latin typeface="Poppins"/>
              </a:rPr>
              <a:t>06 · SERVICE ARCHITECTURE</a:t>
            </a:r>
          </a:p>
        </p:txBody>
      </p:sp>
      <p:sp>
        <p:nvSpPr>
          <p:cNvPr id="4" name="TextBox 3"/>
          <p:cNvSpPr txBox="1"/>
          <p:nvPr/>
        </p:nvSpPr>
        <p:spPr>
          <a:xfrm>
            <a:off x="457200" y="594360"/>
            <a:ext cx="11247120" cy="640080"/>
          </a:xfrm>
          <a:prstGeom prst="rect">
            <a:avLst/>
          </a:prstGeom>
          <a:noFill/>
        </p:spPr>
        <p:txBody>
          <a:bodyPr wrap="square" lIns="45720" rIns="45720" tIns="18288" bIns="18288" anchor="t">
            <a:spAutoFit/>
          </a:bodyPr>
          <a:lstStyle/>
          <a:p>
            <a:pPr algn="l"/>
            <a:r>
              <a:rPr sz="2800" b="1" i="0">
                <a:solidFill>
                  <a:srgbClr val="1F2A44"/>
                </a:solidFill>
                <a:latin typeface="Poppins"/>
              </a:rPr>
              <a:t>Three tiers. One diagnostic metaphor.</a:t>
            </a:r>
          </a:p>
        </p:txBody>
      </p:sp>
      <p:sp>
        <p:nvSpPr>
          <p:cNvPr id="5" name="Rectangle 4"/>
          <p:cNvSpPr/>
          <p:nvPr/>
        </p:nvSpPr>
        <p:spPr>
          <a:xfrm>
            <a:off x="457200" y="1234440"/>
            <a:ext cx="914400" cy="4572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320040"/>
            <a:ext cx="640080" cy="274320"/>
          </a:xfrm>
          <a:prstGeom prst="rect">
            <a:avLst/>
          </a:prstGeom>
          <a:noFill/>
        </p:spPr>
        <p:txBody>
          <a:bodyPr wrap="square" lIns="45720" rIns="45720" tIns="18288" bIns="18288" anchor="t">
            <a:spAutoFit/>
          </a:bodyPr>
          <a:lstStyle/>
          <a:p>
            <a:pPr algn="r"/>
            <a:r>
              <a:rPr sz="900" b="1" i="0">
                <a:solidFill>
                  <a:srgbClr val="4A5568"/>
                </a:solidFill>
                <a:latin typeface="Poppins"/>
              </a:rPr>
              <a:t>7 / 18</a:t>
            </a:r>
          </a:p>
        </p:txBody>
      </p:sp>
      <p:sp>
        <p:nvSpPr>
          <p:cNvPr id="7" name="Rectangle 6"/>
          <p:cNvSpPr/>
          <p:nvPr/>
        </p:nvSpPr>
        <p:spPr>
          <a:xfrm>
            <a:off x="0" y="6720840"/>
            <a:ext cx="12191695" cy="1371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492240"/>
            <a:ext cx="3657600" cy="274320"/>
          </a:xfrm>
          <a:prstGeom prst="rect">
            <a:avLst/>
          </a:prstGeom>
          <a:noFill/>
        </p:spPr>
        <p:txBody>
          <a:bodyPr wrap="square" lIns="45720" rIns="45720" tIns="18288" bIns="18288" anchor="t">
            <a:spAutoFit/>
          </a:bodyPr>
          <a:lstStyle/>
          <a:p>
            <a:pPr algn="l"/>
            <a:r>
              <a:rPr sz="800" b="1" i="0">
                <a:solidFill>
                  <a:srgbClr val="1F2A44"/>
                </a:solidFill>
                <a:latin typeface="Poppins"/>
              </a:rPr>
              <a:t>CLOSECLINIC</a:t>
            </a:r>
          </a:p>
        </p:txBody>
      </p:sp>
      <p:sp>
        <p:nvSpPr>
          <p:cNvPr id="9" name="TextBox 8"/>
          <p:cNvSpPr txBox="1"/>
          <p:nvPr/>
        </p:nvSpPr>
        <p:spPr>
          <a:xfrm>
            <a:off x="6400800" y="6492240"/>
            <a:ext cx="5486400" cy="274320"/>
          </a:xfrm>
          <a:prstGeom prst="rect">
            <a:avLst/>
          </a:prstGeom>
          <a:noFill/>
        </p:spPr>
        <p:txBody>
          <a:bodyPr wrap="square" lIns="45720" rIns="45720" tIns="18288" bIns="18288" anchor="t">
            <a:spAutoFit/>
          </a:bodyPr>
          <a:lstStyle/>
          <a:p>
            <a:pPr algn="r"/>
            <a:r>
              <a:rPr sz="800" b="0" i="0">
                <a:solidFill>
                  <a:srgbClr val="4A5568"/>
                </a:solidFill>
                <a:latin typeface="Poppins"/>
              </a:rPr>
              <a:t>CloseClinic · Launch Plan · 2026-04-21 · p.7</a:t>
            </a:r>
          </a:p>
        </p:txBody>
      </p:sp>
      <p:sp>
        <p:nvSpPr>
          <p:cNvPr id="10" name="Rectangle 9"/>
          <p:cNvSpPr/>
          <p:nvPr/>
        </p:nvSpPr>
        <p:spPr>
          <a:xfrm>
            <a:off x="457200" y="1508760"/>
            <a:ext cx="3749039" cy="141732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926080"/>
            <a:ext cx="3749039" cy="347472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645920"/>
            <a:ext cx="3200399" cy="274320"/>
          </a:xfrm>
          <a:prstGeom prst="rect">
            <a:avLst/>
          </a:prstGeom>
          <a:noFill/>
        </p:spPr>
        <p:txBody>
          <a:bodyPr wrap="square" lIns="45720" rIns="45720" tIns="18288" bIns="18288" anchor="t">
            <a:spAutoFit/>
          </a:bodyPr>
          <a:lstStyle/>
          <a:p>
            <a:pPr algn="l"/>
            <a:r>
              <a:rPr sz="1000" b="1" i="0">
                <a:solidFill>
                  <a:srgbClr val="FFFFFF"/>
                </a:solidFill>
                <a:latin typeface="Poppins"/>
              </a:rPr>
              <a:t>TIER 1</a:t>
            </a:r>
          </a:p>
        </p:txBody>
      </p:sp>
      <p:sp>
        <p:nvSpPr>
          <p:cNvPr id="13" name="TextBox 12"/>
          <p:cNvSpPr txBox="1"/>
          <p:nvPr/>
        </p:nvSpPr>
        <p:spPr>
          <a:xfrm>
            <a:off x="731520" y="1892808"/>
            <a:ext cx="3200399" cy="365760"/>
          </a:xfrm>
          <a:prstGeom prst="rect">
            <a:avLst/>
          </a:prstGeom>
          <a:noFill/>
        </p:spPr>
        <p:txBody>
          <a:bodyPr wrap="square" lIns="45720" rIns="45720" tIns="18288" bIns="18288" anchor="t">
            <a:spAutoFit/>
          </a:bodyPr>
          <a:lstStyle/>
          <a:p>
            <a:pPr algn="l"/>
            <a:r>
              <a:rPr sz="1800" b="1" i="0">
                <a:solidFill>
                  <a:srgbClr val="FFFFFF"/>
                </a:solidFill>
                <a:latin typeface="Poppins"/>
              </a:rPr>
              <a:t>Diagnose</a:t>
            </a:r>
          </a:p>
        </p:txBody>
      </p:sp>
      <p:sp>
        <p:nvSpPr>
          <p:cNvPr id="14" name="TextBox 13"/>
          <p:cNvSpPr txBox="1"/>
          <p:nvPr/>
        </p:nvSpPr>
        <p:spPr>
          <a:xfrm>
            <a:off x="731520" y="2286000"/>
            <a:ext cx="2011680" cy="457200"/>
          </a:xfrm>
          <a:prstGeom prst="rect">
            <a:avLst/>
          </a:prstGeom>
          <a:noFill/>
        </p:spPr>
        <p:txBody>
          <a:bodyPr wrap="square" lIns="45720" rIns="45720" tIns="18288" bIns="18288" anchor="t">
            <a:spAutoFit/>
          </a:bodyPr>
          <a:lstStyle/>
          <a:p>
            <a:pPr algn="l"/>
            <a:r>
              <a:rPr sz="3000" b="1" i="0">
                <a:solidFill>
                  <a:srgbClr val="FFFFFF"/>
                </a:solidFill>
                <a:latin typeface="Poppins"/>
              </a:rPr>
              <a:t>$1,497</a:t>
            </a:r>
          </a:p>
        </p:txBody>
      </p:sp>
      <p:sp>
        <p:nvSpPr>
          <p:cNvPr id="15" name="TextBox 14"/>
          <p:cNvSpPr txBox="1"/>
          <p:nvPr/>
        </p:nvSpPr>
        <p:spPr>
          <a:xfrm>
            <a:off x="731520" y="2679192"/>
            <a:ext cx="3200399" cy="228600"/>
          </a:xfrm>
          <a:prstGeom prst="rect">
            <a:avLst/>
          </a:prstGeom>
          <a:noFill/>
        </p:spPr>
        <p:txBody>
          <a:bodyPr wrap="square" lIns="45720" rIns="45720" tIns="18288" bIns="18288" anchor="t">
            <a:spAutoFit/>
          </a:bodyPr>
          <a:lstStyle/>
          <a:p>
            <a:pPr algn="l"/>
            <a:r>
              <a:rPr sz="900" b="0" i="0">
                <a:solidFill>
                  <a:srgbClr val="FFFFFF"/>
                </a:solidFill>
                <a:latin typeface="Poppins"/>
              </a:rPr>
              <a:t>/mo</a:t>
            </a:r>
          </a:p>
        </p:txBody>
      </p:sp>
      <p:sp>
        <p:nvSpPr>
          <p:cNvPr id="16" name="TextBox 15"/>
          <p:cNvSpPr txBox="1"/>
          <p:nvPr/>
        </p:nvSpPr>
        <p:spPr>
          <a:xfrm>
            <a:off x="731520" y="3108960"/>
            <a:ext cx="3200399" cy="822960"/>
          </a:xfrm>
          <a:prstGeom prst="rect">
            <a:avLst/>
          </a:prstGeom>
          <a:noFill/>
        </p:spPr>
        <p:txBody>
          <a:bodyPr wrap="square" lIns="45720" rIns="45720" tIns="18288" bIns="18288" anchor="t">
            <a:spAutoFit/>
          </a:bodyPr>
          <a:lstStyle/>
          <a:p>
            <a:pPr algn="l"/>
            <a:r>
              <a:rPr sz="1000" b="0" i="1">
                <a:solidFill>
                  <a:srgbClr val="4A5568"/>
                </a:solidFill>
                <a:latin typeface="Poppins"/>
              </a:rPr>
              <a:t>Leaky Bucket Diagnostic, baseline playbook, group coaching, LMS, Slack community, monthly scorecard.</a:t>
            </a:r>
          </a:p>
        </p:txBody>
      </p:sp>
      <p:sp>
        <p:nvSpPr>
          <p:cNvPr id="17" name="TextBox 16"/>
          <p:cNvSpPr txBox="1"/>
          <p:nvPr/>
        </p:nvSpPr>
        <p:spPr>
          <a:xfrm>
            <a:off x="777240" y="3977640"/>
            <a:ext cx="182880" cy="228600"/>
          </a:xfrm>
          <a:prstGeom prst="rect">
            <a:avLst/>
          </a:prstGeom>
          <a:noFill/>
        </p:spPr>
        <p:txBody>
          <a:bodyPr wrap="square" lIns="45720" rIns="45720" tIns="18288" bIns="18288" anchor="t">
            <a:spAutoFit/>
          </a:bodyPr>
          <a:lstStyle/>
          <a:p>
            <a:pPr algn="l"/>
            <a:r>
              <a:rPr sz="1000" b="1" i="0">
                <a:solidFill>
                  <a:srgbClr val="00A3E0"/>
                </a:solidFill>
                <a:latin typeface="Poppins"/>
              </a:rPr>
              <a:t>■</a:t>
            </a:r>
          </a:p>
        </p:txBody>
      </p:sp>
      <p:sp>
        <p:nvSpPr>
          <p:cNvPr id="18" name="TextBox 17"/>
          <p:cNvSpPr txBox="1"/>
          <p:nvPr/>
        </p:nvSpPr>
        <p:spPr>
          <a:xfrm>
            <a:off x="1005840" y="3977640"/>
            <a:ext cx="2926079" cy="256032"/>
          </a:xfrm>
          <a:prstGeom prst="rect">
            <a:avLst/>
          </a:prstGeom>
          <a:noFill/>
        </p:spPr>
        <p:txBody>
          <a:bodyPr wrap="square" lIns="45720" rIns="45720" tIns="18288" bIns="18288" anchor="t">
            <a:spAutoFit/>
          </a:bodyPr>
          <a:lstStyle/>
          <a:p>
            <a:pPr algn="l"/>
            <a:r>
              <a:rPr sz="1000" b="0" i="0">
                <a:solidFill>
                  <a:srgbClr val="111827"/>
                </a:solidFill>
                <a:latin typeface="Poppins"/>
              </a:rPr>
              <a:t>2-week sales audit</a:t>
            </a:r>
          </a:p>
        </p:txBody>
      </p:sp>
      <p:sp>
        <p:nvSpPr>
          <p:cNvPr id="19" name="TextBox 18"/>
          <p:cNvSpPr txBox="1"/>
          <p:nvPr/>
        </p:nvSpPr>
        <p:spPr>
          <a:xfrm>
            <a:off x="777240" y="4224528"/>
            <a:ext cx="182880" cy="228600"/>
          </a:xfrm>
          <a:prstGeom prst="rect">
            <a:avLst/>
          </a:prstGeom>
          <a:noFill/>
        </p:spPr>
        <p:txBody>
          <a:bodyPr wrap="square" lIns="45720" rIns="45720" tIns="18288" bIns="18288" anchor="t">
            <a:spAutoFit/>
          </a:bodyPr>
          <a:lstStyle/>
          <a:p>
            <a:pPr algn="l"/>
            <a:r>
              <a:rPr sz="1000" b="1" i="0">
                <a:solidFill>
                  <a:srgbClr val="00A3E0"/>
                </a:solidFill>
                <a:latin typeface="Poppins"/>
              </a:rPr>
              <a:t>■</a:t>
            </a:r>
          </a:p>
        </p:txBody>
      </p:sp>
      <p:sp>
        <p:nvSpPr>
          <p:cNvPr id="20" name="TextBox 19"/>
          <p:cNvSpPr txBox="1"/>
          <p:nvPr/>
        </p:nvSpPr>
        <p:spPr>
          <a:xfrm>
            <a:off x="1005840" y="4224528"/>
            <a:ext cx="2926079" cy="256032"/>
          </a:xfrm>
          <a:prstGeom prst="rect">
            <a:avLst/>
          </a:prstGeom>
          <a:noFill/>
        </p:spPr>
        <p:txBody>
          <a:bodyPr wrap="square" lIns="45720" rIns="45720" tIns="18288" bIns="18288" anchor="t">
            <a:spAutoFit/>
          </a:bodyPr>
          <a:lstStyle/>
          <a:p>
            <a:pPr algn="l"/>
            <a:r>
              <a:rPr sz="1000" b="0" i="0">
                <a:solidFill>
                  <a:srgbClr val="111827"/>
                </a:solidFill>
                <a:latin typeface="Poppins"/>
              </a:rPr>
              <a:t>2x/mo group Zoom (max 20)</a:t>
            </a:r>
          </a:p>
        </p:txBody>
      </p:sp>
      <p:sp>
        <p:nvSpPr>
          <p:cNvPr id="21" name="TextBox 20"/>
          <p:cNvSpPr txBox="1"/>
          <p:nvPr/>
        </p:nvSpPr>
        <p:spPr>
          <a:xfrm>
            <a:off x="777240" y="4471416"/>
            <a:ext cx="182880" cy="228600"/>
          </a:xfrm>
          <a:prstGeom prst="rect">
            <a:avLst/>
          </a:prstGeom>
          <a:noFill/>
        </p:spPr>
        <p:txBody>
          <a:bodyPr wrap="square" lIns="45720" rIns="45720" tIns="18288" bIns="18288" anchor="t">
            <a:spAutoFit/>
          </a:bodyPr>
          <a:lstStyle/>
          <a:p>
            <a:pPr algn="l"/>
            <a:r>
              <a:rPr sz="1000" b="1" i="0">
                <a:solidFill>
                  <a:srgbClr val="00A3E0"/>
                </a:solidFill>
                <a:latin typeface="Poppins"/>
              </a:rPr>
              <a:t>■</a:t>
            </a:r>
          </a:p>
        </p:txBody>
      </p:sp>
      <p:sp>
        <p:nvSpPr>
          <p:cNvPr id="22" name="TextBox 21"/>
          <p:cNvSpPr txBox="1"/>
          <p:nvPr/>
        </p:nvSpPr>
        <p:spPr>
          <a:xfrm>
            <a:off x="1005840" y="4471416"/>
            <a:ext cx="2926079" cy="256032"/>
          </a:xfrm>
          <a:prstGeom prst="rect">
            <a:avLst/>
          </a:prstGeom>
          <a:noFill/>
        </p:spPr>
        <p:txBody>
          <a:bodyPr wrap="square" lIns="45720" rIns="45720" tIns="18288" bIns="18288" anchor="t">
            <a:spAutoFit/>
          </a:bodyPr>
          <a:lstStyle/>
          <a:p>
            <a:pPr algn="l"/>
            <a:r>
              <a:rPr sz="1000" b="0" i="0">
                <a:solidFill>
                  <a:srgbClr val="111827"/>
                </a:solidFill>
                <a:latin typeface="Poppins"/>
              </a:rPr>
              <a:t>50+ video modules</a:t>
            </a:r>
          </a:p>
        </p:txBody>
      </p:sp>
      <p:sp>
        <p:nvSpPr>
          <p:cNvPr id="23" name="TextBox 22"/>
          <p:cNvSpPr txBox="1"/>
          <p:nvPr/>
        </p:nvSpPr>
        <p:spPr>
          <a:xfrm>
            <a:off x="777240" y="4718304"/>
            <a:ext cx="182880" cy="228600"/>
          </a:xfrm>
          <a:prstGeom prst="rect">
            <a:avLst/>
          </a:prstGeom>
          <a:noFill/>
        </p:spPr>
        <p:txBody>
          <a:bodyPr wrap="square" lIns="45720" rIns="45720" tIns="18288" bIns="18288" anchor="t">
            <a:spAutoFit/>
          </a:bodyPr>
          <a:lstStyle/>
          <a:p>
            <a:pPr algn="l"/>
            <a:r>
              <a:rPr sz="1000" b="1" i="0">
                <a:solidFill>
                  <a:srgbClr val="00A3E0"/>
                </a:solidFill>
                <a:latin typeface="Poppins"/>
              </a:rPr>
              <a:t>■</a:t>
            </a:r>
          </a:p>
        </p:txBody>
      </p:sp>
      <p:sp>
        <p:nvSpPr>
          <p:cNvPr id="24" name="TextBox 23"/>
          <p:cNvSpPr txBox="1"/>
          <p:nvPr/>
        </p:nvSpPr>
        <p:spPr>
          <a:xfrm>
            <a:off x="1005840" y="4718304"/>
            <a:ext cx="2926079" cy="256032"/>
          </a:xfrm>
          <a:prstGeom prst="rect">
            <a:avLst/>
          </a:prstGeom>
          <a:noFill/>
        </p:spPr>
        <p:txBody>
          <a:bodyPr wrap="square" lIns="45720" rIns="45720" tIns="18288" bIns="18288" anchor="t">
            <a:spAutoFit/>
          </a:bodyPr>
          <a:lstStyle/>
          <a:p>
            <a:pPr algn="l"/>
            <a:r>
              <a:rPr sz="1000" b="0" i="0">
                <a:solidFill>
                  <a:srgbClr val="111827"/>
                </a:solidFill>
                <a:latin typeface="Poppins"/>
              </a:rPr>
              <a:t>Monthly KPI scorecard</a:t>
            </a:r>
          </a:p>
        </p:txBody>
      </p:sp>
      <p:sp>
        <p:nvSpPr>
          <p:cNvPr id="25" name="TextBox 24"/>
          <p:cNvSpPr txBox="1"/>
          <p:nvPr/>
        </p:nvSpPr>
        <p:spPr>
          <a:xfrm>
            <a:off x="777240" y="4965192"/>
            <a:ext cx="182880" cy="228600"/>
          </a:xfrm>
          <a:prstGeom prst="rect">
            <a:avLst/>
          </a:prstGeom>
          <a:noFill/>
        </p:spPr>
        <p:txBody>
          <a:bodyPr wrap="square" lIns="45720" rIns="45720" tIns="18288" bIns="18288" anchor="t">
            <a:spAutoFit/>
          </a:bodyPr>
          <a:lstStyle/>
          <a:p>
            <a:pPr algn="l"/>
            <a:r>
              <a:rPr sz="1000" b="1" i="0">
                <a:solidFill>
                  <a:srgbClr val="00A3E0"/>
                </a:solidFill>
                <a:latin typeface="Poppins"/>
              </a:rPr>
              <a:t>■</a:t>
            </a:r>
          </a:p>
        </p:txBody>
      </p:sp>
      <p:sp>
        <p:nvSpPr>
          <p:cNvPr id="26" name="TextBox 25"/>
          <p:cNvSpPr txBox="1"/>
          <p:nvPr/>
        </p:nvSpPr>
        <p:spPr>
          <a:xfrm>
            <a:off x="1005840" y="4965192"/>
            <a:ext cx="2926079" cy="256032"/>
          </a:xfrm>
          <a:prstGeom prst="rect">
            <a:avLst/>
          </a:prstGeom>
          <a:noFill/>
        </p:spPr>
        <p:txBody>
          <a:bodyPr wrap="square" lIns="45720" rIns="45720" tIns="18288" bIns="18288" anchor="t">
            <a:spAutoFit/>
          </a:bodyPr>
          <a:lstStyle/>
          <a:p>
            <a:pPr algn="l"/>
            <a:r>
              <a:rPr sz="1000" b="0" i="0">
                <a:solidFill>
                  <a:srgbClr val="111827"/>
                </a:solidFill>
                <a:latin typeface="Poppins"/>
              </a:rPr>
              <a:t>PVP framework training</a:t>
            </a:r>
          </a:p>
        </p:txBody>
      </p:sp>
      <p:sp>
        <p:nvSpPr>
          <p:cNvPr id="27" name="Rectangle 26"/>
          <p:cNvSpPr/>
          <p:nvPr/>
        </p:nvSpPr>
        <p:spPr>
          <a:xfrm>
            <a:off x="457200" y="5897880"/>
            <a:ext cx="3749039" cy="5029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961888"/>
            <a:ext cx="3291839" cy="228600"/>
          </a:xfrm>
          <a:prstGeom prst="rect">
            <a:avLst/>
          </a:prstGeom>
          <a:noFill/>
        </p:spPr>
        <p:txBody>
          <a:bodyPr wrap="square" lIns="45720" rIns="45720" tIns="18288" bIns="18288" anchor="t">
            <a:spAutoFit/>
          </a:bodyPr>
          <a:lstStyle/>
          <a:p>
            <a:pPr algn="l"/>
            <a:r>
              <a:rPr sz="1000" b="1" i="0">
                <a:solidFill>
                  <a:srgbClr val="1F2A44"/>
                </a:solidFill>
                <a:latin typeface="Poppins"/>
              </a:rPr>
              <a:t>78–85% GM</a:t>
            </a:r>
          </a:p>
        </p:txBody>
      </p:sp>
      <p:sp>
        <p:nvSpPr>
          <p:cNvPr id="29" name="TextBox 28"/>
          <p:cNvSpPr txBox="1"/>
          <p:nvPr/>
        </p:nvSpPr>
        <p:spPr>
          <a:xfrm>
            <a:off x="685800" y="6172200"/>
            <a:ext cx="3291839" cy="228600"/>
          </a:xfrm>
          <a:prstGeom prst="rect">
            <a:avLst/>
          </a:prstGeom>
          <a:noFill/>
        </p:spPr>
        <p:txBody>
          <a:bodyPr wrap="square" lIns="45720" rIns="45720" tIns="18288" bIns="18288" anchor="t">
            <a:spAutoFit/>
          </a:bodyPr>
          <a:lstStyle/>
          <a:p>
            <a:pPr algn="l"/>
            <a:r>
              <a:rPr sz="900" b="0" i="0">
                <a:solidFill>
                  <a:srgbClr val="4A5568"/>
                </a:solidFill>
                <a:latin typeface="Poppins"/>
              </a:rPr>
              <a:t>30% of clients · 12% of rev (Y2)</a:t>
            </a:r>
          </a:p>
        </p:txBody>
      </p:sp>
      <p:sp>
        <p:nvSpPr>
          <p:cNvPr id="30" name="Rectangle 29"/>
          <p:cNvSpPr/>
          <p:nvPr/>
        </p:nvSpPr>
        <p:spPr>
          <a:xfrm>
            <a:off x="4343399" y="1508760"/>
            <a:ext cx="3749039" cy="14173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43399" y="2926080"/>
            <a:ext cx="3749039" cy="347472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17719" y="1645920"/>
            <a:ext cx="3200399" cy="274320"/>
          </a:xfrm>
          <a:prstGeom prst="rect">
            <a:avLst/>
          </a:prstGeom>
          <a:noFill/>
        </p:spPr>
        <p:txBody>
          <a:bodyPr wrap="square" lIns="45720" rIns="45720" tIns="18288" bIns="18288" anchor="t">
            <a:spAutoFit/>
          </a:bodyPr>
          <a:lstStyle/>
          <a:p>
            <a:pPr algn="l"/>
            <a:r>
              <a:rPr sz="1000" b="1" i="0">
                <a:solidFill>
                  <a:srgbClr val="FFFFFF"/>
                </a:solidFill>
                <a:latin typeface="Poppins"/>
              </a:rPr>
              <a:t>TIER 2</a:t>
            </a:r>
          </a:p>
        </p:txBody>
      </p:sp>
      <p:sp>
        <p:nvSpPr>
          <p:cNvPr id="33" name="TextBox 32"/>
          <p:cNvSpPr txBox="1"/>
          <p:nvPr/>
        </p:nvSpPr>
        <p:spPr>
          <a:xfrm>
            <a:off x="4617719" y="1892808"/>
            <a:ext cx="3200399" cy="365760"/>
          </a:xfrm>
          <a:prstGeom prst="rect">
            <a:avLst/>
          </a:prstGeom>
          <a:noFill/>
        </p:spPr>
        <p:txBody>
          <a:bodyPr wrap="square" lIns="45720" rIns="45720" tIns="18288" bIns="18288" anchor="t">
            <a:spAutoFit/>
          </a:bodyPr>
          <a:lstStyle/>
          <a:p>
            <a:pPr algn="l"/>
            <a:r>
              <a:rPr sz="1800" b="1" i="0">
                <a:solidFill>
                  <a:srgbClr val="FFFFFF"/>
                </a:solidFill>
                <a:latin typeface="Poppins"/>
              </a:rPr>
              <a:t>Leaky Bucket AI</a:t>
            </a:r>
          </a:p>
        </p:txBody>
      </p:sp>
      <p:sp>
        <p:nvSpPr>
          <p:cNvPr id="34" name="TextBox 33"/>
          <p:cNvSpPr txBox="1"/>
          <p:nvPr/>
        </p:nvSpPr>
        <p:spPr>
          <a:xfrm>
            <a:off x="4617719" y="2286000"/>
            <a:ext cx="2011680" cy="457200"/>
          </a:xfrm>
          <a:prstGeom prst="rect">
            <a:avLst/>
          </a:prstGeom>
          <a:noFill/>
        </p:spPr>
        <p:txBody>
          <a:bodyPr wrap="square" lIns="45720" rIns="45720" tIns="18288" bIns="18288" anchor="t">
            <a:spAutoFit/>
          </a:bodyPr>
          <a:lstStyle/>
          <a:p>
            <a:pPr algn="l"/>
            <a:r>
              <a:rPr sz="3000" b="1" i="0">
                <a:solidFill>
                  <a:srgbClr val="FFFFFF"/>
                </a:solidFill>
                <a:latin typeface="Poppins"/>
              </a:rPr>
              <a:t>$4,997</a:t>
            </a:r>
          </a:p>
        </p:txBody>
      </p:sp>
      <p:sp>
        <p:nvSpPr>
          <p:cNvPr id="35" name="TextBox 34"/>
          <p:cNvSpPr txBox="1"/>
          <p:nvPr/>
        </p:nvSpPr>
        <p:spPr>
          <a:xfrm>
            <a:off x="4617719" y="2679192"/>
            <a:ext cx="3200399" cy="228600"/>
          </a:xfrm>
          <a:prstGeom prst="rect">
            <a:avLst/>
          </a:prstGeom>
          <a:noFill/>
        </p:spPr>
        <p:txBody>
          <a:bodyPr wrap="square" lIns="45720" rIns="45720" tIns="18288" bIns="18288" anchor="t">
            <a:spAutoFit/>
          </a:bodyPr>
          <a:lstStyle/>
          <a:p>
            <a:pPr algn="l"/>
            <a:r>
              <a:rPr sz="900" b="0" i="0">
                <a:solidFill>
                  <a:srgbClr val="FFFFFF"/>
                </a:solidFill>
                <a:latin typeface="Poppins"/>
              </a:rPr>
              <a:t>/mo + $5K onboarding</a:t>
            </a:r>
          </a:p>
        </p:txBody>
      </p:sp>
      <p:sp>
        <p:nvSpPr>
          <p:cNvPr id="36" name="TextBox 35"/>
          <p:cNvSpPr txBox="1"/>
          <p:nvPr/>
        </p:nvSpPr>
        <p:spPr>
          <a:xfrm>
            <a:off x="4617719" y="3108960"/>
            <a:ext cx="3200399" cy="822960"/>
          </a:xfrm>
          <a:prstGeom prst="rect">
            <a:avLst/>
          </a:prstGeom>
          <a:noFill/>
        </p:spPr>
        <p:txBody>
          <a:bodyPr wrap="square" lIns="45720" rIns="45720" tIns="18288" bIns="18288" anchor="t">
            <a:spAutoFit/>
          </a:bodyPr>
          <a:lstStyle/>
          <a:p>
            <a:pPr algn="l"/>
            <a:r>
              <a:rPr sz="1000" b="0" i="1">
                <a:solidFill>
                  <a:srgbClr val="4A5568"/>
                </a:solidFill>
                <a:latin typeface="Poppins"/>
              </a:rPr>
              <a:t>Everything in T1, plus 24/7 AI Receptionist + Chatbot, weekly 1:1 coaching, call review AI, full GHL workflows.</a:t>
            </a:r>
          </a:p>
        </p:txBody>
      </p:sp>
      <p:sp>
        <p:nvSpPr>
          <p:cNvPr id="37" name="TextBox 36"/>
          <p:cNvSpPr txBox="1"/>
          <p:nvPr/>
        </p:nvSpPr>
        <p:spPr>
          <a:xfrm>
            <a:off x="4663439" y="3977640"/>
            <a:ext cx="182880" cy="228600"/>
          </a:xfrm>
          <a:prstGeom prst="rect">
            <a:avLst/>
          </a:prstGeom>
          <a:noFill/>
        </p:spPr>
        <p:txBody>
          <a:bodyPr wrap="square" lIns="45720" rIns="45720" tIns="18288" bIns="18288" anchor="t">
            <a:spAutoFit/>
          </a:bodyPr>
          <a:lstStyle/>
          <a:p>
            <a:pPr algn="l"/>
            <a:r>
              <a:rPr sz="1000" b="1" i="0">
                <a:solidFill>
                  <a:srgbClr val="1F2A44"/>
                </a:solidFill>
                <a:latin typeface="Poppins"/>
              </a:rPr>
              <a:t>■</a:t>
            </a:r>
          </a:p>
        </p:txBody>
      </p:sp>
      <p:sp>
        <p:nvSpPr>
          <p:cNvPr id="38" name="TextBox 37"/>
          <p:cNvSpPr txBox="1"/>
          <p:nvPr/>
        </p:nvSpPr>
        <p:spPr>
          <a:xfrm>
            <a:off x="4892039" y="3977640"/>
            <a:ext cx="2926079" cy="256032"/>
          </a:xfrm>
          <a:prstGeom prst="rect">
            <a:avLst/>
          </a:prstGeom>
          <a:noFill/>
        </p:spPr>
        <p:txBody>
          <a:bodyPr wrap="square" lIns="45720" rIns="45720" tIns="18288" bIns="18288" anchor="t">
            <a:spAutoFit/>
          </a:bodyPr>
          <a:lstStyle/>
          <a:p>
            <a:pPr algn="l"/>
            <a:r>
              <a:rPr sz="1000" b="0" i="0">
                <a:solidFill>
                  <a:srgbClr val="111827"/>
                </a:solidFill>
                <a:latin typeface="Poppins"/>
              </a:rPr>
              <a:t>24/7 Synthflow voice agent</a:t>
            </a:r>
          </a:p>
        </p:txBody>
      </p:sp>
      <p:sp>
        <p:nvSpPr>
          <p:cNvPr id="39" name="TextBox 38"/>
          <p:cNvSpPr txBox="1"/>
          <p:nvPr/>
        </p:nvSpPr>
        <p:spPr>
          <a:xfrm>
            <a:off x="4663439" y="4224528"/>
            <a:ext cx="182880" cy="228600"/>
          </a:xfrm>
          <a:prstGeom prst="rect">
            <a:avLst/>
          </a:prstGeom>
          <a:noFill/>
        </p:spPr>
        <p:txBody>
          <a:bodyPr wrap="square" lIns="45720" rIns="45720" tIns="18288" bIns="18288" anchor="t">
            <a:spAutoFit/>
          </a:bodyPr>
          <a:lstStyle/>
          <a:p>
            <a:pPr algn="l"/>
            <a:r>
              <a:rPr sz="1000" b="1" i="0">
                <a:solidFill>
                  <a:srgbClr val="1F2A44"/>
                </a:solidFill>
                <a:latin typeface="Poppins"/>
              </a:rPr>
              <a:t>■</a:t>
            </a:r>
          </a:p>
        </p:txBody>
      </p:sp>
      <p:sp>
        <p:nvSpPr>
          <p:cNvPr id="40" name="TextBox 39"/>
          <p:cNvSpPr txBox="1"/>
          <p:nvPr/>
        </p:nvSpPr>
        <p:spPr>
          <a:xfrm>
            <a:off x="4892039" y="4224528"/>
            <a:ext cx="2926079" cy="256032"/>
          </a:xfrm>
          <a:prstGeom prst="rect">
            <a:avLst/>
          </a:prstGeom>
          <a:noFill/>
        </p:spPr>
        <p:txBody>
          <a:bodyPr wrap="square" lIns="45720" rIns="45720" tIns="18288" bIns="18288" anchor="t">
            <a:spAutoFit/>
          </a:bodyPr>
          <a:lstStyle/>
          <a:p>
            <a:pPr algn="l"/>
            <a:r>
              <a:rPr sz="1000" b="0" i="0">
                <a:solidFill>
                  <a:srgbClr val="111827"/>
                </a:solidFill>
                <a:latin typeface="Poppins"/>
              </a:rPr>
              <a:t>24/7 Chatbase web bot</a:t>
            </a:r>
          </a:p>
        </p:txBody>
      </p:sp>
      <p:sp>
        <p:nvSpPr>
          <p:cNvPr id="41" name="TextBox 40"/>
          <p:cNvSpPr txBox="1"/>
          <p:nvPr/>
        </p:nvSpPr>
        <p:spPr>
          <a:xfrm>
            <a:off x="4663439" y="4471416"/>
            <a:ext cx="182880" cy="228600"/>
          </a:xfrm>
          <a:prstGeom prst="rect">
            <a:avLst/>
          </a:prstGeom>
          <a:noFill/>
        </p:spPr>
        <p:txBody>
          <a:bodyPr wrap="square" lIns="45720" rIns="45720" tIns="18288" bIns="18288" anchor="t">
            <a:spAutoFit/>
          </a:bodyPr>
          <a:lstStyle/>
          <a:p>
            <a:pPr algn="l"/>
            <a:r>
              <a:rPr sz="1000" b="1" i="0">
                <a:solidFill>
                  <a:srgbClr val="1F2A44"/>
                </a:solidFill>
                <a:latin typeface="Poppins"/>
              </a:rPr>
              <a:t>■</a:t>
            </a:r>
          </a:p>
        </p:txBody>
      </p:sp>
      <p:sp>
        <p:nvSpPr>
          <p:cNvPr id="42" name="TextBox 41"/>
          <p:cNvSpPr txBox="1"/>
          <p:nvPr/>
        </p:nvSpPr>
        <p:spPr>
          <a:xfrm>
            <a:off x="4892039" y="4471416"/>
            <a:ext cx="2926079" cy="256032"/>
          </a:xfrm>
          <a:prstGeom prst="rect">
            <a:avLst/>
          </a:prstGeom>
          <a:noFill/>
        </p:spPr>
        <p:txBody>
          <a:bodyPr wrap="square" lIns="45720" rIns="45720" tIns="18288" bIns="18288" anchor="t">
            <a:spAutoFit/>
          </a:bodyPr>
          <a:lstStyle/>
          <a:p>
            <a:pPr algn="l"/>
            <a:r>
              <a:rPr sz="1000" b="0" i="0">
                <a:solidFill>
                  <a:srgbClr val="111827"/>
                </a:solidFill>
                <a:latin typeface="Poppins"/>
              </a:rPr>
              <a:t>Weekly 1:1 coaching</a:t>
            </a:r>
          </a:p>
        </p:txBody>
      </p:sp>
      <p:sp>
        <p:nvSpPr>
          <p:cNvPr id="43" name="TextBox 42"/>
          <p:cNvSpPr txBox="1"/>
          <p:nvPr/>
        </p:nvSpPr>
        <p:spPr>
          <a:xfrm>
            <a:off x="4663439" y="4718304"/>
            <a:ext cx="182880" cy="228600"/>
          </a:xfrm>
          <a:prstGeom prst="rect">
            <a:avLst/>
          </a:prstGeom>
          <a:noFill/>
        </p:spPr>
        <p:txBody>
          <a:bodyPr wrap="square" lIns="45720" rIns="45720" tIns="18288" bIns="18288" anchor="t">
            <a:spAutoFit/>
          </a:bodyPr>
          <a:lstStyle/>
          <a:p>
            <a:pPr algn="l"/>
            <a:r>
              <a:rPr sz="1000" b="1" i="0">
                <a:solidFill>
                  <a:srgbClr val="1F2A44"/>
                </a:solidFill>
                <a:latin typeface="Poppins"/>
              </a:rPr>
              <a:t>■</a:t>
            </a:r>
          </a:p>
        </p:txBody>
      </p:sp>
      <p:sp>
        <p:nvSpPr>
          <p:cNvPr id="44" name="TextBox 43"/>
          <p:cNvSpPr txBox="1"/>
          <p:nvPr/>
        </p:nvSpPr>
        <p:spPr>
          <a:xfrm>
            <a:off x="4892039" y="4718304"/>
            <a:ext cx="2926079" cy="256032"/>
          </a:xfrm>
          <a:prstGeom prst="rect">
            <a:avLst/>
          </a:prstGeom>
          <a:noFill/>
        </p:spPr>
        <p:txBody>
          <a:bodyPr wrap="square" lIns="45720" rIns="45720" tIns="18288" bIns="18288" anchor="t">
            <a:spAutoFit/>
          </a:bodyPr>
          <a:lstStyle/>
          <a:p>
            <a:pPr algn="l"/>
            <a:r>
              <a:rPr sz="1000" b="0" i="0">
                <a:solidFill>
                  <a:srgbClr val="111827"/>
                </a:solidFill>
                <a:latin typeface="Poppins"/>
              </a:rPr>
              <a:t>Call-review AI scoring</a:t>
            </a:r>
          </a:p>
        </p:txBody>
      </p:sp>
      <p:sp>
        <p:nvSpPr>
          <p:cNvPr id="45" name="TextBox 44"/>
          <p:cNvSpPr txBox="1"/>
          <p:nvPr/>
        </p:nvSpPr>
        <p:spPr>
          <a:xfrm>
            <a:off x="4663439" y="4965192"/>
            <a:ext cx="182880" cy="228600"/>
          </a:xfrm>
          <a:prstGeom prst="rect">
            <a:avLst/>
          </a:prstGeom>
          <a:noFill/>
        </p:spPr>
        <p:txBody>
          <a:bodyPr wrap="square" lIns="45720" rIns="45720" tIns="18288" bIns="18288" anchor="t">
            <a:spAutoFit/>
          </a:bodyPr>
          <a:lstStyle/>
          <a:p>
            <a:pPr algn="l"/>
            <a:r>
              <a:rPr sz="1000" b="1" i="0">
                <a:solidFill>
                  <a:srgbClr val="1F2A44"/>
                </a:solidFill>
                <a:latin typeface="Poppins"/>
              </a:rPr>
              <a:t>■</a:t>
            </a:r>
          </a:p>
        </p:txBody>
      </p:sp>
      <p:sp>
        <p:nvSpPr>
          <p:cNvPr id="46" name="TextBox 45"/>
          <p:cNvSpPr txBox="1"/>
          <p:nvPr/>
        </p:nvSpPr>
        <p:spPr>
          <a:xfrm>
            <a:off x="4892039" y="4965192"/>
            <a:ext cx="2926079" cy="256032"/>
          </a:xfrm>
          <a:prstGeom prst="rect">
            <a:avLst/>
          </a:prstGeom>
          <a:noFill/>
        </p:spPr>
        <p:txBody>
          <a:bodyPr wrap="square" lIns="45720" rIns="45720" tIns="18288" bIns="18288" anchor="t">
            <a:spAutoFit/>
          </a:bodyPr>
          <a:lstStyle/>
          <a:p>
            <a:pPr algn="l"/>
            <a:r>
              <a:rPr sz="1000" b="0" i="0">
                <a:solidFill>
                  <a:srgbClr val="111827"/>
                </a:solidFill>
                <a:latin typeface="Poppins"/>
              </a:rPr>
              <a:t>SMS + email sequences (n8n)</a:t>
            </a:r>
          </a:p>
        </p:txBody>
      </p:sp>
      <p:sp>
        <p:nvSpPr>
          <p:cNvPr id="47" name="TextBox 46"/>
          <p:cNvSpPr txBox="1"/>
          <p:nvPr/>
        </p:nvSpPr>
        <p:spPr>
          <a:xfrm>
            <a:off x="4663439" y="5212080"/>
            <a:ext cx="182880" cy="228600"/>
          </a:xfrm>
          <a:prstGeom prst="rect">
            <a:avLst/>
          </a:prstGeom>
          <a:noFill/>
        </p:spPr>
        <p:txBody>
          <a:bodyPr wrap="square" lIns="45720" rIns="45720" tIns="18288" bIns="18288" anchor="t">
            <a:spAutoFit/>
          </a:bodyPr>
          <a:lstStyle/>
          <a:p>
            <a:pPr algn="l"/>
            <a:r>
              <a:rPr sz="1000" b="1" i="0">
                <a:solidFill>
                  <a:srgbClr val="1F2A44"/>
                </a:solidFill>
                <a:latin typeface="Poppins"/>
              </a:rPr>
              <a:t>■</a:t>
            </a:r>
          </a:p>
        </p:txBody>
      </p:sp>
      <p:sp>
        <p:nvSpPr>
          <p:cNvPr id="48" name="TextBox 47"/>
          <p:cNvSpPr txBox="1"/>
          <p:nvPr/>
        </p:nvSpPr>
        <p:spPr>
          <a:xfrm>
            <a:off x="4892039" y="5212080"/>
            <a:ext cx="2926079" cy="256032"/>
          </a:xfrm>
          <a:prstGeom prst="rect">
            <a:avLst/>
          </a:prstGeom>
          <a:noFill/>
        </p:spPr>
        <p:txBody>
          <a:bodyPr wrap="square" lIns="45720" rIns="45720" tIns="18288" bIns="18288" anchor="t">
            <a:spAutoFit/>
          </a:bodyPr>
          <a:lstStyle/>
          <a:p>
            <a:pPr algn="l"/>
            <a:r>
              <a:rPr sz="1000" b="0" i="0">
                <a:solidFill>
                  <a:srgbClr val="111827"/>
                </a:solidFill>
                <a:latin typeface="Poppins"/>
              </a:rPr>
              <a:t>Quarterly business review</a:t>
            </a:r>
          </a:p>
        </p:txBody>
      </p:sp>
      <p:sp>
        <p:nvSpPr>
          <p:cNvPr id="49" name="Rectangle 48"/>
          <p:cNvSpPr/>
          <p:nvPr/>
        </p:nvSpPr>
        <p:spPr>
          <a:xfrm>
            <a:off x="4343399" y="5897880"/>
            <a:ext cx="3749039" cy="5029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1999" y="5961888"/>
            <a:ext cx="3291839" cy="228600"/>
          </a:xfrm>
          <a:prstGeom prst="rect">
            <a:avLst/>
          </a:prstGeom>
          <a:noFill/>
        </p:spPr>
        <p:txBody>
          <a:bodyPr wrap="square" lIns="45720" rIns="45720" tIns="18288" bIns="18288" anchor="t">
            <a:spAutoFit/>
          </a:bodyPr>
          <a:lstStyle/>
          <a:p>
            <a:pPr algn="l"/>
            <a:r>
              <a:rPr sz="1000" b="1" i="0">
                <a:solidFill>
                  <a:srgbClr val="1F2A44"/>
                </a:solidFill>
                <a:latin typeface="Poppins"/>
              </a:rPr>
              <a:t>65–72% GM</a:t>
            </a:r>
          </a:p>
        </p:txBody>
      </p:sp>
      <p:sp>
        <p:nvSpPr>
          <p:cNvPr id="51" name="TextBox 50"/>
          <p:cNvSpPr txBox="1"/>
          <p:nvPr/>
        </p:nvSpPr>
        <p:spPr>
          <a:xfrm>
            <a:off x="4571999" y="6172200"/>
            <a:ext cx="3291839" cy="228600"/>
          </a:xfrm>
          <a:prstGeom prst="rect">
            <a:avLst/>
          </a:prstGeom>
          <a:noFill/>
        </p:spPr>
        <p:txBody>
          <a:bodyPr wrap="square" lIns="45720" rIns="45720" tIns="18288" bIns="18288" anchor="t">
            <a:spAutoFit/>
          </a:bodyPr>
          <a:lstStyle/>
          <a:p>
            <a:pPr algn="l"/>
            <a:r>
              <a:rPr sz="900" b="0" i="0">
                <a:solidFill>
                  <a:srgbClr val="4A5568"/>
                </a:solidFill>
                <a:latin typeface="Poppins"/>
              </a:rPr>
              <a:t>55% of clients · 58% of rev (Y2)</a:t>
            </a:r>
          </a:p>
        </p:txBody>
      </p:sp>
      <p:sp>
        <p:nvSpPr>
          <p:cNvPr id="52" name="Rectangle 51"/>
          <p:cNvSpPr/>
          <p:nvPr/>
        </p:nvSpPr>
        <p:spPr>
          <a:xfrm>
            <a:off x="8229598" y="1508760"/>
            <a:ext cx="3749039" cy="141732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229598" y="2926080"/>
            <a:ext cx="3749039" cy="347472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03918" y="1645920"/>
            <a:ext cx="3200399" cy="274320"/>
          </a:xfrm>
          <a:prstGeom prst="rect">
            <a:avLst/>
          </a:prstGeom>
          <a:noFill/>
        </p:spPr>
        <p:txBody>
          <a:bodyPr wrap="square" lIns="45720" rIns="45720" tIns="18288" bIns="18288" anchor="t">
            <a:spAutoFit/>
          </a:bodyPr>
          <a:lstStyle/>
          <a:p>
            <a:pPr algn="l"/>
            <a:r>
              <a:rPr sz="1000" b="1" i="0">
                <a:solidFill>
                  <a:srgbClr val="FFFFFF"/>
                </a:solidFill>
                <a:latin typeface="Poppins"/>
              </a:rPr>
              <a:t>TIER 3</a:t>
            </a:r>
          </a:p>
        </p:txBody>
      </p:sp>
      <p:sp>
        <p:nvSpPr>
          <p:cNvPr id="55" name="TextBox 54"/>
          <p:cNvSpPr txBox="1"/>
          <p:nvPr/>
        </p:nvSpPr>
        <p:spPr>
          <a:xfrm>
            <a:off x="8503918" y="1892808"/>
            <a:ext cx="3200399" cy="365760"/>
          </a:xfrm>
          <a:prstGeom prst="rect">
            <a:avLst/>
          </a:prstGeom>
          <a:noFill/>
        </p:spPr>
        <p:txBody>
          <a:bodyPr wrap="square" lIns="45720" rIns="45720" tIns="18288" bIns="18288" anchor="t">
            <a:spAutoFit/>
          </a:bodyPr>
          <a:lstStyle/>
          <a:p>
            <a:pPr algn="l"/>
            <a:r>
              <a:rPr sz="1800" b="1" i="0">
                <a:solidFill>
                  <a:srgbClr val="FFFFFF"/>
                </a:solidFill>
                <a:latin typeface="Poppins"/>
              </a:rPr>
              <a:t>Fractional VP + AI Stack</a:t>
            </a:r>
          </a:p>
        </p:txBody>
      </p:sp>
      <p:sp>
        <p:nvSpPr>
          <p:cNvPr id="56" name="TextBox 55"/>
          <p:cNvSpPr txBox="1"/>
          <p:nvPr/>
        </p:nvSpPr>
        <p:spPr>
          <a:xfrm>
            <a:off x="8503918" y="2286000"/>
            <a:ext cx="2011680" cy="457200"/>
          </a:xfrm>
          <a:prstGeom prst="rect">
            <a:avLst/>
          </a:prstGeom>
          <a:noFill/>
        </p:spPr>
        <p:txBody>
          <a:bodyPr wrap="square" lIns="45720" rIns="45720" tIns="18288" bIns="18288" anchor="t">
            <a:spAutoFit/>
          </a:bodyPr>
          <a:lstStyle/>
          <a:p>
            <a:pPr algn="l"/>
            <a:r>
              <a:rPr sz="3000" b="1" i="0">
                <a:solidFill>
                  <a:srgbClr val="FFFFFF"/>
                </a:solidFill>
                <a:latin typeface="Poppins"/>
              </a:rPr>
              <a:t>$14,997</a:t>
            </a:r>
          </a:p>
        </p:txBody>
      </p:sp>
      <p:sp>
        <p:nvSpPr>
          <p:cNvPr id="57" name="TextBox 56"/>
          <p:cNvSpPr txBox="1"/>
          <p:nvPr/>
        </p:nvSpPr>
        <p:spPr>
          <a:xfrm>
            <a:off x="8503918" y="2679192"/>
            <a:ext cx="3200399" cy="228600"/>
          </a:xfrm>
          <a:prstGeom prst="rect">
            <a:avLst/>
          </a:prstGeom>
          <a:noFill/>
        </p:spPr>
        <p:txBody>
          <a:bodyPr wrap="square" lIns="45720" rIns="45720" tIns="18288" bIns="18288" anchor="t">
            <a:spAutoFit/>
          </a:bodyPr>
          <a:lstStyle/>
          <a:p>
            <a:pPr algn="l"/>
            <a:r>
              <a:rPr sz="900" b="0" i="0">
                <a:solidFill>
                  <a:srgbClr val="FFFFFF"/>
                </a:solidFill>
                <a:latin typeface="Poppins"/>
              </a:rPr>
              <a:t>/mo + $15K onboarding  ·  12-mo min</a:t>
            </a:r>
          </a:p>
        </p:txBody>
      </p:sp>
      <p:sp>
        <p:nvSpPr>
          <p:cNvPr id="58" name="TextBox 57"/>
          <p:cNvSpPr txBox="1"/>
          <p:nvPr/>
        </p:nvSpPr>
        <p:spPr>
          <a:xfrm>
            <a:off x="8503918" y="3108960"/>
            <a:ext cx="3200399" cy="822960"/>
          </a:xfrm>
          <a:prstGeom prst="rect">
            <a:avLst/>
          </a:prstGeom>
          <a:noFill/>
        </p:spPr>
        <p:txBody>
          <a:bodyPr wrap="square" lIns="45720" rIns="45720" tIns="18288" bIns="18288" anchor="t">
            <a:spAutoFit/>
          </a:bodyPr>
          <a:lstStyle/>
          <a:p>
            <a:pPr algn="l"/>
            <a:r>
              <a:rPr sz="1000" b="0" i="1">
                <a:solidFill>
                  <a:srgbClr val="4A5568"/>
                </a:solidFill>
                <a:latin typeface="Poppins"/>
              </a:rPr>
              <a:t>Everything in T2, plus Fractional VP Sales (Rob), quarterly offsites, A-player recruiting, full AI stack integration.</a:t>
            </a:r>
          </a:p>
        </p:txBody>
      </p:sp>
      <p:sp>
        <p:nvSpPr>
          <p:cNvPr id="59" name="TextBox 58"/>
          <p:cNvSpPr txBox="1"/>
          <p:nvPr/>
        </p:nvSpPr>
        <p:spPr>
          <a:xfrm>
            <a:off x="8549638" y="3977640"/>
            <a:ext cx="182880" cy="228600"/>
          </a:xfrm>
          <a:prstGeom prst="rect">
            <a:avLst/>
          </a:prstGeom>
          <a:noFill/>
        </p:spPr>
        <p:txBody>
          <a:bodyPr wrap="square" lIns="45720" rIns="45720" tIns="18288" bIns="18288" anchor="t">
            <a:spAutoFit/>
          </a:bodyPr>
          <a:lstStyle/>
          <a:p>
            <a:pPr algn="l"/>
            <a:r>
              <a:rPr sz="1000" b="1" i="0">
                <a:solidFill>
                  <a:srgbClr val="22C55E"/>
                </a:solidFill>
                <a:latin typeface="Poppins"/>
              </a:rPr>
              <a:t>■</a:t>
            </a:r>
          </a:p>
        </p:txBody>
      </p:sp>
      <p:sp>
        <p:nvSpPr>
          <p:cNvPr id="60" name="TextBox 59"/>
          <p:cNvSpPr txBox="1"/>
          <p:nvPr/>
        </p:nvSpPr>
        <p:spPr>
          <a:xfrm>
            <a:off x="8778238" y="3977640"/>
            <a:ext cx="2926079" cy="256032"/>
          </a:xfrm>
          <a:prstGeom prst="rect">
            <a:avLst/>
          </a:prstGeom>
          <a:noFill/>
        </p:spPr>
        <p:txBody>
          <a:bodyPr wrap="square" lIns="45720" rIns="45720" tIns="18288" bIns="18288" anchor="t">
            <a:spAutoFit/>
          </a:bodyPr>
          <a:lstStyle/>
          <a:p>
            <a:pPr algn="l"/>
            <a:r>
              <a:rPr sz="1000" b="0" i="0">
                <a:solidFill>
                  <a:srgbClr val="111827"/>
                </a:solidFill>
                <a:latin typeface="Poppins"/>
              </a:rPr>
              <a:t>Rob 2 days/mo on-site</a:t>
            </a:r>
          </a:p>
        </p:txBody>
      </p:sp>
      <p:sp>
        <p:nvSpPr>
          <p:cNvPr id="61" name="TextBox 60"/>
          <p:cNvSpPr txBox="1"/>
          <p:nvPr/>
        </p:nvSpPr>
        <p:spPr>
          <a:xfrm>
            <a:off x="8549638" y="4224528"/>
            <a:ext cx="182880" cy="228600"/>
          </a:xfrm>
          <a:prstGeom prst="rect">
            <a:avLst/>
          </a:prstGeom>
          <a:noFill/>
        </p:spPr>
        <p:txBody>
          <a:bodyPr wrap="square" lIns="45720" rIns="45720" tIns="18288" bIns="18288" anchor="t">
            <a:spAutoFit/>
          </a:bodyPr>
          <a:lstStyle/>
          <a:p>
            <a:pPr algn="l"/>
            <a:r>
              <a:rPr sz="1000" b="1" i="0">
                <a:solidFill>
                  <a:srgbClr val="22C55E"/>
                </a:solidFill>
                <a:latin typeface="Poppins"/>
              </a:rPr>
              <a:t>■</a:t>
            </a:r>
          </a:p>
        </p:txBody>
      </p:sp>
      <p:sp>
        <p:nvSpPr>
          <p:cNvPr id="62" name="TextBox 61"/>
          <p:cNvSpPr txBox="1"/>
          <p:nvPr/>
        </p:nvSpPr>
        <p:spPr>
          <a:xfrm>
            <a:off x="8778238" y="4224528"/>
            <a:ext cx="2926079" cy="256032"/>
          </a:xfrm>
          <a:prstGeom prst="rect">
            <a:avLst/>
          </a:prstGeom>
          <a:noFill/>
        </p:spPr>
        <p:txBody>
          <a:bodyPr wrap="square" lIns="45720" rIns="45720" tIns="18288" bIns="18288" anchor="t">
            <a:spAutoFit/>
          </a:bodyPr>
          <a:lstStyle/>
          <a:p>
            <a:pPr algn="l"/>
            <a:r>
              <a:rPr sz="1000" b="0" i="0">
                <a:solidFill>
                  <a:srgbClr val="111827"/>
                </a:solidFill>
                <a:latin typeface="Poppins"/>
              </a:rPr>
              <a:t>Quarterly 2-day offsite</a:t>
            </a:r>
          </a:p>
        </p:txBody>
      </p:sp>
      <p:sp>
        <p:nvSpPr>
          <p:cNvPr id="63" name="TextBox 62"/>
          <p:cNvSpPr txBox="1"/>
          <p:nvPr/>
        </p:nvSpPr>
        <p:spPr>
          <a:xfrm>
            <a:off x="8549638" y="4471416"/>
            <a:ext cx="182880" cy="228600"/>
          </a:xfrm>
          <a:prstGeom prst="rect">
            <a:avLst/>
          </a:prstGeom>
          <a:noFill/>
        </p:spPr>
        <p:txBody>
          <a:bodyPr wrap="square" lIns="45720" rIns="45720" tIns="18288" bIns="18288" anchor="t">
            <a:spAutoFit/>
          </a:bodyPr>
          <a:lstStyle/>
          <a:p>
            <a:pPr algn="l"/>
            <a:r>
              <a:rPr sz="1000" b="1" i="0">
                <a:solidFill>
                  <a:srgbClr val="22C55E"/>
                </a:solidFill>
                <a:latin typeface="Poppins"/>
              </a:rPr>
              <a:t>■</a:t>
            </a:r>
          </a:p>
        </p:txBody>
      </p:sp>
      <p:sp>
        <p:nvSpPr>
          <p:cNvPr id="64" name="TextBox 63"/>
          <p:cNvSpPr txBox="1"/>
          <p:nvPr/>
        </p:nvSpPr>
        <p:spPr>
          <a:xfrm>
            <a:off x="8778238" y="4471416"/>
            <a:ext cx="2926079" cy="256032"/>
          </a:xfrm>
          <a:prstGeom prst="rect">
            <a:avLst/>
          </a:prstGeom>
          <a:noFill/>
        </p:spPr>
        <p:txBody>
          <a:bodyPr wrap="square" lIns="45720" rIns="45720" tIns="18288" bIns="18288" anchor="t">
            <a:spAutoFit/>
          </a:bodyPr>
          <a:lstStyle/>
          <a:p>
            <a:pPr algn="l"/>
            <a:r>
              <a:rPr sz="1000" b="0" i="0">
                <a:solidFill>
                  <a:srgbClr val="111827"/>
                </a:solidFill>
                <a:latin typeface="Poppins"/>
              </a:rPr>
              <a:t>2 A-player placements/yr</a:t>
            </a:r>
          </a:p>
        </p:txBody>
      </p:sp>
      <p:sp>
        <p:nvSpPr>
          <p:cNvPr id="65" name="TextBox 64"/>
          <p:cNvSpPr txBox="1"/>
          <p:nvPr/>
        </p:nvSpPr>
        <p:spPr>
          <a:xfrm>
            <a:off x="8549638" y="4718304"/>
            <a:ext cx="182880" cy="228600"/>
          </a:xfrm>
          <a:prstGeom prst="rect">
            <a:avLst/>
          </a:prstGeom>
          <a:noFill/>
        </p:spPr>
        <p:txBody>
          <a:bodyPr wrap="square" lIns="45720" rIns="45720" tIns="18288" bIns="18288" anchor="t">
            <a:spAutoFit/>
          </a:bodyPr>
          <a:lstStyle/>
          <a:p>
            <a:pPr algn="l"/>
            <a:r>
              <a:rPr sz="1000" b="1" i="0">
                <a:solidFill>
                  <a:srgbClr val="22C55E"/>
                </a:solidFill>
                <a:latin typeface="Poppins"/>
              </a:rPr>
              <a:t>■</a:t>
            </a:r>
          </a:p>
        </p:txBody>
      </p:sp>
      <p:sp>
        <p:nvSpPr>
          <p:cNvPr id="66" name="TextBox 65"/>
          <p:cNvSpPr txBox="1"/>
          <p:nvPr/>
        </p:nvSpPr>
        <p:spPr>
          <a:xfrm>
            <a:off x="8778238" y="4718304"/>
            <a:ext cx="2926079" cy="256032"/>
          </a:xfrm>
          <a:prstGeom prst="rect">
            <a:avLst/>
          </a:prstGeom>
          <a:noFill/>
        </p:spPr>
        <p:txBody>
          <a:bodyPr wrap="square" lIns="45720" rIns="45720" tIns="18288" bIns="18288" anchor="t">
            <a:spAutoFit/>
          </a:bodyPr>
          <a:lstStyle/>
          <a:p>
            <a:pPr algn="l"/>
            <a:r>
              <a:rPr sz="1000" b="0" i="0">
                <a:solidFill>
                  <a:srgbClr val="111827"/>
                </a:solidFill>
                <a:latin typeface="Poppins"/>
              </a:rPr>
              <a:t>Close/GHL/HubSpot + n8n</a:t>
            </a:r>
          </a:p>
        </p:txBody>
      </p:sp>
      <p:sp>
        <p:nvSpPr>
          <p:cNvPr id="67" name="TextBox 66"/>
          <p:cNvSpPr txBox="1"/>
          <p:nvPr/>
        </p:nvSpPr>
        <p:spPr>
          <a:xfrm>
            <a:off x="8549638" y="4965192"/>
            <a:ext cx="182880" cy="228600"/>
          </a:xfrm>
          <a:prstGeom prst="rect">
            <a:avLst/>
          </a:prstGeom>
          <a:noFill/>
        </p:spPr>
        <p:txBody>
          <a:bodyPr wrap="square" lIns="45720" rIns="45720" tIns="18288" bIns="18288" anchor="t">
            <a:spAutoFit/>
          </a:bodyPr>
          <a:lstStyle/>
          <a:p>
            <a:pPr algn="l"/>
            <a:r>
              <a:rPr sz="1000" b="1" i="0">
                <a:solidFill>
                  <a:srgbClr val="22C55E"/>
                </a:solidFill>
                <a:latin typeface="Poppins"/>
              </a:rPr>
              <a:t>■</a:t>
            </a:r>
          </a:p>
        </p:txBody>
      </p:sp>
      <p:sp>
        <p:nvSpPr>
          <p:cNvPr id="68" name="TextBox 67"/>
          <p:cNvSpPr txBox="1"/>
          <p:nvPr/>
        </p:nvSpPr>
        <p:spPr>
          <a:xfrm>
            <a:off x="8778238" y="4965192"/>
            <a:ext cx="2926079" cy="256032"/>
          </a:xfrm>
          <a:prstGeom prst="rect">
            <a:avLst/>
          </a:prstGeom>
          <a:noFill/>
        </p:spPr>
        <p:txBody>
          <a:bodyPr wrap="square" lIns="45720" rIns="45720" tIns="18288" bIns="18288" anchor="t">
            <a:spAutoFit/>
          </a:bodyPr>
          <a:lstStyle/>
          <a:p>
            <a:pPr algn="l"/>
            <a:r>
              <a:rPr sz="1000" b="0" i="0">
                <a:solidFill>
                  <a:srgbClr val="111827"/>
                </a:solidFill>
                <a:latin typeface="Poppins"/>
              </a:rPr>
              <a:t>Hiring + ramp playbook</a:t>
            </a:r>
          </a:p>
        </p:txBody>
      </p:sp>
      <p:sp>
        <p:nvSpPr>
          <p:cNvPr id="69" name="TextBox 68"/>
          <p:cNvSpPr txBox="1"/>
          <p:nvPr/>
        </p:nvSpPr>
        <p:spPr>
          <a:xfrm>
            <a:off x="8549638" y="5212080"/>
            <a:ext cx="182880" cy="228600"/>
          </a:xfrm>
          <a:prstGeom prst="rect">
            <a:avLst/>
          </a:prstGeom>
          <a:noFill/>
        </p:spPr>
        <p:txBody>
          <a:bodyPr wrap="square" lIns="45720" rIns="45720" tIns="18288" bIns="18288" anchor="t">
            <a:spAutoFit/>
          </a:bodyPr>
          <a:lstStyle/>
          <a:p>
            <a:pPr algn="l"/>
            <a:r>
              <a:rPr sz="1000" b="1" i="0">
                <a:solidFill>
                  <a:srgbClr val="22C55E"/>
                </a:solidFill>
                <a:latin typeface="Poppins"/>
              </a:rPr>
              <a:t>■</a:t>
            </a:r>
          </a:p>
        </p:txBody>
      </p:sp>
      <p:sp>
        <p:nvSpPr>
          <p:cNvPr id="70" name="TextBox 69"/>
          <p:cNvSpPr txBox="1"/>
          <p:nvPr/>
        </p:nvSpPr>
        <p:spPr>
          <a:xfrm>
            <a:off x="8778238" y="5212080"/>
            <a:ext cx="2926079" cy="256032"/>
          </a:xfrm>
          <a:prstGeom prst="rect">
            <a:avLst/>
          </a:prstGeom>
          <a:noFill/>
        </p:spPr>
        <p:txBody>
          <a:bodyPr wrap="square" lIns="45720" rIns="45720" tIns="18288" bIns="18288" anchor="t">
            <a:spAutoFit/>
          </a:bodyPr>
          <a:lstStyle/>
          <a:p>
            <a:pPr algn="l"/>
            <a:r>
              <a:rPr sz="1000" b="0" i="0">
                <a:solidFill>
                  <a:srgbClr val="111827"/>
                </a:solidFill>
                <a:latin typeface="Poppins"/>
              </a:rPr>
              <a:t>Monthly QBR with owner</a:t>
            </a:r>
          </a:p>
        </p:txBody>
      </p:sp>
      <p:sp>
        <p:nvSpPr>
          <p:cNvPr id="71" name="TextBox 70"/>
          <p:cNvSpPr txBox="1"/>
          <p:nvPr/>
        </p:nvSpPr>
        <p:spPr>
          <a:xfrm>
            <a:off x="8549638" y="5458968"/>
            <a:ext cx="182880" cy="228600"/>
          </a:xfrm>
          <a:prstGeom prst="rect">
            <a:avLst/>
          </a:prstGeom>
          <a:noFill/>
        </p:spPr>
        <p:txBody>
          <a:bodyPr wrap="square" lIns="45720" rIns="45720" tIns="18288" bIns="18288" anchor="t">
            <a:spAutoFit/>
          </a:bodyPr>
          <a:lstStyle/>
          <a:p>
            <a:pPr algn="l"/>
            <a:r>
              <a:rPr sz="1000" b="1" i="0">
                <a:solidFill>
                  <a:srgbClr val="22C55E"/>
                </a:solidFill>
                <a:latin typeface="Poppins"/>
              </a:rPr>
              <a:t>■</a:t>
            </a:r>
          </a:p>
        </p:txBody>
      </p:sp>
      <p:sp>
        <p:nvSpPr>
          <p:cNvPr id="72" name="TextBox 71"/>
          <p:cNvSpPr txBox="1"/>
          <p:nvPr/>
        </p:nvSpPr>
        <p:spPr>
          <a:xfrm>
            <a:off x="8778238" y="5458968"/>
            <a:ext cx="2926079" cy="256032"/>
          </a:xfrm>
          <a:prstGeom prst="rect">
            <a:avLst/>
          </a:prstGeom>
          <a:noFill/>
        </p:spPr>
        <p:txBody>
          <a:bodyPr wrap="square" lIns="45720" rIns="45720" tIns="18288" bIns="18288" anchor="t">
            <a:spAutoFit/>
          </a:bodyPr>
          <a:lstStyle/>
          <a:p>
            <a:pPr algn="l"/>
            <a:r>
              <a:rPr sz="1000" b="0" i="0">
                <a:solidFill>
                  <a:srgbClr val="111827"/>
                </a:solidFill>
                <a:latin typeface="Poppins"/>
              </a:rPr>
              <a:t>Priority support</a:t>
            </a:r>
          </a:p>
        </p:txBody>
      </p:sp>
      <p:sp>
        <p:nvSpPr>
          <p:cNvPr id="73" name="Rectangle 72"/>
          <p:cNvSpPr/>
          <p:nvPr/>
        </p:nvSpPr>
        <p:spPr>
          <a:xfrm>
            <a:off x="8229598" y="5897880"/>
            <a:ext cx="3749039" cy="5029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58198" y="5961888"/>
            <a:ext cx="3291839" cy="228600"/>
          </a:xfrm>
          <a:prstGeom prst="rect">
            <a:avLst/>
          </a:prstGeom>
          <a:noFill/>
        </p:spPr>
        <p:txBody>
          <a:bodyPr wrap="square" lIns="45720" rIns="45720" tIns="18288" bIns="18288" anchor="t">
            <a:spAutoFit/>
          </a:bodyPr>
          <a:lstStyle/>
          <a:p>
            <a:pPr algn="l"/>
            <a:r>
              <a:rPr sz="1000" b="1" i="0">
                <a:solidFill>
                  <a:srgbClr val="1F2A44"/>
                </a:solidFill>
                <a:latin typeface="Poppins"/>
              </a:rPr>
              <a:t>45–55% GM</a:t>
            </a:r>
          </a:p>
        </p:txBody>
      </p:sp>
      <p:sp>
        <p:nvSpPr>
          <p:cNvPr id="75" name="TextBox 74"/>
          <p:cNvSpPr txBox="1"/>
          <p:nvPr/>
        </p:nvSpPr>
        <p:spPr>
          <a:xfrm>
            <a:off x="8458198" y="6172200"/>
            <a:ext cx="3291839" cy="228600"/>
          </a:xfrm>
          <a:prstGeom prst="rect">
            <a:avLst/>
          </a:prstGeom>
          <a:noFill/>
        </p:spPr>
        <p:txBody>
          <a:bodyPr wrap="square" lIns="45720" rIns="45720" tIns="18288" bIns="18288" anchor="t">
            <a:spAutoFit/>
          </a:bodyPr>
          <a:lstStyle/>
          <a:p>
            <a:pPr algn="l"/>
            <a:r>
              <a:rPr sz="900" b="0" i="0">
                <a:solidFill>
                  <a:srgbClr val="4A5568"/>
                </a:solidFill>
                <a:latin typeface="Poppins"/>
              </a:rPr>
              <a:t>15% of clients · 30% of rev (Y2)</a:t>
            </a:r>
          </a:p>
        </p:txBody>
      </p:sp>
      <p:sp>
        <p:nvSpPr>
          <p:cNvPr id="76" name="TextBox 75"/>
          <p:cNvSpPr txBox="1"/>
          <p:nvPr/>
        </p:nvSpPr>
        <p:spPr>
          <a:xfrm>
            <a:off x="457200" y="6446520"/>
            <a:ext cx="11247120" cy="274320"/>
          </a:xfrm>
          <a:prstGeom prst="rect">
            <a:avLst/>
          </a:prstGeom>
          <a:noFill/>
        </p:spPr>
        <p:txBody>
          <a:bodyPr wrap="square" lIns="45720" rIns="45720" tIns="18288" bIns="18288" anchor="t">
            <a:spAutoFit/>
          </a:bodyPr>
          <a:lstStyle/>
          <a:p>
            <a:pPr algn="ctr"/>
            <a:r>
              <a:rPr sz="1000" b="0" i="1">
                <a:solidFill>
                  <a:srgbClr val="4A5568"/>
                </a:solidFill>
                <a:latin typeface="Poppins"/>
              </a:rPr>
              <a:t>Blended ARPU target $5,800/mo  ·  Blended GM target 68%  ·  Clinic metaphor extends Exam → Prescription → Treatment.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45720" rIns="45720" tIns="18288" bIns="18288" anchor="t">
            <a:spAutoFit/>
          </a:bodyPr>
          <a:lstStyle/>
          <a:p>
            <a:pPr algn="l"/>
            <a:r>
              <a:rPr sz="1000" b="1" i="0">
                <a:solidFill>
                  <a:srgbClr val="00A3E0"/>
                </a:solidFill>
                <a:latin typeface="Poppins"/>
              </a:rPr>
              <a:t>07 · TECH STACK</a:t>
            </a:r>
          </a:p>
        </p:txBody>
      </p:sp>
      <p:sp>
        <p:nvSpPr>
          <p:cNvPr id="4" name="TextBox 3"/>
          <p:cNvSpPr txBox="1"/>
          <p:nvPr/>
        </p:nvSpPr>
        <p:spPr>
          <a:xfrm>
            <a:off x="457200" y="594360"/>
            <a:ext cx="11247120" cy="640080"/>
          </a:xfrm>
          <a:prstGeom prst="rect">
            <a:avLst/>
          </a:prstGeom>
          <a:noFill/>
        </p:spPr>
        <p:txBody>
          <a:bodyPr wrap="square" lIns="45720" rIns="45720" tIns="18288" bIns="18288" anchor="t">
            <a:spAutoFit/>
          </a:bodyPr>
          <a:lstStyle/>
          <a:p>
            <a:pPr algn="l"/>
            <a:r>
              <a:rPr sz="2800" b="1" i="0">
                <a:solidFill>
                  <a:srgbClr val="1F2A44"/>
                </a:solidFill>
                <a:latin typeface="Poppins"/>
              </a:rPr>
              <a:t>Layered AI infrastructure. Every call, every lead, every client.</a:t>
            </a:r>
          </a:p>
        </p:txBody>
      </p:sp>
      <p:sp>
        <p:nvSpPr>
          <p:cNvPr id="5" name="Rectangle 4"/>
          <p:cNvSpPr/>
          <p:nvPr/>
        </p:nvSpPr>
        <p:spPr>
          <a:xfrm>
            <a:off x="457200" y="1234440"/>
            <a:ext cx="914400" cy="4572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320040"/>
            <a:ext cx="640080" cy="274320"/>
          </a:xfrm>
          <a:prstGeom prst="rect">
            <a:avLst/>
          </a:prstGeom>
          <a:noFill/>
        </p:spPr>
        <p:txBody>
          <a:bodyPr wrap="square" lIns="45720" rIns="45720" tIns="18288" bIns="18288" anchor="t">
            <a:spAutoFit/>
          </a:bodyPr>
          <a:lstStyle/>
          <a:p>
            <a:pPr algn="r"/>
            <a:r>
              <a:rPr sz="900" b="1" i="0">
                <a:solidFill>
                  <a:srgbClr val="4A5568"/>
                </a:solidFill>
                <a:latin typeface="Poppins"/>
              </a:rPr>
              <a:t>8 / 18</a:t>
            </a:r>
          </a:p>
        </p:txBody>
      </p:sp>
      <p:sp>
        <p:nvSpPr>
          <p:cNvPr id="7" name="Rectangle 6"/>
          <p:cNvSpPr/>
          <p:nvPr/>
        </p:nvSpPr>
        <p:spPr>
          <a:xfrm>
            <a:off x="0" y="6720840"/>
            <a:ext cx="12191695" cy="1371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492240"/>
            <a:ext cx="3657600" cy="274320"/>
          </a:xfrm>
          <a:prstGeom prst="rect">
            <a:avLst/>
          </a:prstGeom>
          <a:noFill/>
        </p:spPr>
        <p:txBody>
          <a:bodyPr wrap="square" lIns="45720" rIns="45720" tIns="18288" bIns="18288" anchor="t">
            <a:spAutoFit/>
          </a:bodyPr>
          <a:lstStyle/>
          <a:p>
            <a:pPr algn="l"/>
            <a:r>
              <a:rPr sz="800" b="1" i="0">
                <a:solidFill>
                  <a:srgbClr val="1F2A44"/>
                </a:solidFill>
                <a:latin typeface="Poppins"/>
              </a:rPr>
              <a:t>CLOSECLINIC</a:t>
            </a:r>
          </a:p>
        </p:txBody>
      </p:sp>
      <p:sp>
        <p:nvSpPr>
          <p:cNvPr id="9" name="TextBox 8"/>
          <p:cNvSpPr txBox="1"/>
          <p:nvPr/>
        </p:nvSpPr>
        <p:spPr>
          <a:xfrm>
            <a:off x="6400800" y="6492240"/>
            <a:ext cx="5486400" cy="274320"/>
          </a:xfrm>
          <a:prstGeom prst="rect">
            <a:avLst/>
          </a:prstGeom>
          <a:noFill/>
        </p:spPr>
        <p:txBody>
          <a:bodyPr wrap="square" lIns="45720" rIns="45720" tIns="18288" bIns="18288" anchor="t">
            <a:spAutoFit/>
          </a:bodyPr>
          <a:lstStyle/>
          <a:p>
            <a:pPr algn="r"/>
            <a:r>
              <a:rPr sz="800" b="0" i="0">
                <a:solidFill>
                  <a:srgbClr val="4A5568"/>
                </a:solidFill>
                <a:latin typeface="Poppins"/>
              </a:rPr>
              <a:t>CloseClinic · Launch Plan · 2026-04-21 · p.8</a:t>
            </a:r>
          </a:p>
        </p:txBody>
      </p:sp>
      <p:sp>
        <p:nvSpPr>
          <p:cNvPr id="10" name="Rectangle 9"/>
          <p:cNvSpPr/>
          <p:nvPr/>
        </p:nvSpPr>
        <p:spPr>
          <a:xfrm>
            <a:off x="457200" y="1554480"/>
            <a:ext cx="137160" cy="77724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1554480"/>
            <a:ext cx="7772400" cy="77724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627632"/>
            <a:ext cx="2286000" cy="228600"/>
          </a:xfrm>
          <a:prstGeom prst="rect">
            <a:avLst/>
          </a:prstGeom>
          <a:noFill/>
        </p:spPr>
        <p:txBody>
          <a:bodyPr wrap="square" lIns="45720" rIns="45720" tIns="18288" bIns="18288" anchor="t">
            <a:spAutoFit/>
          </a:bodyPr>
          <a:lstStyle/>
          <a:p>
            <a:pPr algn="l"/>
            <a:r>
              <a:rPr sz="900" b="1" i="0">
                <a:solidFill>
                  <a:srgbClr val="00A3E0"/>
                </a:solidFill>
                <a:latin typeface="Poppins"/>
              </a:rPr>
              <a:t>VOICE AI LAYER</a:t>
            </a:r>
          </a:p>
        </p:txBody>
      </p:sp>
      <p:sp>
        <p:nvSpPr>
          <p:cNvPr id="13" name="TextBox 12"/>
          <p:cNvSpPr txBox="1"/>
          <p:nvPr/>
        </p:nvSpPr>
        <p:spPr>
          <a:xfrm>
            <a:off x="777240" y="1847088"/>
            <a:ext cx="7498079" cy="274320"/>
          </a:xfrm>
          <a:prstGeom prst="rect">
            <a:avLst/>
          </a:prstGeom>
          <a:noFill/>
        </p:spPr>
        <p:txBody>
          <a:bodyPr wrap="square" lIns="45720" rIns="45720" tIns="18288" bIns="18288" anchor="t">
            <a:spAutoFit/>
          </a:bodyPr>
          <a:lstStyle/>
          <a:p>
            <a:pPr algn="l"/>
            <a:r>
              <a:rPr sz="1400" b="1" i="0">
                <a:solidFill>
                  <a:srgbClr val="1F2A44"/>
                </a:solidFill>
                <a:latin typeface="Poppins"/>
              </a:rPr>
              <a:t>Synthflow  +  Retell (premium tier)  +  ElevenLabs (flagship)</a:t>
            </a:r>
          </a:p>
        </p:txBody>
      </p:sp>
      <p:sp>
        <p:nvSpPr>
          <p:cNvPr id="14" name="TextBox 13"/>
          <p:cNvSpPr txBox="1"/>
          <p:nvPr/>
        </p:nvSpPr>
        <p:spPr>
          <a:xfrm>
            <a:off x="777240" y="2103120"/>
            <a:ext cx="7498079" cy="228600"/>
          </a:xfrm>
          <a:prstGeom prst="rect">
            <a:avLst/>
          </a:prstGeom>
          <a:noFill/>
        </p:spPr>
        <p:txBody>
          <a:bodyPr wrap="square" lIns="45720" rIns="45720" tIns="18288" bIns="18288" anchor="t">
            <a:spAutoFit/>
          </a:bodyPr>
          <a:lstStyle/>
          <a:p>
            <a:pPr algn="l"/>
            <a:r>
              <a:rPr sz="900" b="0" i="0">
                <a:solidFill>
                  <a:srgbClr val="4A5568"/>
                </a:solidFill>
                <a:latin typeface="Poppins"/>
              </a:rPr>
              <a:t>$399/mo agency + $0.09/min  //  GHL-native, roofing templates, 2–3 day build per client</a:t>
            </a:r>
          </a:p>
        </p:txBody>
      </p:sp>
      <p:sp>
        <p:nvSpPr>
          <p:cNvPr id="15" name="Down Arrow 14"/>
          <p:cNvSpPr/>
          <p:nvPr/>
        </p:nvSpPr>
        <p:spPr>
          <a:xfrm>
            <a:off x="4251960" y="2313432"/>
            <a:ext cx="365760" cy="128016"/>
          </a:xfrm>
          <a:prstGeom prst="downArrow">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441448"/>
            <a:ext cx="137160" cy="77724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 y="2441448"/>
            <a:ext cx="7772400" cy="77724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514600"/>
            <a:ext cx="2286000" cy="228600"/>
          </a:xfrm>
          <a:prstGeom prst="rect">
            <a:avLst/>
          </a:prstGeom>
          <a:noFill/>
        </p:spPr>
        <p:txBody>
          <a:bodyPr wrap="square" lIns="45720" rIns="45720" tIns="18288" bIns="18288" anchor="t">
            <a:spAutoFit/>
          </a:bodyPr>
          <a:lstStyle/>
          <a:p>
            <a:pPr algn="l"/>
            <a:r>
              <a:rPr sz="900" b="1" i="0">
                <a:solidFill>
                  <a:srgbClr val="1F2A44"/>
                </a:solidFill>
                <a:latin typeface="Poppins"/>
              </a:rPr>
              <a:t>CHAT AI LAYER</a:t>
            </a:r>
          </a:p>
        </p:txBody>
      </p:sp>
      <p:sp>
        <p:nvSpPr>
          <p:cNvPr id="19" name="TextBox 18"/>
          <p:cNvSpPr txBox="1"/>
          <p:nvPr/>
        </p:nvSpPr>
        <p:spPr>
          <a:xfrm>
            <a:off x="777240" y="2734056"/>
            <a:ext cx="7498079" cy="274320"/>
          </a:xfrm>
          <a:prstGeom prst="rect">
            <a:avLst/>
          </a:prstGeom>
          <a:noFill/>
        </p:spPr>
        <p:txBody>
          <a:bodyPr wrap="square" lIns="45720" rIns="45720" tIns="18288" bIns="18288" anchor="t">
            <a:spAutoFit/>
          </a:bodyPr>
          <a:lstStyle/>
          <a:p>
            <a:pPr algn="l"/>
            <a:r>
              <a:rPr sz="1400" b="1" i="0">
                <a:solidFill>
                  <a:srgbClr val="1F2A44"/>
                </a:solidFill>
                <a:latin typeface="Poppins"/>
              </a:rPr>
              <a:t>Chatbase Agency</a:t>
            </a:r>
          </a:p>
        </p:txBody>
      </p:sp>
      <p:sp>
        <p:nvSpPr>
          <p:cNvPr id="20" name="TextBox 19"/>
          <p:cNvSpPr txBox="1"/>
          <p:nvPr/>
        </p:nvSpPr>
        <p:spPr>
          <a:xfrm>
            <a:off x="777240" y="2990088"/>
            <a:ext cx="7498079" cy="228600"/>
          </a:xfrm>
          <a:prstGeom prst="rect">
            <a:avLst/>
          </a:prstGeom>
          <a:noFill/>
        </p:spPr>
        <p:txBody>
          <a:bodyPr wrap="square" lIns="45720" rIns="45720" tIns="18288" bIns="18288" anchor="t">
            <a:spAutoFit/>
          </a:bodyPr>
          <a:lstStyle/>
          <a:p>
            <a:pPr algn="l"/>
            <a:r>
              <a:rPr sz="900" b="0" i="0">
                <a:solidFill>
                  <a:srgbClr val="4A5568"/>
                </a:solidFill>
                <a:latin typeface="Poppins"/>
              </a:rPr>
              <a:t>$500/mo · unlimited bots  //  White-label, embedded on client website, books appointments</a:t>
            </a:r>
          </a:p>
        </p:txBody>
      </p:sp>
      <p:sp>
        <p:nvSpPr>
          <p:cNvPr id="21" name="Down Arrow 20"/>
          <p:cNvSpPr/>
          <p:nvPr/>
        </p:nvSpPr>
        <p:spPr>
          <a:xfrm>
            <a:off x="4251960" y="3200400"/>
            <a:ext cx="365760" cy="128016"/>
          </a:xfrm>
          <a:prstGeom prst="downArrow">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328416"/>
            <a:ext cx="137160" cy="77724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94360" y="3328416"/>
            <a:ext cx="7772400" cy="77724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401568"/>
            <a:ext cx="2286000" cy="228600"/>
          </a:xfrm>
          <a:prstGeom prst="rect">
            <a:avLst/>
          </a:prstGeom>
          <a:noFill/>
        </p:spPr>
        <p:txBody>
          <a:bodyPr wrap="square" lIns="45720" rIns="45720" tIns="18288" bIns="18288" anchor="t">
            <a:spAutoFit/>
          </a:bodyPr>
          <a:lstStyle/>
          <a:p>
            <a:pPr algn="l"/>
            <a:r>
              <a:rPr sz="900" b="1" i="0">
                <a:solidFill>
                  <a:srgbClr val="22C55E"/>
                </a:solidFill>
                <a:latin typeface="Poppins"/>
              </a:rPr>
              <a:t>ORCHESTRATION LAYER</a:t>
            </a:r>
          </a:p>
        </p:txBody>
      </p:sp>
      <p:sp>
        <p:nvSpPr>
          <p:cNvPr id="25" name="TextBox 24"/>
          <p:cNvSpPr txBox="1"/>
          <p:nvPr/>
        </p:nvSpPr>
        <p:spPr>
          <a:xfrm>
            <a:off x="777240" y="3621024"/>
            <a:ext cx="7498079" cy="274320"/>
          </a:xfrm>
          <a:prstGeom prst="rect">
            <a:avLst/>
          </a:prstGeom>
          <a:noFill/>
        </p:spPr>
        <p:txBody>
          <a:bodyPr wrap="square" lIns="45720" rIns="45720" tIns="18288" bIns="18288" anchor="t">
            <a:spAutoFit/>
          </a:bodyPr>
          <a:lstStyle/>
          <a:p>
            <a:pPr algn="l"/>
            <a:r>
              <a:rPr sz="1400" b="1" i="0">
                <a:solidFill>
                  <a:srgbClr val="1F2A44"/>
                </a:solidFill>
                <a:latin typeface="Poppins"/>
              </a:rPr>
              <a:t>n8n (self-hosted on Hetzner)</a:t>
            </a:r>
          </a:p>
        </p:txBody>
      </p:sp>
      <p:sp>
        <p:nvSpPr>
          <p:cNvPr id="26" name="TextBox 25"/>
          <p:cNvSpPr txBox="1"/>
          <p:nvPr/>
        </p:nvSpPr>
        <p:spPr>
          <a:xfrm>
            <a:off x="777240" y="3877056"/>
            <a:ext cx="7498079" cy="228600"/>
          </a:xfrm>
          <a:prstGeom prst="rect">
            <a:avLst/>
          </a:prstGeom>
          <a:noFill/>
        </p:spPr>
        <p:txBody>
          <a:bodyPr wrap="square" lIns="45720" rIns="45720" tIns="18288" bIns="18288" anchor="t">
            <a:spAutoFit/>
          </a:bodyPr>
          <a:lstStyle/>
          <a:p>
            <a:pPr algn="l"/>
            <a:r>
              <a:rPr sz="900" b="0" i="0">
                <a:solidFill>
                  <a:srgbClr val="4A5568"/>
                </a:solidFill>
                <a:latin typeface="Poppins"/>
              </a:rPr>
              <a:t>$20/mo infra  //  Rob already owns it. Infinite operations. Connects every system.</a:t>
            </a:r>
          </a:p>
        </p:txBody>
      </p:sp>
      <p:sp>
        <p:nvSpPr>
          <p:cNvPr id="27" name="Down Arrow 26"/>
          <p:cNvSpPr/>
          <p:nvPr/>
        </p:nvSpPr>
        <p:spPr>
          <a:xfrm>
            <a:off x="4251960" y="4087368"/>
            <a:ext cx="365760" cy="128016"/>
          </a:xfrm>
          <a:prstGeom prst="downArrow">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4215384"/>
            <a:ext cx="137160"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94360" y="4215384"/>
            <a:ext cx="7772400" cy="77724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288536"/>
            <a:ext cx="2286000" cy="228600"/>
          </a:xfrm>
          <a:prstGeom prst="rect">
            <a:avLst/>
          </a:prstGeom>
          <a:noFill/>
        </p:spPr>
        <p:txBody>
          <a:bodyPr wrap="square" lIns="45720" rIns="45720" tIns="18288" bIns="18288" anchor="t">
            <a:spAutoFit/>
          </a:bodyPr>
          <a:lstStyle/>
          <a:p>
            <a:pPr algn="l"/>
            <a:r>
              <a:rPr sz="900" b="1" i="0">
                <a:solidFill>
                  <a:srgbClr val="F59E0B"/>
                </a:solidFill>
                <a:latin typeface="Poppins"/>
              </a:rPr>
              <a:t>TELEPHONY LAYER</a:t>
            </a:r>
          </a:p>
        </p:txBody>
      </p:sp>
      <p:sp>
        <p:nvSpPr>
          <p:cNvPr id="31" name="TextBox 30"/>
          <p:cNvSpPr txBox="1"/>
          <p:nvPr/>
        </p:nvSpPr>
        <p:spPr>
          <a:xfrm>
            <a:off x="777240" y="4507992"/>
            <a:ext cx="7498079" cy="274320"/>
          </a:xfrm>
          <a:prstGeom prst="rect">
            <a:avLst/>
          </a:prstGeom>
          <a:noFill/>
        </p:spPr>
        <p:txBody>
          <a:bodyPr wrap="square" lIns="45720" rIns="45720" tIns="18288" bIns="18288" anchor="t">
            <a:spAutoFit/>
          </a:bodyPr>
          <a:lstStyle/>
          <a:p>
            <a:pPr algn="l"/>
            <a:r>
              <a:rPr sz="1400" b="1" i="0">
                <a:solidFill>
                  <a:srgbClr val="1F2A44"/>
                </a:solidFill>
                <a:latin typeface="Poppins"/>
              </a:rPr>
              <a:t>Twilio</a:t>
            </a:r>
          </a:p>
        </p:txBody>
      </p:sp>
      <p:sp>
        <p:nvSpPr>
          <p:cNvPr id="32" name="TextBox 31"/>
          <p:cNvSpPr txBox="1"/>
          <p:nvPr/>
        </p:nvSpPr>
        <p:spPr>
          <a:xfrm>
            <a:off x="777240" y="4764024"/>
            <a:ext cx="7498079" cy="228600"/>
          </a:xfrm>
          <a:prstGeom prst="rect">
            <a:avLst/>
          </a:prstGeom>
          <a:noFill/>
        </p:spPr>
        <p:txBody>
          <a:bodyPr wrap="square" lIns="45720" rIns="45720" tIns="18288" bIns="18288" anchor="t">
            <a:spAutoFit/>
          </a:bodyPr>
          <a:lstStyle/>
          <a:p>
            <a:pPr algn="l"/>
            <a:r>
              <a:rPr sz="900" b="0" i="0">
                <a:solidFill>
                  <a:srgbClr val="4A5568"/>
                </a:solidFill>
                <a:latin typeface="Poppins"/>
              </a:rPr>
              <a:t>~$0.014/min + $5/number  //  A2P 10DLC compliance. Number porting. SMS.</a:t>
            </a:r>
          </a:p>
        </p:txBody>
      </p:sp>
      <p:sp>
        <p:nvSpPr>
          <p:cNvPr id="33" name="Down Arrow 32"/>
          <p:cNvSpPr/>
          <p:nvPr/>
        </p:nvSpPr>
        <p:spPr>
          <a:xfrm>
            <a:off x="4251960" y="4974336"/>
            <a:ext cx="365760" cy="128016"/>
          </a:xfrm>
          <a:prstGeom prst="downArrow">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5102352"/>
            <a:ext cx="137160" cy="77724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94360" y="5102352"/>
            <a:ext cx="7772400" cy="77724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5175504"/>
            <a:ext cx="2286000" cy="228600"/>
          </a:xfrm>
          <a:prstGeom prst="rect">
            <a:avLst/>
          </a:prstGeom>
          <a:noFill/>
        </p:spPr>
        <p:txBody>
          <a:bodyPr wrap="square" lIns="45720" rIns="45720" tIns="18288" bIns="18288" anchor="t">
            <a:spAutoFit/>
          </a:bodyPr>
          <a:lstStyle/>
          <a:p>
            <a:pPr algn="l"/>
            <a:r>
              <a:rPr sz="900" b="1" i="0">
                <a:solidFill>
                  <a:srgbClr val="EF4444"/>
                </a:solidFill>
                <a:latin typeface="Poppins"/>
              </a:rPr>
              <a:t>CRM LAYER</a:t>
            </a:r>
          </a:p>
        </p:txBody>
      </p:sp>
      <p:sp>
        <p:nvSpPr>
          <p:cNvPr id="37" name="TextBox 36"/>
          <p:cNvSpPr txBox="1"/>
          <p:nvPr/>
        </p:nvSpPr>
        <p:spPr>
          <a:xfrm>
            <a:off x="777240" y="5394960"/>
            <a:ext cx="7498079" cy="274320"/>
          </a:xfrm>
          <a:prstGeom prst="rect">
            <a:avLst/>
          </a:prstGeom>
          <a:noFill/>
        </p:spPr>
        <p:txBody>
          <a:bodyPr wrap="square" lIns="45720" rIns="45720" tIns="18288" bIns="18288" anchor="t">
            <a:spAutoFit/>
          </a:bodyPr>
          <a:lstStyle/>
          <a:p>
            <a:pPr algn="l"/>
            <a:r>
              <a:rPr sz="1400" b="1" i="0">
                <a:solidFill>
                  <a:srgbClr val="1F2A44"/>
                </a:solidFill>
                <a:latin typeface="Poppins"/>
              </a:rPr>
              <a:t>GoHighLevel (sub-account per client)</a:t>
            </a:r>
          </a:p>
        </p:txBody>
      </p:sp>
      <p:sp>
        <p:nvSpPr>
          <p:cNvPr id="38" name="TextBox 37"/>
          <p:cNvSpPr txBox="1"/>
          <p:nvPr/>
        </p:nvSpPr>
        <p:spPr>
          <a:xfrm>
            <a:off x="777240" y="5650992"/>
            <a:ext cx="7498079" cy="228600"/>
          </a:xfrm>
          <a:prstGeom prst="rect">
            <a:avLst/>
          </a:prstGeom>
          <a:noFill/>
        </p:spPr>
        <p:txBody>
          <a:bodyPr wrap="square" lIns="45720" rIns="45720" tIns="18288" bIns="18288" anchor="t">
            <a:spAutoFit/>
          </a:bodyPr>
          <a:lstStyle/>
          <a:p>
            <a:pPr algn="l"/>
            <a:r>
              <a:rPr sz="900" b="0" i="0">
                <a:solidFill>
                  <a:srgbClr val="4A5568"/>
                </a:solidFill>
                <a:latin typeface="Poppins"/>
              </a:rPr>
              <a:t>$0 additional  //  Rob's existing plan. Zero marginal cost per client.</a:t>
            </a:r>
          </a:p>
        </p:txBody>
      </p:sp>
      <p:sp>
        <p:nvSpPr>
          <p:cNvPr id="39" name="TextBox 38"/>
          <p:cNvSpPr txBox="1"/>
          <p:nvPr/>
        </p:nvSpPr>
        <p:spPr>
          <a:xfrm>
            <a:off x="8595360" y="1508760"/>
            <a:ext cx="3200400" cy="274320"/>
          </a:xfrm>
          <a:prstGeom prst="rect">
            <a:avLst/>
          </a:prstGeom>
          <a:noFill/>
        </p:spPr>
        <p:txBody>
          <a:bodyPr wrap="square" lIns="45720" rIns="45720" tIns="18288" bIns="18288" anchor="t">
            <a:spAutoFit/>
          </a:bodyPr>
          <a:lstStyle/>
          <a:p>
            <a:pPr algn="l"/>
            <a:r>
              <a:rPr sz="1000" b="1" i="0">
                <a:solidFill>
                  <a:srgbClr val="4A5568"/>
                </a:solidFill>
                <a:latin typeface="Poppins"/>
              </a:rPr>
              <a:t>SUPPORTING STACK</a:t>
            </a:r>
          </a:p>
        </p:txBody>
      </p:sp>
      <p:sp>
        <p:nvSpPr>
          <p:cNvPr id="40" name="Rectangle 39"/>
          <p:cNvSpPr/>
          <p:nvPr/>
        </p:nvSpPr>
        <p:spPr>
          <a:xfrm>
            <a:off x="8595360" y="1783080"/>
            <a:ext cx="3200400" cy="4572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78240" y="1965960"/>
            <a:ext cx="2926080" cy="228600"/>
          </a:xfrm>
          <a:prstGeom prst="rect">
            <a:avLst/>
          </a:prstGeom>
          <a:noFill/>
        </p:spPr>
        <p:txBody>
          <a:bodyPr wrap="square" lIns="45720" rIns="45720" tIns="18288" bIns="18288" anchor="t">
            <a:spAutoFit/>
          </a:bodyPr>
          <a:lstStyle/>
          <a:p>
            <a:pPr algn="l"/>
            <a:r>
              <a:rPr sz="800" b="1" i="0">
                <a:solidFill>
                  <a:srgbClr val="00A3E0"/>
                </a:solidFill>
                <a:latin typeface="Poppins"/>
              </a:rPr>
              <a:t>WEBSITE</a:t>
            </a:r>
          </a:p>
        </p:txBody>
      </p:sp>
      <p:sp>
        <p:nvSpPr>
          <p:cNvPr id="42" name="TextBox 41"/>
          <p:cNvSpPr txBox="1"/>
          <p:nvPr/>
        </p:nvSpPr>
        <p:spPr>
          <a:xfrm>
            <a:off x="8778240" y="2167128"/>
            <a:ext cx="2926080" cy="256032"/>
          </a:xfrm>
          <a:prstGeom prst="rect">
            <a:avLst/>
          </a:prstGeom>
          <a:noFill/>
        </p:spPr>
        <p:txBody>
          <a:bodyPr wrap="square" lIns="45720" rIns="45720" tIns="18288" bIns="18288" anchor="t">
            <a:spAutoFit/>
          </a:bodyPr>
          <a:lstStyle/>
          <a:p>
            <a:pPr algn="l"/>
            <a:r>
              <a:rPr sz="1000" b="0" i="0">
                <a:solidFill>
                  <a:srgbClr val="FFFFFF"/>
                </a:solidFill>
                <a:latin typeface="Poppins"/>
              </a:rPr>
              <a:t>Next.js on Vercel  //  $20/mo</a:t>
            </a:r>
          </a:p>
        </p:txBody>
      </p:sp>
      <p:sp>
        <p:nvSpPr>
          <p:cNvPr id="43" name="TextBox 42"/>
          <p:cNvSpPr txBox="1"/>
          <p:nvPr/>
        </p:nvSpPr>
        <p:spPr>
          <a:xfrm>
            <a:off x="8778240" y="2468880"/>
            <a:ext cx="2926080" cy="228600"/>
          </a:xfrm>
          <a:prstGeom prst="rect">
            <a:avLst/>
          </a:prstGeom>
          <a:noFill/>
        </p:spPr>
        <p:txBody>
          <a:bodyPr wrap="square" lIns="45720" rIns="45720" tIns="18288" bIns="18288" anchor="t">
            <a:spAutoFit/>
          </a:bodyPr>
          <a:lstStyle/>
          <a:p>
            <a:pPr algn="l"/>
            <a:r>
              <a:rPr sz="800" b="1" i="0">
                <a:solidFill>
                  <a:srgbClr val="00A3E0"/>
                </a:solidFill>
                <a:latin typeface="Poppins"/>
              </a:rPr>
              <a:t>CALENDAR</a:t>
            </a:r>
          </a:p>
        </p:txBody>
      </p:sp>
      <p:sp>
        <p:nvSpPr>
          <p:cNvPr id="44" name="TextBox 43"/>
          <p:cNvSpPr txBox="1"/>
          <p:nvPr/>
        </p:nvSpPr>
        <p:spPr>
          <a:xfrm>
            <a:off x="8778240" y="2670048"/>
            <a:ext cx="2926080" cy="256032"/>
          </a:xfrm>
          <a:prstGeom prst="rect">
            <a:avLst/>
          </a:prstGeom>
          <a:noFill/>
        </p:spPr>
        <p:txBody>
          <a:bodyPr wrap="square" lIns="45720" rIns="45720" tIns="18288" bIns="18288" anchor="t">
            <a:spAutoFit/>
          </a:bodyPr>
          <a:lstStyle/>
          <a:p>
            <a:pPr algn="l"/>
            <a:r>
              <a:rPr sz="1000" b="0" i="0">
                <a:solidFill>
                  <a:srgbClr val="FFFFFF"/>
                </a:solidFill>
                <a:latin typeface="Poppins"/>
              </a:rPr>
              <a:t>GHL native  //  $0</a:t>
            </a:r>
          </a:p>
        </p:txBody>
      </p:sp>
      <p:sp>
        <p:nvSpPr>
          <p:cNvPr id="45" name="TextBox 44"/>
          <p:cNvSpPr txBox="1"/>
          <p:nvPr/>
        </p:nvSpPr>
        <p:spPr>
          <a:xfrm>
            <a:off x="8778240" y="2971800"/>
            <a:ext cx="2926080" cy="228600"/>
          </a:xfrm>
          <a:prstGeom prst="rect">
            <a:avLst/>
          </a:prstGeom>
          <a:noFill/>
        </p:spPr>
        <p:txBody>
          <a:bodyPr wrap="square" lIns="45720" rIns="45720" tIns="18288" bIns="18288" anchor="t">
            <a:spAutoFit/>
          </a:bodyPr>
          <a:lstStyle/>
          <a:p>
            <a:pPr algn="l"/>
            <a:r>
              <a:rPr sz="800" b="1" i="0">
                <a:solidFill>
                  <a:srgbClr val="00A3E0"/>
                </a:solidFill>
                <a:latin typeface="Poppins"/>
              </a:rPr>
              <a:t>PREMIUM VOICE</a:t>
            </a:r>
          </a:p>
        </p:txBody>
      </p:sp>
      <p:sp>
        <p:nvSpPr>
          <p:cNvPr id="46" name="TextBox 45"/>
          <p:cNvSpPr txBox="1"/>
          <p:nvPr/>
        </p:nvSpPr>
        <p:spPr>
          <a:xfrm>
            <a:off x="8778240" y="3172968"/>
            <a:ext cx="2926080" cy="256032"/>
          </a:xfrm>
          <a:prstGeom prst="rect">
            <a:avLst/>
          </a:prstGeom>
          <a:noFill/>
        </p:spPr>
        <p:txBody>
          <a:bodyPr wrap="square" lIns="45720" rIns="45720" tIns="18288" bIns="18288" anchor="t">
            <a:spAutoFit/>
          </a:bodyPr>
          <a:lstStyle/>
          <a:p>
            <a:pPr algn="l"/>
            <a:r>
              <a:rPr sz="1000" b="0" i="0">
                <a:solidFill>
                  <a:srgbClr val="FFFFFF"/>
                </a:solidFill>
                <a:latin typeface="Poppins"/>
              </a:rPr>
              <a:t>ElevenLabs Conv. AI  //  $0.08–0.15/min</a:t>
            </a:r>
          </a:p>
        </p:txBody>
      </p:sp>
      <p:sp>
        <p:nvSpPr>
          <p:cNvPr id="47" name="TextBox 46"/>
          <p:cNvSpPr txBox="1"/>
          <p:nvPr/>
        </p:nvSpPr>
        <p:spPr>
          <a:xfrm>
            <a:off x="8778240" y="3474720"/>
            <a:ext cx="2926080" cy="228600"/>
          </a:xfrm>
          <a:prstGeom prst="rect">
            <a:avLst/>
          </a:prstGeom>
          <a:noFill/>
        </p:spPr>
        <p:txBody>
          <a:bodyPr wrap="square" lIns="45720" rIns="45720" tIns="18288" bIns="18288" anchor="t">
            <a:spAutoFit/>
          </a:bodyPr>
          <a:lstStyle/>
          <a:p>
            <a:pPr algn="l"/>
            <a:r>
              <a:rPr sz="800" b="1" i="0">
                <a:solidFill>
                  <a:srgbClr val="00A3E0"/>
                </a:solidFill>
                <a:latin typeface="Poppins"/>
              </a:rPr>
              <a:t>LLM (T3)</a:t>
            </a:r>
          </a:p>
        </p:txBody>
      </p:sp>
      <p:sp>
        <p:nvSpPr>
          <p:cNvPr id="48" name="TextBox 47"/>
          <p:cNvSpPr txBox="1"/>
          <p:nvPr/>
        </p:nvSpPr>
        <p:spPr>
          <a:xfrm>
            <a:off x="8778240" y="3675888"/>
            <a:ext cx="2926080" cy="256032"/>
          </a:xfrm>
          <a:prstGeom prst="rect">
            <a:avLst/>
          </a:prstGeom>
          <a:noFill/>
        </p:spPr>
        <p:txBody>
          <a:bodyPr wrap="square" lIns="45720" rIns="45720" tIns="18288" bIns="18288" anchor="t">
            <a:spAutoFit/>
          </a:bodyPr>
          <a:lstStyle/>
          <a:p>
            <a:pPr algn="l"/>
            <a:r>
              <a:rPr sz="1000" b="0" i="0">
                <a:solidFill>
                  <a:srgbClr val="FFFFFF"/>
                </a:solidFill>
                <a:latin typeface="Poppins"/>
              </a:rPr>
              <a:t>Claude Sonnet 4.6 + caching</a:t>
            </a:r>
          </a:p>
        </p:txBody>
      </p:sp>
      <p:sp>
        <p:nvSpPr>
          <p:cNvPr id="49" name="TextBox 48"/>
          <p:cNvSpPr txBox="1"/>
          <p:nvPr/>
        </p:nvSpPr>
        <p:spPr>
          <a:xfrm>
            <a:off x="8778240" y="3977640"/>
            <a:ext cx="2926080" cy="228600"/>
          </a:xfrm>
          <a:prstGeom prst="rect">
            <a:avLst/>
          </a:prstGeom>
          <a:noFill/>
        </p:spPr>
        <p:txBody>
          <a:bodyPr wrap="square" lIns="45720" rIns="45720" tIns="18288" bIns="18288" anchor="t">
            <a:spAutoFit/>
          </a:bodyPr>
          <a:lstStyle/>
          <a:p>
            <a:pPr algn="l"/>
            <a:r>
              <a:rPr sz="800" b="1" i="0">
                <a:solidFill>
                  <a:srgbClr val="00A3E0"/>
                </a:solidFill>
                <a:latin typeface="Poppins"/>
              </a:rPr>
              <a:t>ANALYTICS</a:t>
            </a:r>
          </a:p>
        </p:txBody>
      </p:sp>
      <p:sp>
        <p:nvSpPr>
          <p:cNvPr id="50" name="TextBox 49"/>
          <p:cNvSpPr txBox="1"/>
          <p:nvPr/>
        </p:nvSpPr>
        <p:spPr>
          <a:xfrm>
            <a:off x="8778240" y="4178808"/>
            <a:ext cx="2926080" cy="256032"/>
          </a:xfrm>
          <a:prstGeom prst="rect">
            <a:avLst/>
          </a:prstGeom>
          <a:noFill/>
        </p:spPr>
        <p:txBody>
          <a:bodyPr wrap="square" lIns="45720" rIns="45720" tIns="18288" bIns="18288" anchor="t">
            <a:spAutoFit/>
          </a:bodyPr>
          <a:lstStyle/>
          <a:p>
            <a:pPr algn="l"/>
            <a:r>
              <a:rPr sz="1000" b="0" i="0">
                <a:solidFill>
                  <a:srgbClr val="FFFFFF"/>
                </a:solidFill>
                <a:latin typeface="Poppins"/>
              </a:rPr>
              <a:t>PostHog  //  free tier</a:t>
            </a:r>
          </a:p>
        </p:txBody>
      </p:sp>
      <p:sp>
        <p:nvSpPr>
          <p:cNvPr id="51" name="TextBox 50"/>
          <p:cNvSpPr txBox="1"/>
          <p:nvPr/>
        </p:nvSpPr>
        <p:spPr>
          <a:xfrm>
            <a:off x="8778240" y="4480560"/>
            <a:ext cx="2926080" cy="228600"/>
          </a:xfrm>
          <a:prstGeom prst="rect">
            <a:avLst/>
          </a:prstGeom>
          <a:noFill/>
        </p:spPr>
        <p:txBody>
          <a:bodyPr wrap="square" lIns="45720" rIns="45720" tIns="18288" bIns="18288" anchor="t">
            <a:spAutoFit/>
          </a:bodyPr>
          <a:lstStyle/>
          <a:p>
            <a:pPr algn="l"/>
            <a:r>
              <a:rPr sz="800" b="1" i="0">
                <a:solidFill>
                  <a:srgbClr val="00A3E0"/>
                </a:solidFill>
                <a:latin typeface="Poppins"/>
              </a:rPr>
              <a:t>EMAIL</a:t>
            </a:r>
          </a:p>
        </p:txBody>
      </p:sp>
      <p:sp>
        <p:nvSpPr>
          <p:cNvPr id="52" name="TextBox 51"/>
          <p:cNvSpPr txBox="1"/>
          <p:nvPr/>
        </p:nvSpPr>
        <p:spPr>
          <a:xfrm>
            <a:off x="8778240" y="4681728"/>
            <a:ext cx="2926080" cy="256032"/>
          </a:xfrm>
          <a:prstGeom prst="rect">
            <a:avLst/>
          </a:prstGeom>
          <a:noFill/>
        </p:spPr>
        <p:txBody>
          <a:bodyPr wrap="square" lIns="45720" rIns="45720" tIns="18288" bIns="18288" anchor="t">
            <a:spAutoFit/>
          </a:bodyPr>
          <a:lstStyle/>
          <a:p>
            <a:pPr algn="l"/>
            <a:r>
              <a:rPr sz="1000" b="0" i="0">
                <a:solidFill>
                  <a:srgbClr val="FFFFFF"/>
                </a:solidFill>
                <a:latin typeface="Poppins"/>
              </a:rPr>
              <a:t>Resend  //  $20/mo</a:t>
            </a:r>
          </a:p>
        </p:txBody>
      </p:sp>
      <p:sp>
        <p:nvSpPr>
          <p:cNvPr id="53" name="TextBox 52"/>
          <p:cNvSpPr txBox="1"/>
          <p:nvPr/>
        </p:nvSpPr>
        <p:spPr>
          <a:xfrm>
            <a:off x="8778240" y="4983480"/>
            <a:ext cx="2926080" cy="228600"/>
          </a:xfrm>
          <a:prstGeom prst="rect">
            <a:avLst/>
          </a:prstGeom>
          <a:noFill/>
        </p:spPr>
        <p:txBody>
          <a:bodyPr wrap="square" lIns="45720" rIns="45720" tIns="18288" bIns="18288" anchor="t">
            <a:spAutoFit/>
          </a:bodyPr>
          <a:lstStyle/>
          <a:p>
            <a:pPr algn="l"/>
            <a:r>
              <a:rPr sz="800" b="1" i="0">
                <a:solidFill>
                  <a:srgbClr val="00A3E0"/>
                </a:solidFill>
                <a:latin typeface="Poppins"/>
              </a:rPr>
              <a:t>DOCS</a:t>
            </a:r>
          </a:p>
        </p:txBody>
      </p:sp>
      <p:sp>
        <p:nvSpPr>
          <p:cNvPr id="54" name="TextBox 53"/>
          <p:cNvSpPr txBox="1"/>
          <p:nvPr/>
        </p:nvSpPr>
        <p:spPr>
          <a:xfrm>
            <a:off x="8778240" y="5184648"/>
            <a:ext cx="2926080" cy="256032"/>
          </a:xfrm>
          <a:prstGeom prst="rect">
            <a:avLst/>
          </a:prstGeom>
          <a:noFill/>
        </p:spPr>
        <p:txBody>
          <a:bodyPr wrap="square" lIns="45720" rIns="45720" tIns="18288" bIns="18288" anchor="t">
            <a:spAutoFit/>
          </a:bodyPr>
          <a:lstStyle/>
          <a:p>
            <a:pPr algn="l"/>
            <a:r>
              <a:rPr sz="1000" b="0" i="0">
                <a:solidFill>
                  <a:srgbClr val="FFFFFF"/>
                </a:solidFill>
                <a:latin typeface="Poppins"/>
              </a:rPr>
              <a:t>Notion  //  $10/mo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45720" rIns="45720" tIns="18288" bIns="18288" anchor="t">
            <a:spAutoFit/>
          </a:bodyPr>
          <a:lstStyle/>
          <a:p>
            <a:pPr algn="l"/>
            <a:r>
              <a:rPr sz="1000" b="1" i="0">
                <a:solidFill>
                  <a:srgbClr val="00A3E0"/>
                </a:solidFill>
                <a:latin typeface="Poppins"/>
              </a:rPr>
              <a:t>08 · UNIT ECONOMICS</a:t>
            </a:r>
          </a:p>
        </p:txBody>
      </p:sp>
      <p:sp>
        <p:nvSpPr>
          <p:cNvPr id="4" name="TextBox 3"/>
          <p:cNvSpPr txBox="1"/>
          <p:nvPr/>
        </p:nvSpPr>
        <p:spPr>
          <a:xfrm>
            <a:off x="457200" y="594360"/>
            <a:ext cx="11247120" cy="640080"/>
          </a:xfrm>
          <a:prstGeom prst="rect">
            <a:avLst/>
          </a:prstGeom>
          <a:noFill/>
        </p:spPr>
        <p:txBody>
          <a:bodyPr wrap="square" lIns="45720" rIns="45720" tIns="18288" bIns="18288" anchor="t">
            <a:spAutoFit/>
          </a:bodyPr>
          <a:lstStyle/>
          <a:p>
            <a:pPr algn="l"/>
            <a:r>
              <a:rPr sz="2800" b="1" i="0">
                <a:solidFill>
                  <a:srgbClr val="1F2A44"/>
                </a:solidFill>
                <a:latin typeface="Poppins"/>
              </a:rPr>
              <a:t>Tier 2 client: $4,997 MRR vs $262 COGS = 95% GM (pre-coach).</a:t>
            </a:r>
          </a:p>
        </p:txBody>
      </p:sp>
      <p:sp>
        <p:nvSpPr>
          <p:cNvPr id="5" name="Rectangle 4"/>
          <p:cNvSpPr/>
          <p:nvPr/>
        </p:nvSpPr>
        <p:spPr>
          <a:xfrm>
            <a:off x="457200" y="1234440"/>
            <a:ext cx="914400" cy="4572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320040"/>
            <a:ext cx="640080" cy="274320"/>
          </a:xfrm>
          <a:prstGeom prst="rect">
            <a:avLst/>
          </a:prstGeom>
          <a:noFill/>
        </p:spPr>
        <p:txBody>
          <a:bodyPr wrap="square" lIns="45720" rIns="45720" tIns="18288" bIns="18288" anchor="t">
            <a:spAutoFit/>
          </a:bodyPr>
          <a:lstStyle/>
          <a:p>
            <a:pPr algn="r"/>
            <a:r>
              <a:rPr sz="900" b="1" i="0">
                <a:solidFill>
                  <a:srgbClr val="4A5568"/>
                </a:solidFill>
                <a:latin typeface="Poppins"/>
              </a:rPr>
              <a:t>9 / 18</a:t>
            </a:r>
          </a:p>
        </p:txBody>
      </p:sp>
      <p:sp>
        <p:nvSpPr>
          <p:cNvPr id="7" name="Rectangle 6"/>
          <p:cNvSpPr/>
          <p:nvPr/>
        </p:nvSpPr>
        <p:spPr>
          <a:xfrm>
            <a:off x="0" y="6720840"/>
            <a:ext cx="12191695" cy="1371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492240"/>
            <a:ext cx="3657600" cy="274320"/>
          </a:xfrm>
          <a:prstGeom prst="rect">
            <a:avLst/>
          </a:prstGeom>
          <a:noFill/>
        </p:spPr>
        <p:txBody>
          <a:bodyPr wrap="square" lIns="45720" rIns="45720" tIns="18288" bIns="18288" anchor="t">
            <a:spAutoFit/>
          </a:bodyPr>
          <a:lstStyle/>
          <a:p>
            <a:pPr algn="l"/>
            <a:r>
              <a:rPr sz="800" b="1" i="0">
                <a:solidFill>
                  <a:srgbClr val="1F2A44"/>
                </a:solidFill>
                <a:latin typeface="Poppins"/>
              </a:rPr>
              <a:t>CLOSECLINIC</a:t>
            </a:r>
          </a:p>
        </p:txBody>
      </p:sp>
      <p:sp>
        <p:nvSpPr>
          <p:cNvPr id="9" name="TextBox 8"/>
          <p:cNvSpPr txBox="1"/>
          <p:nvPr/>
        </p:nvSpPr>
        <p:spPr>
          <a:xfrm>
            <a:off x="6400800" y="6492240"/>
            <a:ext cx="5486400" cy="274320"/>
          </a:xfrm>
          <a:prstGeom prst="rect">
            <a:avLst/>
          </a:prstGeom>
          <a:noFill/>
        </p:spPr>
        <p:txBody>
          <a:bodyPr wrap="square" lIns="45720" rIns="45720" tIns="18288" bIns="18288" anchor="t">
            <a:spAutoFit/>
          </a:bodyPr>
          <a:lstStyle/>
          <a:p>
            <a:pPr algn="r"/>
            <a:r>
              <a:rPr sz="800" b="0" i="0">
                <a:solidFill>
                  <a:srgbClr val="4A5568"/>
                </a:solidFill>
                <a:latin typeface="Poppins"/>
              </a:rPr>
              <a:t>CloseClinic · Launch Plan · 2026-04-21 · p.9</a:t>
            </a:r>
          </a:p>
        </p:txBody>
      </p:sp>
      <p:sp>
        <p:nvSpPr>
          <p:cNvPr id="10" name="Rectangle 9"/>
          <p:cNvSpPr/>
          <p:nvPr/>
        </p:nvSpPr>
        <p:spPr>
          <a:xfrm>
            <a:off x="457200" y="1463040"/>
            <a:ext cx="2788920" cy="128016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463040"/>
            <a:ext cx="2788920" cy="9144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645920"/>
            <a:ext cx="2788920" cy="640080"/>
          </a:xfrm>
          <a:prstGeom prst="rect">
            <a:avLst/>
          </a:prstGeom>
          <a:noFill/>
        </p:spPr>
        <p:txBody>
          <a:bodyPr wrap="square" lIns="45720" rIns="45720" tIns="18288" bIns="18288" anchor="t">
            <a:spAutoFit/>
          </a:bodyPr>
          <a:lstStyle/>
          <a:p>
            <a:pPr algn="ctr"/>
            <a:r>
              <a:rPr sz="4000" b="1" i="0">
                <a:solidFill>
                  <a:srgbClr val="1F2A44"/>
                </a:solidFill>
                <a:latin typeface="Poppins"/>
              </a:rPr>
              <a:t>$4,997</a:t>
            </a:r>
          </a:p>
        </p:txBody>
      </p:sp>
      <p:sp>
        <p:nvSpPr>
          <p:cNvPr id="13" name="TextBox 12"/>
          <p:cNvSpPr txBox="1"/>
          <p:nvPr/>
        </p:nvSpPr>
        <p:spPr>
          <a:xfrm>
            <a:off x="457200" y="2240280"/>
            <a:ext cx="2788920" cy="274320"/>
          </a:xfrm>
          <a:prstGeom prst="rect">
            <a:avLst/>
          </a:prstGeom>
          <a:noFill/>
        </p:spPr>
        <p:txBody>
          <a:bodyPr wrap="square" lIns="45720" rIns="45720" tIns="18288" bIns="18288" anchor="t">
            <a:spAutoFit/>
          </a:bodyPr>
          <a:lstStyle/>
          <a:p>
            <a:pPr algn="ctr"/>
            <a:r>
              <a:rPr sz="1000" b="1" i="0">
                <a:solidFill>
                  <a:srgbClr val="00A3E0"/>
                </a:solidFill>
                <a:latin typeface="Poppins"/>
              </a:rPr>
              <a:t>MRR</a:t>
            </a:r>
          </a:p>
        </p:txBody>
      </p:sp>
      <p:sp>
        <p:nvSpPr>
          <p:cNvPr id="14" name="TextBox 13"/>
          <p:cNvSpPr txBox="1"/>
          <p:nvPr/>
        </p:nvSpPr>
        <p:spPr>
          <a:xfrm>
            <a:off x="457200" y="2487168"/>
            <a:ext cx="2788920" cy="228600"/>
          </a:xfrm>
          <a:prstGeom prst="rect">
            <a:avLst/>
          </a:prstGeom>
          <a:noFill/>
        </p:spPr>
        <p:txBody>
          <a:bodyPr wrap="square" lIns="45720" rIns="45720" tIns="18288" bIns="18288" anchor="t">
            <a:spAutoFit/>
          </a:bodyPr>
          <a:lstStyle/>
          <a:p>
            <a:pPr algn="ctr"/>
            <a:r>
              <a:rPr sz="900" b="0" i="1">
                <a:solidFill>
                  <a:srgbClr val="4A5568"/>
                </a:solidFill>
                <a:latin typeface="Poppins"/>
              </a:rPr>
              <a:t>Tier 2 list price</a:t>
            </a:r>
          </a:p>
        </p:txBody>
      </p:sp>
      <p:sp>
        <p:nvSpPr>
          <p:cNvPr id="15" name="Rectangle 14"/>
          <p:cNvSpPr/>
          <p:nvPr/>
        </p:nvSpPr>
        <p:spPr>
          <a:xfrm>
            <a:off x="3383280" y="1463040"/>
            <a:ext cx="2788920" cy="128016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463040"/>
            <a:ext cx="2788920" cy="91440"/>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1645920"/>
            <a:ext cx="2788920" cy="640080"/>
          </a:xfrm>
          <a:prstGeom prst="rect">
            <a:avLst/>
          </a:prstGeom>
          <a:noFill/>
        </p:spPr>
        <p:txBody>
          <a:bodyPr wrap="square" lIns="45720" rIns="45720" tIns="18288" bIns="18288" anchor="t">
            <a:spAutoFit/>
          </a:bodyPr>
          <a:lstStyle/>
          <a:p>
            <a:pPr algn="ctr"/>
            <a:r>
              <a:rPr sz="4000" b="1" i="0">
                <a:solidFill>
                  <a:srgbClr val="1F2A44"/>
                </a:solidFill>
                <a:latin typeface="Poppins"/>
              </a:rPr>
              <a:t>$262</a:t>
            </a:r>
          </a:p>
        </p:txBody>
      </p:sp>
      <p:sp>
        <p:nvSpPr>
          <p:cNvPr id="18" name="TextBox 17"/>
          <p:cNvSpPr txBox="1"/>
          <p:nvPr/>
        </p:nvSpPr>
        <p:spPr>
          <a:xfrm>
            <a:off x="3383280" y="2240280"/>
            <a:ext cx="2788920" cy="274320"/>
          </a:xfrm>
          <a:prstGeom prst="rect">
            <a:avLst/>
          </a:prstGeom>
          <a:noFill/>
        </p:spPr>
        <p:txBody>
          <a:bodyPr wrap="square" lIns="45720" rIns="45720" tIns="18288" bIns="18288" anchor="t">
            <a:spAutoFit/>
          </a:bodyPr>
          <a:lstStyle/>
          <a:p>
            <a:pPr algn="ctr"/>
            <a:r>
              <a:rPr sz="1000" b="1" i="0">
                <a:solidFill>
                  <a:srgbClr val="4A5568"/>
                </a:solidFill>
                <a:latin typeface="Poppins"/>
              </a:rPr>
              <a:t>COGS</a:t>
            </a:r>
          </a:p>
        </p:txBody>
      </p:sp>
      <p:sp>
        <p:nvSpPr>
          <p:cNvPr id="19" name="TextBox 18"/>
          <p:cNvSpPr txBox="1"/>
          <p:nvPr/>
        </p:nvSpPr>
        <p:spPr>
          <a:xfrm>
            <a:off x="3383280" y="2487168"/>
            <a:ext cx="2788920" cy="228600"/>
          </a:xfrm>
          <a:prstGeom prst="rect">
            <a:avLst/>
          </a:prstGeom>
          <a:noFill/>
        </p:spPr>
        <p:txBody>
          <a:bodyPr wrap="square" lIns="45720" rIns="45720" tIns="18288" bIns="18288" anchor="t">
            <a:spAutoFit/>
          </a:bodyPr>
          <a:lstStyle/>
          <a:p>
            <a:pPr algn="ctr"/>
            <a:r>
              <a:rPr sz="900" b="0" i="1">
                <a:solidFill>
                  <a:srgbClr val="4A5568"/>
                </a:solidFill>
                <a:latin typeface="Poppins"/>
              </a:rPr>
              <a:t>variable monthly</a:t>
            </a:r>
          </a:p>
        </p:txBody>
      </p:sp>
      <p:sp>
        <p:nvSpPr>
          <p:cNvPr id="20" name="Rectangle 19"/>
          <p:cNvSpPr/>
          <p:nvPr/>
        </p:nvSpPr>
        <p:spPr>
          <a:xfrm>
            <a:off x="6309360" y="1463040"/>
            <a:ext cx="2788920" cy="128016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60" y="1463040"/>
            <a:ext cx="2788920" cy="9144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1645920"/>
            <a:ext cx="2788920" cy="640080"/>
          </a:xfrm>
          <a:prstGeom prst="rect">
            <a:avLst/>
          </a:prstGeom>
          <a:noFill/>
        </p:spPr>
        <p:txBody>
          <a:bodyPr wrap="square" lIns="45720" rIns="45720" tIns="18288" bIns="18288" anchor="t">
            <a:spAutoFit/>
          </a:bodyPr>
          <a:lstStyle/>
          <a:p>
            <a:pPr algn="ctr"/>
            <a:r>
              <a:rPr sz="4000" b="1" i="0">
                <a:solidFill>
                  <a:srgbClr val="1F2A44"/>
                </a:solidFill>
                <a:latin typeface="Poppins"/>
              </a:rPr>
              <a:t>95%</a:t>
            </a:r>
          </a:p>
        </p:txBody>
      </p:sp>
      <p:sp>
        <p:nvSpPr>
          <p:cNvPr id="23" name="TextBox 22"/>
          <p:cNvSpPr txBox="1"/>
          <p:nvPr/>
        </p:nvSpPr>
        <p:spPr>
          <a:xfrm>
            <a:off x="6309360" y="2240280"/>
            <a:ext cx="2788920" cy="274320"/>
          </a:xfrm>
          <a:prstGeom prst="rect">
            <a:avLst/>
          </a:prstGeom>
          <a:noFill/>
        </p:spPr>
        <p:txBody>
          <a:bodyPr wrap="square" lIns="45720" rIns="45720" tIns="18288" bIns="18288" anchor="t">
            <a:spAutoFit/>
          </a:bodyPr>
          <a:lstStyle/>
          <a:p>
            <a:pPr algn="ctr"/>
            <a:r>
              <a:rPr sz="1000" b="1" i="0">
                <a:solidFill>
                  <a:srgbClr val="22C55E"/>
                </a:solidFill>
                <a:latin typeface="Poppins"/>
              </a:rPr>
              <a:t>GROSS MARGIN</a:t>
            </a:r>
          </a:p>
        </p:txBody>
      </p:sp>
      <p:sp>
        <p:nvSpPr>
          <p:cNvPr id="24" name="TextBox 23"/>
          <p:cNvSpPr txBox="1"/>
          <p:nvPr/>
        </p:nvSpPr>
        <p:spPr>
          <a:xfrm>
            <a:off x="6309360" y="2487168"/>
            <a:ext cx="2788920" cy="228600"/>
          </a:xfrm>
          <a:prstGeom prst="rect">
            <a:avLst/>
          </a:prstGeom>
          <a:noFill/>
        </p:spPr>
        <p:txBody>
          <a:bodyPr wrap="square" lIns="45720" rIns="45720" tIns="18288" bIns="18288" anchor="t">
            <a:spAutoFit/>
          </a:bodyPr>
          <a:lstStyle/>
          <a:p>
            <a:pPr algn="ctr"/>
            <a:r>
              <a:rPr sz="900" b="0" i="1">
                <a:solidFill>
                  <a:srgbClr val="4A5568"/>
                </a:solidFill>
                <a:latin typeface="Poppins"/>
              </a:rPr>
              <a:t>before coach time</a:t>
            </a:r>
          </a:p>
        </p:txBody>
      </p:sp>
      <p:sp>
        <p:nvSpPr>
          <p:cNvPr id="25" name="Rectangle 24"/>
          <p:cNvSpPr/>
          <p:nvPr/>
        </p:nvSpPr>
        <p:spPr>
          <a:xfrm>
            <a:off x="9235440" y="1463040"/>
            <a:ext cx="2788920" cy="128016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35440" y="1463040"/>
            <a:ext cx="2788920" cy="9144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35440" y="1645920"/>
            <a:ext cx="2788920" cy="640080"/>
          </a:xfrm>
          <a:prstGeom prst="rect">
            <a:avLst/>
          </a:prstGeom>
          <a:noFill/>
        </p:spPr>
        <p:txBody>
          <a:bodyPr wrap="square" lIns="45720" rIns="45720" tIns="18288" bIns="18288" anchor="t">
            <a:spAutoFit/>
          </a:bodyPr>
          <a:lstStyle/>
          <a:p>
            <a:pPr algn="ctr"/>
            <a:r>
              <a:rPr sz="4000" b="1" i="0">
                <a:solidFill>
                  <a:srgbClr val="1F2A44"/>
                </a:solidFill>
                <a:latin typeface="Poppins"/>
              </a:rPr>
              <a:t>70%</a:t>
            </a:r>
          </a:p>
        </p:txBody>
      </p:sp>
      <p:sp>
        <p:nvSpPr>
          <p:cNvPr id="28" name="TextBox 27"/>
          <p:cNvSpPr txBox="1"/>
          <p:nvPr/>
        </p:nvSpPr>
        <p:spPr>
          <a:xfrm>
            <a:off x="9235440" y="2240280"/>
            <a:ext cx="2788920" cy="274320"/>
          </a:xfrm>
          <a:prstGeom prst="rect">
            <a:avLst/>
          </a:prstGeom>
          <a:noFill/>
        </p:spPr>
        <p:txBody>
          <a:bodyPr wrap="square" lIns="45720" rIns="45720" tIns="18288" bIns="18288" anchor="t">
            <a:spAutoFit/>
          </a:bodyPr>
          <a:lstStyle/>
          <a:p>
            <a:pPr algn="ctr"/>
            <a:r>
              <a:rPr sz="1000" b="1" i="0">
                <a:solidFill>
                  <a:srgbClr val="1F2A44"/>
                </a:solidFill>
                <a:latin typeface="Poppins"/>
              </a:rPr>
              <a:t>NET GM</a:t>
            </a:r>
          </a:p>
        </p:txBody>
      </p:sp>
      <p:sp>
        <p:nvSpPr>
          <p:cNvPr id="29" name="TextBox 28"/>
          <p:cNvSpPr txBox="1"/>
          <p:nvPr/>
        </p:nvSpPr>
        <p:spPr>
          <a:xfrm>
            <a:off x="9235440" y="2487168"/>
            <a:ext cx="2788920" cy="228600"/>
          </a:xfrm>
          <a:prstGeom prst="rect">
            <a:avLst/>
          </a:prstGeom>
          <a:noFill/>
        </p:spPr>
        <p:txBody>
          <a:bodyPr wrap="square" lIns="45720" rIns="45720" tIns="18288" bIns="18288" anchor="t">
            <a:spAutoFit/>
          </a:bodyPr>
          <a:lstStyle/>
          <a:p>
            <a:pPr algn="ctr"/>
            <a:r>
              <a:rPr sz="900" b="0" i="1">
                <a:solidFill>
                  <a:srgbClr val="4A5568"/>
                </a:solidFill>
                <a:latin typeface="Poppins"/>
              </a:rPr>
              <a:t>after coach time</a:t>
            </a:r>
          </a:p>
        </p:txBody>
      </p:sp>
      <p:sp>
        <p:nvSpPr>
          <p:cNvPr id="30" name="TextBox 29"/>
          <p:cNvSpPr txBox="1"/>
          <p:nvPr/>
        </p:nvSpPr>
        <p:spPr>
          <a:xfrm>
            <a:off x="457200" y="2971800"/>
            <a:ext cx="7315200" cy="320040"/>
          </a:xfrm>
          <a:prstGeom prst="rect">
            <a:avLst/>
          </a:prstGeom>
          <a:noFill/>
        </p:spPr>
        <p:txBody>
          <a:bodyPr wrap="square" lIns="45720" rIns="45720" tIns="18288" bIns="18288" anchor="t">
            <a:spAutoFit/>
          </a:bodyPr>
          <a:lstStyle/>
          <a:p>
            <a:pPr algn="l"/>
            <a:r>
              <a:rPr sz="1000" b="1" i="0">
                <a:solidFill>
                  <a:srgbClr val="4A5568"/>
                </a:solidFill>
                <a:latin typeface="Poppins"/>
              </a:rPr>
              <a:t>VARIABLE COGS BREAKDOWN  //  Tier 2 client @ 1,200 voice min/mo</a:t>
            </a:r>
          </a:p>
        </p:txBody>
      </p:sp>
      <p:sp>
        <p:nvSpPr>
          <p:cNvPr id="31" name="Rectangle 30"/>
          <p:cNvSpPr/>
          <p:nvPr/>
        </p:nvSpPr>
        <p:spPr>
          <a:xfrm>
            <a:off x="457200" y="3337560"/>
            <a:ext cx="6858000" cy="301752"/>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3374136"/>
            <a:ext cx="3657600" cy="228600"/>
          </a:xfrm>
          <a:prstGeom prst="rect">
            <a:avLst/>
          </a:prstGeom>
          <a:noFill/>
        </p:spPr>
        <p:txBody>
          <a:bodyPr wrap="square" lIns="45720" rIns="45720" tIns="18288" bIns="18288" anchor="t">
            <a:spAutoFit/>
          </a:bodyPr>
          <a:lstStyle/>
          <a:p>
            <a:pPr algn="l"/>
            <a:r>
              <a:rPr sz="1000" b="0" i="0">
                <a:solidFill>
                  <a:srgbClr val="111827"/>
                </a:solidFill>
                <a:latin typeface="Poppins"/>
              </a:rPr>
              <a:t>Voice AI (1,200 min @ $0.09)</a:t>
            </a:r>
          </a:p>
        </p:txBody>
      </p:sp>
      <p:sp>
        <p:nvSpPr>
          <p:cNvPr id="33" name="TextBox 32"/>
          <p:cNvSpPr txBox="1"/>
          <p:nvPr/>
        </p:nvSpPr>
        <p:spPr>
          <a:xfrm>
            <a:off x="4389120" y="3374136"/>
            <a:ext cx="914400" cy="228600"/>
          </a:xfrm>
          <a:prstGeom prst="rect">
            <a:avLst/>
          </a:prstGeom>
          <a:noFill/>
        </p:spPr>
        <p:txBody>
          <a:bodyPr wrap="square" lIns="45720" rIns="45720" tIns="18288" bIns="18288" anchor="t">
            <a:spAutoFit/>
          </a:bodyPr>
          <a:lstStyle/>
          <a:p>
            <a:pPr algn="r"/>
            <a:r>
              <a:rPr sz="1000" b="1" i="0">
                <a:solidFill>
                  <a:srgbClr val="111827"/>
                </a:solidFill>
                <a:latin typeface="Poppins"/>
              </a:rPr>
              <a:t>$108</a:t>
            </a:r>
          </a:p>
        </p:txBody>
      </p:sp>
      <p:sp>
        <p:nvSpPr>
          <p:cNvPr id="34" name="Rectangle 33"/>
          <p:cNvSpPr/>
          <p:nvPr/>
        </p:nvSpPr>
        <p:spPr>
          <a:xfrm>
            <a:off x="5486400" y="3410712"/>
            <a:ext cx="1645920" cy="155448"/>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0" y="3410712"/>
            <a:ext cx="674827" cy="155448"/>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57200" y="3639312"/>
            <a:ext cx="685800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3675888"/>
            <a:ext cx="3657600" cy="228600"/>
          </a:xfrm>
          <a:prstGeom prst="rect">
            <a:avLst/>
          </a:prstGeom>
          <a:noFill/>
        </p:spPr>
        <p:txBody>
          <a:bodyPr wrap="square" lIns="45720" rIns="45720" tIns="18288" bIns="18288" anchor="t">
            <a:spAutoFit/>
          </a:bodyPr>
          <a:lstStyle/>
          <a:p>
            <a:pPr algn="l"/>
            <a:r>
              <a:rPr sz="1000" b="0" i="0">
                <a:solidFill>
                  <a:srgbClr val="111827"/>
                </a:solidFill>
                <a:latin typeface="Poppins"/>
              </a:rPr>
              <a:t>Synthflow agency (amortized)</a:t>
            </a:r>
          </a:p>
        </p:txBody>
      </p:sp>
      <p:sp>
        <p:nvSpPr>
          <p:cNvPr id="38" name="TextBox 37"/>
          <p:cNvSpPr txBox="1"/>
          <p:nvPr/>
        </p:nvSpPr>
        <p:spPr>
          <a:xfrm>
            <a:off x="4389120" y="3675888"/>
            <a:ext cx="914400" cy="228600"/>
          </a:xfrm>
          <a:prstGeom prst="rect">
            <a:avLst/>
          </a:prstGeom>
          <a:noFill/>
        </p:spPr>
        <p:txBody>
          <a:bodyPr wrap="square" lIns="45720" rIns="45720" tIns="18288" bIns="18288" anchor="t">
            <a:spAutoFit/>
          </a:bodyPr>
          <a:lstStyle/>
          <a:p>
            <a:pPr algn="r"/>
            <a:r>
              <a:rPr sz="1000" b="1" i="0">
                <a:solidFill>
                  <a:srgbClr val="111827"/>
                </a:solidFill>
                <a:latin typeface="Poppins"/>
              </a:rPr>
              <a:t>$40</a:t>
            </a:r>
          </a:p>
        </p:txBody>
      </p:sp>
      <p:sp>
        <p:nvSpPr>
          <p:cNvPr id="39" name="Rectangle 38"/>
          <p:cNvSpPr/>
          <p:nvPr/>
        </p:nvSpPr>
        <p:spPr>
          <a:xfrm>
            <a:off x="5486400" y="3712464"/>
            <a:ext cx="1645920" cy="155448"/>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86400" y="3712464"/>
            <a:ext cx="246888" cy="155448"/>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3941064"/>
            <a:ext cx="6858000" cy="301752"/>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3977640"/>
            <a:ext cx="3657600" cy="228600"/>
          </a:xfrm>
          <a:prstGeom prst="rect">
            <a:avLst/>
          </a:prstGeom>
          <a:noFill/>
        </p:spPr>
        <p:txBody>
          <a:bodyPr wrap="square" lIns="45720" rIns="45720" tIns="18288" bIns="18288" anchor="t">
            <a:spAutoFit/>
          </a:bodyPr>
          <a:lstStyle/>
          <a:p>
            <a:pPr algn="l"/>
            <a:r>
              <a:rPr sz="1000" b="0" i="0">
                <a:solidFill>
                  <a:srgbClr val="111827"/>
                </a:solidFill>
                <a:latin typeface="Poppins"/>
              </a:rPr>
              <a:t>Chatbase agency (amortized)</a:t>
            </a:r>
          </a:p>
        </p:txBody>
      </p:sp>
      <p:sp>
        <p:nvSpPr>
          <p:cNvPr id="43" name="TextBox 42"/>
          <p:cNvSpPr txBox="1"/>
          <p:nvPr/>
        </p:nvSpPr>
        <p:spPr>
          <a:xfrm>
            <a:off x="4389120" y="3977640"/>
            <a:ext cx="914400" cy="228600"/>
          </a:xfrm>
          <a:prstGeom prst="rect">
            <a:avLst/>
          </a:prstGeom>
          <a:noFill/>
        </p:spPr>
        <p:txBody>
          <a:bodyPr wrap="square" lIns="45720" rIns="45720" tIns="18288" bIns="18288" anchor="t">
            <a:spAutoFit/>
          </a:bodyPr>
          <a:lstStyle/>
          <a:p>
            <a:pPr algn="r"/>
            <a:r>
              <a:rPr sz="1000" b="1" i="0">
                <a:solidFill>
                  <a:srgbClr val="111827"/>
                </a:solidFill>
                <a:latin typeface="Poppins"/>
              </a:rPr>
              <a:t>$50</a:t>
            </a:r>
          </a:p>
        </p:txBody>
      </p:sp>
      <p:sp>
        <p:nvSpPr>
          <p:cNvPr id="44" name="Rectangle 43"/>
          <p:cNvSpPr/>
          <p:nvPr/>
        </p:nvSpPr>
        <p:spPr>
          <a:xfrm>
            <a:off x="5486400" y="4014216"/>
            <a:ext cx="1645920" cy="155448"/>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4014216"/>
            <a:ext cx="312724" cy="155448"/>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4242816"/>
            <a:ext cx="685800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 y="4279392"/>
            <a:ext cx="3657600" cy="228600"/>
          </a:xfrm>
          <a:prstGeom prst="rect">
            <a:avLst/>
          </a:prstGeom>
          <a:noFill/>
        </p:spPr>
        <p:txBody>
          <a:bodyPr wrap="square" lIns="45720" rIns="45720" tIns="18288" bIns="18288" anchor="t">
            <a:spAutoFit/>
          </a:bodyPr>
          <a:lstStyle/>
          <a:p>
            <a:pPr algn="l"/>
            <a:r>
              <a:rPr sz="1000" b="0" i="0">
                <a:solidFill>
                  <a:srgbClr val="111827"/>
                </a:solidFill>
                <a:latin typeface="Poppins"/>
              </a:rPr>
              <a:t>Twilio + A2P 10DLC</a:t>
            </a:r>
          </a:p>
        </p:txBody>
      </p:sp>
      <p:sp>
        <p:nvSpPr>
          <p:cNvPr id="48" name="TextBox 47"/>
          <p:cNvSpPr txBox="1"/>
          <p:nvPr/>
        </p:nvSpPr>
        <p:spPr>
          <a:xfrm>
            <a:off x="4389120" y="4279392"/>
            <a:ext cx="914400" cy="228600"/>
          </a:xfrm>
          <a:prstGeom prst="rect">
            <a:avLst/>
          </a:prstGeom>
          <a:noFill/>
        </p:spPr>
        <p:txBody>
          <a:bodyPr wrap="square" lIns="45720" rIns="45720" tIns="18288" bIns="18288" anchor="t">
            <a:spAutoFit/>
          </a:bodyPr>
          <a:lstStyle/>
          <a:p>
            <a:pPr algn="r"/>
            <a:r>
              <a:rPr sz="1000" b="1" i="0">
                <a:solidFill>
                  <a:srgbClr val="111827"/>
                </a:solidFill>
                <a:latin typeface="Poppins"/>
              </a:rPr>
              <a:t>$5</a:t>
            </a:r>
          </a:p>
        </p:txBody>
      </p:sp>
      <p:sp>
        <p:nvSpPr>
          <p:cNvPr id="49" name="Rectangle 48"/>
          <p:cNvSpPr/>
          <p:nvPr/>
        </p:nvSpPr>
        <p:spPr>
          <a:xfrm>
            <a:off x="5486400" y="4315968"/>
            <a:ext cx="1645920" cy="155448"/>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486400" y="4315968"/>
            <a:ext cx="32918" cy="155448"/>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57200" y="4544568"/>
            <a:ext cx="6858000" cy="301752"/>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4581144"/>
            <a:ext cx="3657600" cy="228600"/>
          </a:xfrm>
          <a:prstGeom prst="rect">
            <a:avLst/>
          </a:prstGeom>
          <a:noFill/>
        </p:spPr>
        <p:txBody>
          <a:bodyPr wrap="square" lIns="45720" rIns="45720" tIns="18288" bIns="18288" anchor="t">
            <a:spAutoFit/>
          </a:bodyPr>
          <a:lstStyle/>
          <a:p>
            <a:pPr algn="l"/>
            <a:r>
              <a:rPr sz="1000" b="0" i="0">
                <a:solidFill>
                  <a:srgbClr val="111827"/>
                </a:solidFill>
                <a:latin typeface="Poppins"/>
              </a:rPr>
              <a:t>n8n + infrastructure</a:t>
            </a:r>
          </a:p>
        </p:txBody>
      </p:sp>
      <p:sp>
        <p:nvSpPr>
          <p:cNvPr id="53" name="TextBox 52"/>
          <p:cNvSpPr txBox="1"/>
          <p:nvPr/>
        </p:nvSpPr>
        <p:spPr>
          <a:xfrm>
            <a:off x="4389120" y="4581144"/>
            <a:ext cx="914400" cy="228600"/>
          </a:xfrm>
          <a:prstGeom prst="rect">
            <a:avLst/>
          </a:prstGeom>
          <a:noFill/>
        </p:spPr>
        <p:txBody>
          <a:bodyPr wrap="square" lIns="45720" rIns="45720" tIns="18288" bIns="18288" anchor="t">
            <a:spAutoFit/>
          </a:bodyPr>
          <a:lstStyle/>
          <a:p>
            <a:pPr algn="r"/>
            <a:r>
              <a:rPr sz="1000" b="1" i="0">
                <a:solidFill>
                  <a:srgbClr val="111827"/>
                </a:solidFill>
                <a:latin typeface="Poppins"/>
              </a:rPr>
              <a:t>$2</a:t>
            </a:r>
          </a:p>
        </p:txBody>
      </p:sp>
      <p:sp>
        <p:nvSpPr>
          <p:cNvPr id="54" name="Rectangle 53"/>
          <p:cNvSpPr/>
          <p:nvPr/>
        </p:nvSpPr>
        <p:spPr>
          <a:xfrm>
            <a:off x="5486400" y="4617720"/>
            <a:ext cx="1645920" cy="155448"/>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486400" y="4617720"/>
            <a:ext cx="16459" cy="155448"/>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57200" y="4846320"/>
            <a:ext cx="685800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0080" y="4882896"/>
            <a:ext cx="3657600" cy="228600"/>
          </a:xfrm>
          <a:prstGeom prst="rect">
            <a:avLst/>
          </a:prstGeom>
          <a:noFill/>
        </p:spPr>
        <p:txBody>
          <a:bodyPr wrap="square" lIns="45720" rIns="45720" tIns="18288" bIns="18288" anchor="t">
            <a:spAutoFit/>
          </a:bodyPr>
          <a:lstStyle/>
          <a:p>
            <a:pPr algn="l"/>
            <a:r>
              <a:rPr sz="1000" b="0" i="0">
                <a:solidFill>
                  <a:srgbClr val="111827"/>
                </a:solidFill>
                <a:latin typeface="Poppins"/>
              </a:rPr>
              <a:t>GHL sub-account</a:t>
            </a:r>
          </a:p>
        </p:txBody>
      </p:sp>
      <p:sp>
        <p:nvSpPr>
          <p:cNvPr id="58" name="TextBox 57"/>
          <p:cNvSpPr txBox="1"/>
          <p:nvPr/>
        </p:nvSpPr>
        <p:spPr>
          <a:xfrm>
            <a:off x="4389120" y="4882896"/>
            <a:ext cx="914400" cy="228600"/>
          </a:xfrm>
          <a:prstGeom prst="rect">
            <a:avLst/>
          </a:prstGeom>
          <a:noFill/>
        </p:spPr>
        <p:txBody>
          <a:bodyPr wrap="square" lIns="45720" rIns="45720" tIns="18288" bIns="18288" anchor="t">
            <a:spAutoFit/>
          </a:bodyPr>
          <a:lstStyle/>
          <a:p>
            <a:pPr algn="r"/>
            <a:r>
              <a:rPr sz="1000" b="1" i="0">
                <a:solidFill>
                  <a:srgbClr val="111827"/>
                </a:solidFill>
                <a:latin typeface="Poppins"/>
              </a:rPr>
              <a:t>$10</a:t>
            </a:r>
          </a:p>
        </p:txBody>
      </p:sp>
      <p:sp>
        <p:nvSpPr>
          <p:cNvPr id="59" name="Rectangle 58"/>
          <p:cNvSpPr/>
          <p:nvPr/>
        </p:nvSpPr>
        <p:spPr>
          <a:xfrm>
            <a:off x="5486400" y="4919472"/>
            <a:ext cx="1645920" cy="155448"/>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486400" y="4919472"/>
            <a:ext cx="65836" cy="155448"/>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57200" y="5148072"/>
            <a:ext cx="6858000" cy="301752"/>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40080" y="5184648"/>
            <a:ext cx="3657600" cy="228600"/>
          </a:xfrm>
          <a:prstGeom prst="rect">
            <a:avLst/>
          </a:prstGeom>
          <a:noFill/>
        </p:spPr>
        <p:txBody>
          <a:bodyPr wrap="square" lIns="45720" rIns="45720" tIns="18288" bIns="18288" anchor="t">
            <a:spAutoFit/>
          </a:bodyPr>
          <a:lstStyle/>
          <a:p>
            <a:pPr algn="l"/>
            <a:r>
              <a:rPr sz="1000" b="0" i="0">
                <a:solidFill>
                  <a:srgbClr val="111827"/>
                </a:solidFill>
                <a:latin typeface="Poppins"/>
              </a:rPr>
              <a:t>ElevenLabs premium upgrade</a:t>
            </a:r>
          </a:p>
        </p:txBody>
      </p:sp>
      <p:sp>
        <p:nvSpPr>
          <p:cNvPr id="63" name="TextBox 62"/>
          <p:cNvSpPr txBox="1"/>
          <p:nvPr/>
        </p:nvSpPr>
        <p:spPr>
          <a:xfrm>
            <a:off x="4389120" y="5184648"/>
            <a:ext cx="914400" cy="228600"/>
          </a:xfrm>
          <a:prstGeom prst="rect">
            <a:avLst/>
          </a:prstGeom>
          <a:noFill/>
        </p:spPr>
        <p:txBody>
          <a:bodyPr wrap="square" lIns="45720" rIns="45720" tIns="18288" bIns="18288" anchor="t">
            <a:spAutoFit/>
          </a:bodyPr>
          <a:lstStyle/>
          <a:p>
            <a:pPr algn="r"/>
            <a:r>
              <a:rPr sz="1000" b="1" i="0">
                <a:solidFill>
                  <a:srgbClr val="111827"/>
                </a:solidFill>
                <a:latin typeface="Poppins"/>
              </a:rPr>
              <a:t>$22</a:t>
            </a:r>
          </a:p>
        </p:txBody>
      </p:sp>
      <p:sp>
        <p:nvSpPr>
          <p:cNvPr id="64" name="Rectangle 63"/>
          <p:cNvSpPr/>
          <p:nvPr/>
        </p:nvSpPr>
        <p:spPr>
          <a:xfrm>
            <a:off x="5486400" y="5221224"/>
            <a:ext cx="1645920" cy="155448"/>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486400" y="5221224"/>
            <a:ext cx="131673" cy="155448"/>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57200" y="5449824"/>
            <a:ext cx="6858000" cy="3017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40080" y="5486400"/>
            <a:ext cx="3657600" cy="228600"/>
          </a:xfrm>
          <a:prstGeom prst="rect">
            <a:avLst/>
          </a:prstGeom>
          <a:noFill/>
        </p:spPr>
        <p:txBody>
          <a:bodyPr wrap="square" lIns="45720" rIns="45720" tIns="18288" bIns="18288" anchor="t">
            <a:spAutoFit/>
          </a:bodyPr>
          <a:lstStyle/>
          <a:p>
            <a:pPr algn="l"/>
            <a:r>
              <a:rPr sz="1000" b="0" i="0">
                <a:solidFill>
                  <a:srgbClr val="111827"/>
                </a:solidFill>
                <a:latin typeface="Poppins"/>
              </a:rPr>
              <a:t>Buffer / overage</a:t>
            </a:r>
          </a:p>
        </p:txBody>
      </p:sp>
      <p:sp>
        <p:nvSpPr>
          <p:cNvPr id="68" name="TextBox 67"/>
          <p:cNvSpPr txBox="1"/>
          <p:nvPr/>
        </p:nvSpPr>
        <p:spPr>
          <a:xfrm>
            <a:off x="4389120" y="5486400"/>
            <a:ext cx="914400" cy="228600"/>
          </a:xfrm>
          <a:prstGeom prst="rect">
            <a:avLst/>
          </a:prstGeom>
          <a:noFill/>
        </p:spPr>
        <p:txBody>
          <a:bodyPr wrap="square" lIns="45720" rIns="45720" tIns="18288" bIns="18288" anchor="t">
            <a:spAutoFit/>
          </a:bodyPr>
          <a:lstStyle/>
          <a:p>
            <a:pPr algn="r"/>
            <a:r>
              <a:rPr sz="1000" b="1" i="0">
                <a:solidFill>
                  <a:srgbClr val="111827"/>
                </a:solidFill>
                <a:latin typeface="Poppins"/>
              </a:rPr>
              <a:t>$25</a:t>
            </a:r>
          </a:p>
        </p:txBody>
      </p:sp>
      <p:sp>
        <p:nvSpPr>
          <p:cNvPr id="69" name="Rectangle 68"/>
          <p:cNvSpPr/>
          <p:nvPr/>
        </p:nvSpPr>
        <p:spPr>
          <a:xfrm>
            <a:off x="5486400" y="5522976"/>
            <a:ext cx="1645920" cy="155448"/>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486400" y="5522976"/>
            <a:ext cx="164592" cy="155448"/>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457200" y="5751576"/>
            <a:ext cx="6858000" cy="301752"/>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40080" y="5788152"/>
            <a:ext cx="3657600" cy="228600"/>
          </a:xfrm>
          <a:prstGeom prst="rect">
            <a:avLst/>
          </a:prstGeom>
          <a:noFill/>
        </p:spPr>
        <p:txBody>
          <a:bodyPr wrap="square" lIns="45720" rIns="45720" tIns="18288" bIns="18288" anchor="t">
            <a:spAutoFit/>
          </a:bodyPr>
          <a:lstStyle/>
          <a:p>
            <a:pPr algn="l"/>
            <a:r>
              <a:rPr sz="1000" b="1" i="0">
                <a:solidFill>
                  <a:srgbClr val="FFFFFF"/>
                </a:solidFill>
                <a:latin typeface="Poppins"/>
              </a:rPr>
              <a:t>TOTAL COGS</a:t>
            </a:r>
          </a:p>
        </p:txBody>
      </p:sp>
      <p:sp>
        <p:nvSpPr>
          <p:cNvPr id="73" name="TextBox 72"/>
          <p:cNvSpPr txBox="1"/>
          <p:nvPr/>
        </p:nvSpPr>
        <p:spPr>
          <a:xfrm>
            <a:off x="4389120" y="5788152"/>
            <a:ext cx="914400" cy="228600"/>
          </a:xfrm>
          <a:prstGeom prst="rect">
            <a:avLst/>
          </a:prstGeom>
          <a:noFill/>
        </p:spPr>
        <p:txBody>
          <a:bodyPr wrap="square" lIns="45720" rIns="45720" tIns="18288" bIns="18288" anchor="t">
            <a:spAutoFit/>
          </a:bodyPr>
          <a:lstStyle/>
          <a:p>
            <a:pPr algn="r"/>
            <a:r>
              <a:rPr sz="1000" b="1" i="0">
                <a:solidFill>
                  <a:srgbClr val="FFFFFF"/>
                </a:solidFill>
                <a:latin typeface="Poppins"/>
              </a:rPr>
              <a:t>$262</a:t>
            </a:r>
          </a:p>
        </p:txBody>
      </p:sp>
      <p:sp>
        <p:nvSpPr>
          <p:cNvPr id="74" name="Rectangle 73"/>
          <p:cNvSpPr/>
          <p:nvPr/>
        </p:nvSpPr>
        <p:spPr>
          <a:xfrm>
            <a:off x="5486400" y="5824728"/>
            <a:ext cx="1645920" cy="155448"/>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5486400" y="5824728"/>
            <a:ext cx="1645920" cy="155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7589520" y="2971800"/>
            <a:ext cx="4206240" cy="34747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818120" y="3108960"/>
            <a:ext cx="3931920" cy="3291840"/>
          </a:xfrm>
          <a:prstGeom prst="rect">
            <a:avLst/>
          </a:prstGeom>
          <a:noFill/>
        </p:spPr>
        <p:txBody>
          <a:bodyPr wrap="square" lIns="45720" rIns="45720" tIns="18288" bIns="18288" anchor="t">
            <a:spAutoFit/>
          </a:bodyPr>
          <a:lstStyle/>
          <a:p>
            <a:pPr algn="l">
              <a:spcAft>
                <a:spcPts val="1000"/>
              </a:spcAft>
            </a:pPr>
            <a:r>
              <a:rPr sz="1000" b="1" i="0">
                <a:solidFill>
                  <a:srgbClr val="00A3E0"/>
                </a:solidFill>
                <a:latin typeface="Poppins"/>
              </a:rPr>
              <a:t>WHY THESE UNIT ECONOMICS WIN</a:t>
            </a:r>
          </a:p>
          <a:p>
            <a:pPr algn="l">
              <a:spcAft>
                <a:spcPts val="300"/>
              </a:spcAft>
            </a:pPr>
            <a:r>
              <a:rPr sz="1200" b="1" i="0">
                <a:solidFill>
                  <a:srgbClr val="FFFFFF"/>
                </a:solidFill>
                <a:latin typeface="Poppins"/>
              </a:rPr>
              <a:t>1.  Fixed agency plans amortize</a:t>
            </a:r>
          </a:p>
          <a:p>
            <a:pPr algn="l">
              <a:spcAft>
                <a:spcPts val="1000"/>
              </a:spcAft>
            </a:pPr>
            <a:r>
              <a:rPr sz="1000" b="0" i="0">
                <a:solidFill>
                  <a:srgbClr val="CBD2DC"/>
                </a:solidFill>
                <a:latin typeface="Poppins"/>
              </a:rPr>
              <a:t>Synthflow + Chatbase are flat-fee. Every incremental client pushes marginal cost to near-zero.</a:t>
            </a:r>
          </a:p>
          <a:p>
            <a:pPr algn="l">
              <a:spcAft>
                <a:spcPts val="300"/>
              </a:spcAft>
            </a:pPr>
            <a:r>
              <a:rPr sz="1200" b="1" i="0">
                <a:solidFill>
                  <a:srgbClr val="FFFFFF"/>
                </a:solidFill>
                <a:latin typeface="Poppins"/>
              </a:rPr>
              <a:t>2.  GHL sub-accounts = free</a:t>
            </a:r>
          </a:p>
          <a:p>
            <a:pPr algn="l">
              <a:spcAft>
                <a:spcPts val="1000"/>
              </a:spcAft>
            </a:pPr>
            <a:r>
              <a:rPr sz="1000" b="0" i="0">
                <a:solidFill>
                  <a:srgbClr val="CBD2DC"/>
                </a:solidFill>
                <a:latin typeface="Poppins"/>
              </a:rPr>
              <a:t>Rob's existing plan covers unlimited client sub-accounts. No incremental CRM cost.</a:t>
            </a:r>
          </a:p>
          <a:p>
            <a:pPr algn="l">
              <a:spcAft>
                <a:spcPts val="300"/>
              </a:spcAft>
            </a:pPr>
            <a:r>
              <a:rPr sz="1200" b="1" i="0">
                <a:solidFill>
                  <a:srgbClr val="FFFFFF"/>
                </a:solidFill>
                <a:latin typeface="Poppins"/>
              </a:rPr>
              <a:t>3.  Coach time is the only real variable</a:t>
            </a:r>
          </a:p>
          <a:p>
            <a:pPr algn="l"/>
            <a:r>
              <a:rPr sz="1000" b="0" i="0">
                <a:solidFill>
                  <a:srgbClr val="CBD2DC"/>
                </a:solidFill>
                <a:latin typeface="Poppins"/>
              </a:rPr>
              <a:t>Net GM drops to 70% with coach labor. That's still best-in-class SaaS + services blended.</a:t>
            </a:r>
          </a:p>
        </p:txBody>
      </p:sp>
      <p:sp>
        <p:nvSpPr>
          <p:cNvPr id="78" name="Rectangle 77"/>
          <p:cNvSpPr/>
          <p:nvPr/>
        </p:nvSpPr>
        <p:spPr>
          <a:xfrm>
            <a:off x="457200" y="6419088"/>
            <a:ext cx="11247120" cy="27432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40080" y="6428232"/>
            <a:ext cx="10972800" cy="274320"/>
          </a:xfrm>
          <a:prstGeom prst="rect">
            <a:avLst/>
          </a:prstGeom>
          <a:noFill/>
        </p:spPr>
        <p:txBody>
          <a:bodyPr wrap="square" lIns="45720" rIns="45720" tIns="18288" bIns="18288" anchor="ctr">
            <a:spAutoFit/>
          </a:bodyPr>
          <a:lstStyle/>
          <a:p>
            <a:pPr algn="l"/>
            <a:r>
              <a:rPr sz="1100" b="1" i="0">
                <a:solidFill>
                  <a:srgbClr val="FFFFFF"/>
                </a:solidFill>
                <a:latin typeface="Poppins"/>
              </a:rPr>
              <a:t>Break-even at ~3 clients. Cash-flow positive in Month 2 at 10 clients / ~$45K MRR.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45720" rIns="45720" tIns="18288" bIns="18288" anchor="t">
            <a:spAutoFit/>
          </a:bodyPr>
          <a:lstStyle/>
          <a:p>
            <a:pPr algn="l"/>
            <a:r>
              <a:rPr sz="1000" b="1" i="0">
                <a:solidFill>
                  <a:srgbClr val="00A3E0"/>
                </a:solidFill>
                <a:latin typeface="Poppins"/>
              </a:rPr>
              <a:t>09 · 90-DAY EXECUTION PLAN</a:t>
            </a:r>
          </a:p>
        </p:txBody>
      </p:sp>
      <p:sp>
        <p:nvSpPr>
          <p:cNvPr id="4" name="TextBox 3"/>
          <p:cNvSpPr txBox="1"/>
          <p:nvPr/>
        </p:nvSpPr>
        <p:spPr>
          <a:xfrm>
            <a:off x="457200" y="594360"/>
            <a:ext cx="11247120" cy="640080"/>
          </a:xfrm>
          <a:prstGeom prst="rect">
            <a:avLst/>
          </a:prstGeom>
          <a:noFill/>
        </p:spPr>
        <p:txBody>
          <a:bodyPr wrap="square" lIns="45720" rIns="45720" tIns="18288" bIns="18288" anchor="t">
            <a:spAutoFit/>
          </a:bodyPr>
          <a:lstStyle/>
          <a:p>
            <a:pPr algn="l"/>
            <a:r>
              <a:rPr sz="2800" b="1" i="0">
                <a:solidFill>
                  <a:srgbClr val="1F2A44"/>
                </a:solidFill>
                <a:latin typeface="Poppins"/>
              </a:rPr>
              <a:t>Four phases. Twelve weeks. Non-negotiable milestones.</a:t>
            </a:r>
          </a:p>
        </p:txBody>
      </p:sp>
      <p:sp>
        <p:nvSpPr>
          <p:cNvPr id="5" name="Rectangle 4"/>
          <p:cNvSpPr/>
          <p:nvPr/>
        </p:nvSpPr>
        <p:spPr>
          <a:xfrm>
            <a:off x="457200" y="1234440"/>
            <a:ext cx="914400" cy="4572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320040"/>
            <a:ext cx="640080" cy="274320"/>
          </a:xfrm>
          <a:prstGeom prst="rect">
            <a:avLst/>
          </a:prstGeom>
          <a:noFill/>
        </p:spPr>
        <p:txBody>
          <a:bodyPr wrap="square" lIns="45720" rIns="45720" tIns="18288" bIns="18288" anchor="t">
            <a:spAutoFit/>
          </a:bodyPr>
          <a:lstStyle/>
          <a:p>
            <a:pPr algn="r"/>
            <a:r>
              <a:rPr sz="900" b="1" i="0">
                <a:solidFill>
                  <a:srgbClr val="4A5568"/>
                </a:solidFill>
                <a:latin typeface="Poppins"/>
              </a:rPr>
              <a:t>10 / 18</a:t>
            </a:r>
          </a:p>
        </p:txBody>
      </p:sp>
      <p:sp>
        <p:nvSpPr>
          <p:cNvPr id="7" name="Rectangle 6"/>
          <p:cNvSpPr/>
          <p:nvPr/>
        </p:nvSpPr>
        <p:spPr>
          <a:xfrm>
            <a:off x="0" y="6720840"/>
            <a:ext cx="12191695" cy="1371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492240"/>
            <a:ext cx="3657600" cy="274320"/>
          </a:xfrm>
          <a:prstGeom prst="rect">
            <a:avLst/>
          </a:prstGeom>
          <a:noFill/>
        </p:spPr>
        <p:txBody>
          <a:bodyPr wrap="square" lIns="45720" rIns="45720" tIns="18288" bIns="18288" anchor="t">
            <a:spAutoFit/>
          </a:bodyPr>
          <a:lstStyle/>
          <a:p>
            <a:pPr algn="l"/>
            <a:r>
              <a:rPr sz="800" b="1" i="0">
                <a:solidFill>
                  <a:srgbClr val="1F2A44"/>
                </a:solidFill>
                <a:latin typeface="Poppins"/>
              </a:rPr>
              <a:t>CLOSECLINIC</a:t>
            </a:r>
          </a:p>
        </p:txBody>
      </p:sp>
      <p:sp>
        <p:nvSpPr>
          <p:cNvPr id="9" name="TextBox 8"/>
          <p:cNvSpPr txBox="1"/>
          <p:nvPr/>
        </p:nvSpPr>
        <p:spPr>
          <a:xfrm>
            <a:off x="6400800" y="6492240"/>
            <a:ext cx="5486400" cy="274320"/>
          </a:xfrm>
          <a:prstGeom prst="rect">
            <a:avLst/>
          </a:prstGeom>
          <a:noFill/>
        </p:spPr>
        <p:txBody>
          <a:bodyPr wrap="square" lIns="45720" rIns="45720" tIns="18288" bIns="18288" anchor="t">
            <a:spAutoFit/>
          </a:bodyPr>
          <a:lstStyle/>
          <a:p>
            <a:pPr algn="r"/>
            <a:r>
              <a:rPr sz="800" b="0" i="0">
                <a:solidFill>
                  <a:srgbClr val="4A5568"/>
                </a:solidFill>
                <a:latin typeface="Poppins"/>
              </a:rPr>
              <a:t>CloseClinic · Launch Plan · 2026-04-21 · p.10</a:t>
            </a:r>
          </a:p>
        </p:txBody>
      </p:sp>
      <p:sp>
        <p:nvSpPr>
          <p:cNvPr id="10" name="Rectangle 9"/>
          <p:cNvSpPr/>
          <p:nvPr/>
        </p:nvSpPr>
        <p:spPr>
          <a:xfrm>
            <a:off x="457200" y="1554480"/>
            <a:ext cx="2788920" cy="96012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645920"/>
            <a:ext cx="2286000" cy="256032"/>
          </a:xfrm>
          <a:prstGeom prst="rect">
            <a:avLst/>
          </a:prstGeom>
          <a:noFill/>
        </p:spPr>
        <p:txBody>
          <a:bodyPr wrap="square" lIns="45720" rIns="45720" tIns="18288" bIns="18288" anchor="t">
            <a:spAutoFit/>
          </a:bodyPr>
          <a:lstStyle/>
          <a:p>
            <a:pPr algn="l"/>
            <a:r>
              <a:rPr sz="1000" b="1" i="0">
                <a:solidFill>
                  <a:srgbClr val="FFFFFF"/>
                </a:solidFill>
                <a:latin typeface="Poppins"/>
              </a:rPr>
              <a:t>PHASE 1</a:t>
            </a:r>
          </a:p>
        </p:txBody>
      </p:sp>
      <p:sp>
        <p:nvSpPr>
          <p:cNvPr id="12" name="TextBox 11"/>
          <p:cNvSpPr txBox="1"/>
          <p:nvPr/>
        </p:nvSpPr>
        <p:spPr>
          <a:xfrm>
            <a:off x="685800" y="1883664"/>
            <a:ext cx="2331720" cy="365760"/>
          </a:xfrm>
          <a:prstGeom prst="rect">
            <a:avLst/>
          </a:prstGeom>
          <a:noFill/>
        </p:spPr>
        <p:txBody>
          <a:bodyPr wrap="square" lIns="45720" rIns="45720" tIns="18288" bIns="18288" anchor="t">
            <a:spAutoFit/>
          </a:bodyPr>
          <a:lstStyle/>
          <a:p>
            <a:pPr algn="l"/>
            <a:r>
              <a:rPr sz="1700" b="1" i="0">
                <a:solidFill>
                  <a:srgbClr val="FFFFFF"/>
                </a:solidFill>
                <a:latin typeface="Poppins"/>
              </a:rPr>
              <a:t>Foundation Lock</a:t>
            </a:r>
          </a:p>
        </p:txBody>
      </p:sp>
      <p:sp>
        <p:nvSpPr>
          <p:cNvPr id="13" name="TextBox 12"/>
          <p:cNvSpPr txBox="1"/>
          <p:nvPr/>
        </p:nvSpPr>
        <p:spPr>
          <a:xfrm>
            <a:off x="685800" y="2249424"/>
            <a:ext cx="2331720" cy="228600"/>
          </a:xfrm>
          <a:prstGeom prst="rect">
            <a:avLst/>
          </a:prstGeom>
          <a:noFill/>
        </p:spPr>
        <p:txBody>
          <a:bodyPr wrap="square" lIns="45720" rIns="45720" tIns="18288" bIns="18288" anchor="t">
            <a:spAutoFit/>
          </a:bodyPr>
          <a:lstStyle/>
          <a:p>
            <a:pPr algn="l"/>
            <a:r>
              <a:rPr sz="900" b="0" i="0">
                <a:solidFill>
                  <a:srgbClr val="FFFFFF"/>
                </a:solidFill>
                <a:latin typeface="Poppins"/>
              </a:rPr>
              <a:t>Days 1–7  ·  WEEK 1</a:t>
            </a:r>
          </a:p>
        </p:txBody>
      </p:sp>
      <p:sp>
        <p:nvSpPr>
          <p:cNvPr id="14" name="Rectangle 13"/>
          <p:cNvSpPr/>
          <p:nvPr/>
        </p:nvSpPr>
        <p:spPr>
          <a:xfrm>
            <a:off x="457200" y="2514600"/>
            <a:ext cx="2788920" cy="361188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51760"/>
            <a:ext cx="2331720" cy="228600"/>
          </a:xfrm>
          <a:prstGeom prst="rect">
            <a:avLst/>
          </a:prstGeom>
          <a:noFill/>
        </p:spPr>
        <p:txBody>
          <a:bodyPr wrap="square" lIns="45720" rIns="45720" tIns="18288" bIns="18288" anchor="t">
            <a:spAutoFit/>
          </a:bodyPr>
          <a:lstStyle/>
          <a:p>
            <a:pPr algn="l"/>
            <a:r>
              <a:rPr sz="900" b="1" i="0">
                <a:solidFill>
                  <a:srgbClr val="00A3E0"/>
                </a:solidFill>
                <a:latin typeface="Poppins"/>
              </a:rPr>
              <a:t>MILESTONE</a:t>
            </a:r>
          </a:p>
        </p:txBody>
      </p:sp>
      <p:sp>
        <p:nvSpPr>
          <p:cNvPr id="16" name="TextBox 15"/>
          <p:cNvSpPr txBox="1"/>
          <p:nvPr/>
        </p:nvSpPr>
        <p:spPr>
          <a:xfrm>
            <a:off x="685800" y="2852928"/>
            <a:ext cx="2331720" cy="1188720"/>
          </a:xfrm>
          <a:prstGeom prst="rect">
            <a:avLst/>
          </a:prstGeom>
          <a:noFill/>
        </p:spPr>
        <p:txBody>
          <a:bodyPr wrap="square" lIns="45720" rIns="45720" tIns="18288" bIns="18288" anchor="t">
            <a:spAutoFit/>
          </a:bodyPr>
          <a:lstStyle/>
          <a:p>
            <a:pPr algn="l"/>
            <a:r>
              <a:rPr sz="1100" b="1" i="0">
                <a:solidFill>
                  <a:srgbClr val="1F2A44"/>
                </a:solidFill>
                <a:latin typeface="Poppins"/>
              </a:rPr>
              <a:t>Brand, legal, banking, stacks live. 3 internal demos.</a:t>
            </a:r>
          </a:p>
        </p:txBody>
      </p:sp>
      <p:sp>
        <p:nvSpPr>
          <p:cNvPr id="17" name="TextBox 16"/>
          <p:cNvSpPr txBox="1"/>
          <p:nvPr/>
        </p:nvSpPr>
        <p:spPr>
          <a:xfrm>
            <a:off x="685800" y="4069080"/>
            <a:ext cx="2331720" cy="228600"/>
          </a:xfrm>
          <a:prstGeom prst="rect">
            <a:avLst/>
          </a:prstGeom>
          <a:noFill/>
        </p:spPr>
        <p:txBody>
          <a:bodyPr wrap="square" lIns="45720" rIns="45720" tIns="18288" bIns="18288" anchor="t">
            <a:spAutoFit/>
          </a:bodyPr>
          <a:lstStyle/>
          <a:p>
            <a:pPr algn="l"/>
            <a:r>
              <a:rPr sz="900" b="1" i="0">
                <a:solidFill>
                  <a:srgbClr val="00A3E0"/>
                </a:solidFill>
                <a:latin typeface="Poppins"/>
              </a:rPr>
              <a:t>KEY DELIVERABLES</a:t>
            </a:r>
          </a:p>
        </p:txBody>
      </p:sp>
      <p:sp>
        <p:nvSpPr>
          <p:cNvPr id="18" name="TextBox 17"/>
          <p:cNvSpPr txBox="1"/>
          <p:nvPr/>
        </p:nvSpPr>
        <p:spPr>
          <a:xfrm>
            <a:off x="731520" y="4297680"/>
            <a:ext cx="182880" cy="228600"/>
          </a:xfrm>
          <a:prstGeom prst="rect">
            <a:avLst/>
          </a:prstGeom>
          <a:noFill/>
        </p:spPr>
        <p:txBody>
          <a:bodyPr wrap="square" lIns="45720" rIns="45720" tIns="18288" bIns="18288" anchor="t">
            <a:spAutoFit/>
          </a:bodyPr>
          <a:lstStyle/>
          <a:p>
            <a:pPr algn="l"/>
            <a:r>
              <a:rPr sz="1000" b="1" i="0">
                <a:solidFill>
                  <a:srgbClr val="00A3E0"/>
                </a:solidFill>
                <a:latin typeface="Poppins"/>
              </a:rPr>
              <a:t>✓</a:t>
            </a:r>
          </a:p>
        </p:txBody>
      </p:sp>
      <p:sp>
        <p:nvSpPr>
          <p:cNvPr id="19" name="TextBox 18"/>
          <p:cNvSpPr txBox="1"/>
          <p:nvPr/>
        </p:nvSpPr>
        <p:spPr>
          <a:xfrm>
            <a:off x="960120" y="4297680"/>
            <a:ext cx="2057400" cy="256032"/>
          </a:xfrm>
          <a:prstGeom prst="rect">
            <a:avLst/>
          </a:prstGeom>
          <a:noFill/>
        </p:spPr>
        <p:txBody>
          <a:bodyPr wrap="square" lIns="45720" rIns="45720" tIns="18288" bIns="18288" anchor="t">
            <a:spAutoFit/>
          </a:bodyPr>
          <a:lstStyle/>
          <a:p>
            <a:pPr algn="l"/>
            <a:r>
              <a:rPr sz="1000" b="0" i="0">
                <a:solidFill>
                  <a:srgbClr val="111827"/>
                </a:solidFill>
                <a:latin typeface="Poppins"/>
              </a:rPr>
              <a:t>Domains ×3</a:t>
            </a:r>
          </a:p>
        </p:txBody>
      </p:sp>
      <p:sp>
        <p:nvSpPr>
          <p:cNvPr id="20" name="TextBox 19"/>
          <p:cNvSpPr txBox="1"/>
          <p:nvPr/>
        </p:nvSpPr>
        <p:spPr>
          <a:xfrm>
            <a:off x="731520" y="4590288"/>
            <a:ext cx="182880" cy="228600"/>
          </a:xfrm>
          <a:prstGeom prst="rect">
            <a:avLst/>
          </a:prstGeom>
          <a:noFill/>
        </p:spPr>
        <p:txBody>
          <a:bodyPr wrap="square" lIns="45720" rIns="45720" tIns="18288" bIns="18288" anchor="t">
            <a:spAutoFit/>
          </a:bodyPr>
          <a:lstStyle/>
          <a:p>
            <a:pPr algn="l"/>
            <a:r>
              <a:rPr sz="1000" b="1" i="0">
                <a:solidFill>
                  <a:srgbClr val="00A3E0"/>
                </a:solidFill>
                <a:latin typeface="Poppins"/>
              </a:rPr>
              <a:t>✓</a:t>
            </a:r>
          </a:p>
        </p:txBody>
      </p:sp>
      <p:sp>
        <p:nvSpPr>
          <p:cNvPr id="21" name="TextBox 20"/>
          <p:cNvSpPr txBox="1"/>
          <p:nvPr/>
        </p:nvSpPr>
        <p:spPr>
          <a:xfrm>
            <a:off x="960120" y="4590288"/>
            <a:ext cx="2057400" cy="256032"/>
          </a:xfrm>
          <a:prstGeom prst="rect">
            <a:avLst/>
          </a:prstGeom>
          <a:noFill/>
        </p:spPr>
        <p:txBody>
          <a:bodyPr wrap="square" lIns="45720" rIns="45720" tIns="18288" bIns="18288" anchor="t">
            <a:spAutoFit/>
          </a:bodyPr>
          <a:lstStyle/>
          <a:p>
            <a:pPr algn="l"/>
            <a:r>
              <a:rPr sz="1000" b="0" i="0">
                <a:solidFill>
                  <a:srgbClr val="111827"/>
                </a:solidFill>
                <a:latin typeface="Poppins"/>
              </a:rPr>
              <a:t>LLC + EIN</a:t>
            </a:r>
          </a:p>
        </p:txBody>
      </p:sp>
      <p:sp>
        <p:nvSpPr>
          <p:cNvPr id="22" name="TextBox 21"/>
          <p:cNvSpPr txBox="1"/>
          <p:nvPr/>
        </p:nvSpPr>
        <p:spPr>
          <a:xfrm>
            <a:off x="731520" y="4882896"/>
            <a:ext cx="182880" cy="228600"/>
          </a:xfrm>
          <a:prstGeom prst="rect">
            <a:avLst/>
          </a:prstGeom>
          <a:noFill/>
        </p:spPr>
        <p:txBody>
          <a:bodyPr wrap="square" lIns="45720" rIns="45720" tIns="18288" bIns="18288" anchor="t">
            <a:spAutoFit/>
          </a:bodyPr>
          <a:lstStyle/>
          <a:p>
            <a:pPr algn="l"/>
            <a:r>
              <a:rPr sz="1000" b="1" i="0">
                <a:solidFill>
                  <a:srgbClr val="00A3E0"/>
                </a:solidFill>
                <a:latin typeface="Poppins"/>
              </a:rPr>
              <a:t>✓</a:t>
            </a:r>
          </a:p>
        </p:txBody>
      </p:sp>
      <p:sp>
        <p:nvSpPr>
          <p:cNvPr id="23" name="TextBox 22"/>
          <p:cNvSpPr txBox="1"/>
          <p:nvPr/>
        </p:nvSpPr>
        <p:spPr>
          <a:xfrm>
            <a:off x="960120" y="4882896"/>
            <a:ext cx="2057400" cy="256032"/>
          </a:xfrm>
          <a:prstGeom prst="rect">
            <a:avLst/>
          </a:prstGeom>
          <a:noFill/>
        </p:spPr>
        <p:txBody>
          <a:bodyPr wrap="square" lIns="45720" rIns="45720" tIns="18288" bIns="18288" anchor="t">
            <a:spAutoFit/>
          </a:bodyPr>
          <a:lstStyle/>
          <a:p>
            <a:pPr algn="l"/>
            <a:r>
              <a:rPr sz="1000" b="0" i="0">
                <a:solidFill>
                  <a:srgbClr val="111827"/>
                </a:solidFill>
                <a:latin typeface="Poppins"/>
              </a:rPr>
              <a:t>Synthflow + Chatbase</a:t>
            </a:r>
          </a:p>
        </p:txBody>
      </p:sp>
      <p:sp>
        <p:nvSpPr>
          <p:cNvPr id="24" name="TextBox 23"/>
          <p:cNvSpPr txBox="1"/>
          <p:nvPr/>
        </p:nvSpPr>
        <p:spPr>
          <a:xfrm>
            <a:off x="731520" y="5175504"/>
            <a:ext cx="182880" cy="228600"/>
          </a:xfrm>
          <a:prstGeom prst="rect">
            <a:avLst/>
          </a:prstGeom>
          <a:noFill/>
        </p:spPr>
        <p:txBody>
          <a:bodyPr wrap="square" lIns="45720" rIns="45720" tIns="18288" bIns="18288" anchor="t">
            <a:spAutoFit/>
          </a:bodyPr>
          <a:lstStyle/>
          <a:p>
            <a:pPr algn="l"/>
            <a:r>
              <a:rPr sz="1000" b="1" i="0">
                <a:solidFill>
                  <a:srgbClr val="00A3E0"/>
                </a:solidFill>
                <a:latin typeface="Poppins"/>
              </a:rPr>
              <a:t>✓</a:t>
            </a:r>
          </a:p>
        </p:txBody>
      </p:sp>
      <p:sp>
        <p:nvSpPr>
          <p:cNvPr id="25" name="TextBox 24"/>
          <p:cNvSpPr txBox="1"/>
          <p:nvPr/>
        </p:nvSpPr>
        <p:spPr>
          <a:xfrm>
            <a:off x="960120" y="5175504"/>
            <a:ext cx="2057400" cy="256032"/>
          </a:xfrm>
          <a:prstGeom prst="rect">
            <a:avLst/>
          </a:prstGeom>
          <a:noFill/>
        </p:spPr>
        <p:txBody>
          <a:bodyPr wrap="square" lIns="45720" rIns="45720" tIns="18288" bIns="18288" anchor="t">
            <a:spAutoFit/>
          </a:bodyPr>
          <a:lstStyle/>
          <a:p>
            <a:pPr algn="l"/>
            <a:r>
              <a:rPr sz="1000" b="0" i="0">
                <a:solidFill>
                  <a:srgbClr val="111827"/>
                </a:solidFill>
                <a:latin typeface="Poppins"/>
              </a:rPr>
              <a:t>n8n + Twilio</a:t>
            </a:r>
          </a:p>
        </p:txBody>
      </p:sp>
      <p:sp>
        <p:nvSpPr>
          <p:cNvPr id="26" name="TextBox 25"/>
          <p:cNvSpPr txBox="1"/>
          <p:nvPr/>
        </p:nvSpPr>
        <p:spPr>
          <a:xfrm>
            <a:off x="731520" y="5468112"/>
            <a:ext cx="182880" cy="228600"/>
          </a:xfrm>
          <a:prstGeom prst="rect">
            <a:avLst/>
          </a:prstGeom>
          <a:noFill/>
        </p:spPr>
        <p:txBody>
          <a:bodyPr wrap="square" lIns="45720" rIns="45720" tIns="18288" bIns="18288" anchor="t">
            <a:spAutoFit/>
          </a:bodyPr>
          <a:lstStyle/>
          <a:p>
            <a:pPr algn="l"/>
            <a:r>
              <a:rPr sz="1000" b="1" i="0">
                <a:solidFill>
                  <a:srgbClr val="00A3E0"/>
                </a:solidFill>
                <a:latin typeface="Poppins"/>
              </a:rPr>
              <a:t>✓</a:t>
            </a:r>
          </a:p>
        </p:txBody>
      </p:sp>
      <p:sp>
        <p:nvSpPr>
          <p:cNvPr id="27" name="TextBox 26"/>
          <p:cNvSpPr txBox="1"/>
          <p:nvPr/>
        </p:nvSpPr>
        <p:spPr>
          <a:xfrm>
            <a:off x="960120" y="5468112"/>
            <a:ext cx="2057400" cy="256032"/>
          </a:xfrm>
          <a:prstGeom prst="rect">
            <a:avLst/>
          </a:prstGeom>
          <a:noFill/>
        </p:spPr>
        <p:txBody>
          <a:bodyPr wrap="square" lIns="45720" rIns="45720" tIns="18288" bIns="18288" anchor="t">
            <a:spAutoFit/>
          </a:bodyPr>
          <a:lstStyle/>
          <a:p>
            <a:pPr algn="l"/>
            <a:r>
              <a:rPr sz="1000" b="0" i="0">
                <a:solidFill>
                  <a:srgbClr val="111827"/>
                </a:solidFill>
                <a:latin typeface="Poppins"/>
              </a:rPr>
              <a:t>USPTO filed</a:t>
            </a:r>
          </a:p>
        </p:txBody>
      </p:sp>
      <p:sp>
        <p:nvSpPr>
          <p:cNvPr id="28" name="Rectangle 27"/>
          <p:cNvSpPr/>
          <p:nvPr/>
        </p:nvSpPr>
        <p:spPr>
          <a:xfrm>
            <a:off x="3355848" y="1554480"/>
            <a:ext cx="2788920"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84448" y="1645920"/>
            <a:ext cx="2286000" cy="256032"/>
          </a:xfrm>
          <a:prstGeom prst="rect">
            <a:avLst/>
          </a:prstGeom>
          <a:noFill/>
        </p:spPr>
        <p:txBody>
          <a:bodyPr wrap="square" lIns="45720" rIns="45720" tIns="18288" bIns="18288" anchor="t">
            <a:spAutoFit/>
          </a:bodyPr>
          <a:lstStyle/>
          <a:p>
            <a:pPr algn="l"/>
            <a:r>
              <a:rPr sz="1000" b="1" i="0">
                <a:solidFill>
                  <a:srgbClr val="FFFFFF"/>
                </a:solidFill>
                <a:latin typeface="Poppins"/>
              </a:rPr>
              <a:t>PHASE 2</a:t>
            </a:r>
          </a:p>
        </p:txBody>
      </p:sp>
      <p:sp>
        <p:nvSpPr>
          <p:cNvPr id="30" name="TextBox 29"/>
          <p:cNvSpPr txBox="1"/>
          <p:nvPr/>
        </p:nvSpPr>
        <p:spPr>
          <a:xfrm>
            <a:off x="3584448" y="1883664"/>
            <a:ext cx="2331720" cy="365760"/>
          </a:xfrm>
          <a:prstGeom prst="rect">
            <a:avLst/>
          </a:prstGeom>
          <a:noFill/>
        </p:spPr>
        <p:txBody>
          <a:bodyPr wrap="square" lIns="45720" rIns="45720" tIns="18288" bIns="18288" anchor="t">
            <a:spAutoFit/>
          </a:bodyPr>
          <a:lstStyle/>
          <a:p>
            <a:pPr algn="l"/>
            <a:r>
              <a:rPr sz="1700" b="1" i="0">
                <a:solidFill>
                  <a:srgbClr val="FFFFFF"/>
                </a:solidFill>
                <a:latin typeface="Poppins"/>
              </a:rPr>
              <a:t>Website + Core Assets</a:t>
            </a:r>
          </a:p>
        </p:txBody>
      </p:sp>
      <p:sp>
        <p:nvSpPr>
          <p:cNvPr id="31" name="TextBox 30"/>
          <p:cNvSpPr txBox="1"/>
          <p:nvPr/>
        </p:nvSpPr>
        <p:spPr>
          <a:xfrm>
            <a:off x="3584448" y="2249424"/>
            <a:ext cx="2331720" cy="228600"/>
          </a:xfrm>
          <a:prstGeom prst="rect">
            <a:avLst/>
          </a:prstGeom>
          <a:noFill/>
        </p:spPr>
        <p:txBody>
          <a:bodyPr wrap="square" lIns="45720" rIns="45720" tIns="18288" bIns="18288" anchor="t">
            <a:spAutoFit/>
          </a:bodyPr>
          <a:lstStyle/>
          <a:p>
            <a:pPr algn="l"/>
            <a:r>
              <a:rPr sz="900" b="0" i="0">
                <a:solidFill>
                  <a:srgbClr val="FFFFFF"/>
                </a:solidFill>
                <a:latin typeface="Poppins"/>
              </a:rPr>
              <a:t>Days 8–14  ·  WEEK 2</a:t>
            </a:r>
          </a:p>
        </p:txBody>
      </p:sp>
      <p:sp>
        <p:nvSpPr>
          <p:cNvPr id="32" name="Rectangle 31"/>
          <p:cNvSpPr/>
          <p:nvPr/>
        </p:nvSpPr>
        <p:spPr>
          <a:xfrm>
            <a:off x="3355848" y="2514600"/>
            <a:ext cx="2788920" cy="361188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584448" y="2651760"/>
            <a:ext cx="2331720" cy="228600"/>
          </a:xfrm>
          <a:prstGeom prst="rect">
            <a:avLst/>
          </a:prstGeom>
          <a:noFill/>
        </p:spPr>
        <p:txBody>
          <a:bodyPr wrap="square" lIns="45720" rIns="45720" tIns="18288" bIns="18288" anchor="t">
            <a:spAutoFit/>
          </a:bodyPr>
          <a:lstStyle/>
          <a:p>
            <a:pPr algn="l"/>
            <a:r>
              <a:rPr sz="900" b="1" i="0">
                <a:solidFill>
                  <a:srgbClr val="1F2A44"/>
                </a:solidFill>
                <a:latin typeface="Poppins"/>
              </a:rPr>
              <a:t>MILESTONE</a:t>
            </a:r>
          </a:p>
        </p:txBody>
      </p:sp>
      <p:sp>
        <p:nvSpPr>
          <p:cNvPr id="34" name="TextBox 33"/>
          <p:cNvSpPr txBox="1"/>
          <p:nvPr/>
        </p:nvSpPr>
        <p:spPr>
          <a:xfrm>
            <a:off x="3584448" y="2852928"/>
            <a:ext cx="2331720" cy="1188720"/>
          </a:xfrm>
          <a:prstGeom prst="rect">
            <a:avLst/>
          </a:prstGeom>
          <a:noFill/>
        </p:spPr>
        <p:txBody>
          <a:bodyPr wrap="square" lIns="45720" rIns="45720" tIns="18288" bIns="18288" anchor="t">
            <a:spAutoFit/>
          </a:bodyPr>
          <a:lstStyle/>
          <a:p>
            <a:pPr algn="l"/>
            <a:r>
              <a:rPr sz="1100" b="1" i="0">
                <a:solidFill>
                  <a:srgbClr val="1F2A44"/>
                </a:solidFill>
                <a:latin typeface="Poppins"/>
              </a:rPr>
              <a:t>Next.js site, schema, llms.txt, 10 blog posts, diagnostic lead magnet.</a:t>
            </a:r>
          </a:p>
        </p:txBody>
      </p:sp>
      <p:sp>
        <p:nvSpPr>
          <p:cNvPr id="35" name="TextBox 34"/>
          <p:cNvSpPr txBox="1"/>
          <p:nvPr/>
        </p:nvSpPr>
        <p:spPr>
          <a:xfrm>
            <a:off x="3584448" y="4069080"/>
            <a:ext cx="2331720" cy="228600"/>
          </a:xfrm>
          <a:prstGeom prst="rect">
            <a:avLst/>
          </a:prstGeom>
          <a:noFill/>
        </p:spPr>
        <p:txBody>
          <a:bodyPr wrap="square" lIns="45720" rIns="45720" tIns="18288" bIns="18288" anchor="t">
            <a:spAutoFit/>
          </a:bodyPr>
          <a:lstStyle/>
          <a:p>
            <a:pPr algn="l"/>
            <a:r>
              <a:rPr sz="900" b="1" i="0">
                <a:solidFill>
                  <a:srgbClr val="1F2A44"/>
                </a:solidFill>
                <a:latin typeface="Poppins"/>
              </a:rPr>
              <a:t>KEY DELIVERABLES</a:t>
            </a:r>
          </a:p>
        </p:txBody>
      </p:sp>
      <p:sp>
        <p:nvSpPr>
          <p:cNvPr id="36" name="TextBox 35"/>
          <p:cNvSpPr txBox="1"/>
          <p:nvPr/>
        </p:nvSpPr>
        <p:spPr>
          <a:xfrm>
            <a:off x="3630168" y="4297680"/>
            <a:ext cx="182880" cy="228600"/>
          </a:xfrm>
          <a:prstGeom prst="rect">
            <a:avLst/>
          </a:prstGeom>
          <a:noFill/>
        </p:spPr>
        <p:txBody>
          <a:bodyPr wrap="square" lIns="45720" rIns="45720" tIns="18288" bIns="18288" anchor="t">
            <a:spAutoFit/>
          </a:bodyPr>
          <a:lstStyle/>
          <a:p>
            <a:pPr algn="l"/>
            <a:r>
              <a:rPr sz="1000" b="1" i="0">
                <a:solidFill>
                  <a:srgbClr val="1F2A44"/>
                </a:solidFill>
                <a:latin typeface="Poppins"/>
              </a:rPr>
              <a:t>✓</a:t>
            </a:r>
          </a:p>
        </p:txBody>
      </p:sp>
      <p:sp>
        <p:nvSpPr>
          <p:cNvPr id="37" name="TextBox 36"/>
          <p:cNvSpPr txBox="1"/>
          <p:nvPr/>
        </p:nvSpPr>
        <p:spPr>
          <a:xfrm>
            <a:off x="3858768" y="4297680"/>
            <a:ext cx="2057400" cy="256032"/>
          </a:xfrm>
          <a:prstGeom prst="rect">
            <a:avLst/>
          </a:prstGeom>
          <a:noFill/>
        </p:spPr>
        <p:txBody>
          <a:bodyPr wrap="square" lIns="45720" rIns="45720" tIns="18288" bIns="18288" anchor="t">
            <a:spAutoFit/>
          </a:bodyPr>
          <a:lstStyle/>
          <a:p>
            <a:pPr algn="l"/>
            <a:r>
              <a:rPr sz="1000" b="0" i="0">
                <a:solidFill>
                  <a:srgbClr val="111827"/>
                </a:solidFill>
                <a:latin typeface="Poppins"/>
              </a:rPr>
              <a:t>5 core pages</a:t>
            </a:r>
          </a:p>
        </p:txBody>
      </p:sp>
      <p:sp>
        <p:nvSpPr>
          <p:cNvPr id="38" name="TextBox 37"/>
          <p:cNvSpPr txBox="1"/>
          <p:nvPr/>
        </p:nvSpPr>
        <p:spPr>
          <a:xfrm>
            <a:off x="3630168" y="4590288"/>
            <a:ext cx="182880" cy="228600"/>
          </a:xfrm>
          <a:prstGeom prst="rect">
            <a:avLst/>
          </a:prstGeom>
          <a:noFill/>
        </p:spPr>
        <p:txBody>
          <a:bodyPr wrap="square" lIns="45720" rIns="45720" tIns="18288" bIns="18288" anchor="t">
            <a:spAutoFit/>
          </a:bodyPr>
          <a:lstStyle/>
          <a:p>
            <a:pPr algn="l"/>
            <a:r>
              <a:rPr sz="1000" b="1" i="0">
                <a:solidFill>
                  <a:srgbClr val="1F2A44"/>
                </a:solidFill>
                <a:latin typeface="Poppins"/>
              </a:rPr>
              <a:t>✓</a:t>
            </a:r>
          </a:p>
        </p:txBody>
      </p:sp>
      <p:sp>
        <p:nvSpPr>
          <p:cNvPr id="39" name="TextBox 38"/>
          <p:cNvSpPr txBox="1"/>
          <p:nvPr/>
        </p:nvSpPr>
        <p:spPr>
          <a:xfrm>
            <a:off x="3858768" y="4590288"/>
            <a:ext cx="2057400" cy="256032"/>
          </a:xfrm>
          <a:prstGeom prst="rect">
            <a:avLst/>
          </a:prstGeom>
          <a:noFill/>
        </p:spPr>
        <p:txBody>
          <a:bodyPr wrap="square" lIns="45720" rIns="45720" tIns="18288" bIns="18288" anchor="t">
            <a:spAutoFit/>
          </a:bodyPr>
          <a:lstStyle/>
          <a:p>
            <a:pPr algn="l"/>
            <a:r>
              <a:rPr sz="1000" b="0" i="0">
                <a:solidFill>
                  <a:srgbClr val="111827"/>
                </a:solidFill>
                <a:latin typeface="Poppins"/>
              </a:rPr>
              <a:t>Schema validates</a:t>
            </a:r>
          </a:p>
        </p:txBody>
      </p:sp>
      <p:sp>
        <p:nvSpPr>
          <p:cNvPr id="40" name="TextBox 39"/>
          <p:cNvSpPr txBox="1"/>
          <p:nvPr/>
        </p:nvSpPr>
        <p:spPr>
          <a:xfrm>
            <a:off x="3630168" y="4882896"/>
            <a:ext cx="182880" cy="228600"/>
          </a:xfrm>
          <a:prstGeom prst="rect">
            <a:avLst/>
          </a:prstGeom>
          <a:noFill/>
        </p:spPr>
        <p:txBody>
          <a:bodyPr wrap="square" lIns="45720" rIns="45720" tIns="18288" bIns="18288" anchor="t">
            <a:spAutoFit/>
          </a:bodyPr>
          <a:lstStyle/>
          <a:p>
            <a:pPr algn="l"/>
            <a:r>
              <a:rPr sz="1000" b="1" i="0">
                <a:solidFill>
                  <a:srgbClr val="1F2A44"/>
                </a:solidFill>
                <a:latin typeface="Poppins"/>
              </a:rPr>
              <a:t>✓</a:t>
            </a:r>
          </a:p>
        </p:txBody>
      </p:sp>
      <p:sp>
        <p:nvSpPr>
          <p:cNvPr id="41" name="TextBox 40"/>
          <p:cNvSpPr txBox="1"/>
          <p:nvPr/>
        </p:nvSpPr>
        <p:spPr>
          <a:xfrm>
            <a:off x="3858768" y="4882896"/>
            <a:ext cx="2057400" cy="256032"/>
          </a:xfrm>
          <a:prstGeom prst="rect">
            <a:avLst/>
          </a:prstGeom>
          <a:noFill/>
        </p:spPr>
        <p:txBody>
          <a:bodyPr wrap="square" lIns="45720" rIns="45720" tIns="18288" bIns="18288" anchor="t">
            <a:spAutoFit/>
          </a:bodyPr>
          <a:lstStyle/>
          <a:p>
            <a:pPr algn="l"/>
            <a:r>
              <a:rPr sz="1000" b="0" i="0">
                <a:solidFill>
                  <a:srgbClr val="111827"/>
                </a:solidFill>
                <a:latin typeface="Poppins"/>
              </a:rPr>
              <a:t>llms.txt + ai.toon</a:t>
            </a:r>
          </a:p>
        </p:txBody>
      </p:sp>
      <p:sp>
        <p:nvSpPr>
          <p:cNvPr id="42" name="TextBox 41"/>
          <p:cNvSpPr txBox="1"/>
          <p:nvPr/>
        </p:nvSpPr>
        <p:spPr>
          <a:xfrm>
            <a:off x="3630168" y="5175504"/>
            <a:ext cx="182880" cy="228600"/>
          </a:xfrm>
          <a:prstGeom prst="rect">
            <a:avLst/>
          </a:prstGeom>
          <a:noFill/>
        </p:spPr>
        <p:txBody>
          <a:bodyPr wrap="square" lIns="45720" rIns="45720" tIns="18288" bIns="18288" anchor="t">
            <a:spAutoFit/>
          </a:bodyPr>
          <a:lstStyle/>
          <a:p>
            <a:pPr algn="l"/>
            <a:r>
              <a:rPr sz="1000" b="1" i="0">
                <a:solidFill>
                  <a:srgbClr val="1F2A44"/>
                </a:solidFill>
                <a:latin typeface="Poppins"/>
              </a:rPr>
              <a:t>✓</a:t>
            </a:r>
          </a:p>
        </p:txBody>
      </p:sp>
      <p:sp>
        <p:nvSpPr>
          <p:cNvPr id="43" name="TextBox 42"/>
          <p:cNvSpPr txBox="1"/>
          <p:nvPr/>
        </p:nvSpPr>
        <p:spPr>
          <a:xfrm>
            <a:off x="3858768" y="5175504"/>
            <a:ext cx="2057400" cy="256032"/>
          </a:xfrm>
          <a:prstGeom prst="rect">
            <a:avLst/>
          </a:prstGeom>
          <a:noFill/>
        </p:spPr>
        <p:txBody>
          <a:bodyPr wrap="square" lIns="45720" rIns="45720" tIns="18288" bIns="18288" anchor="t">
            <a:spAutoFit/>
          </a:bodyPr>
          <a:lstStyle/>
          <a:p>
            <a:pPr algn="l"/>
            <a:r>
              <a:rPr sz="1000" b="0" i="0">
                <a:solidFill>
                  <a:srgbClr val="111827"/>
                </a:solidFill>
                <a:latin typeface="Poppins"/>
              </a:rPr>
              <a:t>10 posts live</a:t>
            </a:r>
          </a:p>
        </p:txBody>
      </p:sp>
      <p:sp>
        <p:nvSpPr>
          <p:cNvPr id="44" name="TextBox 43"/>
          <p:cNvSpPr txBox="1"/>
          <p:nvPr/>
        </p:nvSpPr>
        <p:spPr>
          <a:xfrm>
            <a:off x="3630168" y="5468112"/>
            <a:ext cx="182880" cy="228600"/>
          </a:xfrm>
          <a:prstGeom prst="rect">
            <a:avLst/>
          </a:prstGeom>
          <a:noFill/>
        </p:spPr>
        <p:txBody>
          <a:bodyPr wrap="square" lIns="45720" rIns="45720" tIns="18288" bIns="18288" anchor="t">
            <a:spAutoFit/>
          </a:bodyPr>
          <a:lstStyle/>
          <a:p>
            <a:pPr algn="l"/>
            <a:r>
              <a:rPr sz="1000" b="1" i="0">
                <a:solidFill>
                  <a:srgbClr val="1F2A44"/>
                </a:solidFill>
                <a:latin typeface="Poppins"/>
              </a:rPr>
              <a:t>✓</a:t>
            </a:r>
          </a:p>
        </p:txBody>
      </p:sp>
      <p:sp>
        <p:nvSpPr>
          <p:cNvPr id="45" name="TextBox 44"/>
          <p:cNvSpPr txBox="1"/>
          <p:nvPr/>
        </p:nvSpPr>
        <p:spPr>
          <a:xfrm>
            <a:off x="3858768" y="5468112"/>
            <a:ext cx="2057400" cy="256032"/>
          </a:xfrm>
          <a:prstGeom prst="rect">
            <a:avLst/>
          </a:prstGeom>
          <a:noFill/>
        </p:spPr>
        <p:txBody>
          <a:bodyPr wrap="square" lIns="45720" rIns="45720" tIns="18288" bIns="18288" anchor="t">
            <a:spAutoFit/>
          </a:bodyPr>
          <a:lstStyle/>
          <a:p>
            <a:pPr algn="l"/>
            <a:r>
              <a:rPr sz="1000" b="0" i="0">
                <a:solidFill>
                  <a:srgbClr val="111827"/>
                </a:solidFill>
                <a:latin typeface="Poppins"/>
              </a:rPr>
              <a:t>Diagnostic live</a:t>
            </a:r>
          </a:p>
        </p:txBody>
      </p:sp>
      <p:sp>
        <p:nvSpPr>
          <p:cNvPr id="46" name="Rectangle 45"/>
          <p:cNvSpPr/>
          <p:nvPr/>
        </p:nvSpPr>
        <p:spPr>
          <a:xfrm>
            <a:off x="6254496" y="1554480"/>
            <a:ext cx="278892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83096" y="1645920"/>
            <a:ext cx="2286000" cy="256032"/>
          </a:xfrm>
          <a:prstGeom prst="rect">
            <a:avLst/>
          </a:prstGeom>
          <a:noFill/>
        </p:spPr>
        <p:txBody>
          <a:bodyPr wrap="square" lIns="45720" rIns="45720" tIns="18288" bIns="18288" anchor="t">
            <a:spAutoFit/>
          </a:bodyPr>
          <a:lstStyle/>
          <a:p>
            <a:pPr algn="l"/>
            <a:r>
              <a:rPr sz="1000" b="1" i="0">
                <a:solidFill>
                  <a:srgbClr val="FFFFFF"/>
                </a:solidFill>
                <a:latin typeface="Poppins"/>
              </a:rPr>
              <a:t>PHASE 3</a:t>
            </a:r>
          </a:p>
        </p:txBody>
      </p:sp>
      <p:sp>
        <p:nvSpPr>
          <p:cNvPr id="48" name="TextBox 47"/>
          <p:cNvSpPr txBox="1"/>
          <p:nvPr/>
        </p:nvSpPr>
        <p:spPr>
          <a:xfrm>
            <a:off x="6483096" y="1883664"/>
            <a:ext cx="2331720" cy="365760"/>
          </a:xfrm>
          <a:prstGeom prst="rect">
            <a:avLst/>
          </a:prstGeom>
          <a:noFill/>
        </p:spPr>
        <p:txBody>
          <a:bodyPr wrap="square" lIns="45720" rIns="45720" tIns="18288" bIns="18288" anchor="t">
            <a:spAutoFit/>
          </a:bodyPr>
          <a:lstStyle/>
          <a:p>
            <a:pPr algn="l"/>
            <a:r>
              <a:rPr sz="1700" b="1" i="0">
                <a:solidFill>
                  <a:srgbClr val="FFFFFF"/>
                </a:solidFill>
                <a:latin typeface="Poppins"/>
              </a:rPr>
              <a:t>Content + First Clients</a:t>
            </a:r>
          </a:p>
        </p:txBody>
      </p:sp>
      <p:sp>
        <p:nvSpPr>
          <p:cNvPr id="49" name="TextBox 48"/>
          <p:cNvSpPr txBox="1"/>
          <p:nvPr/>
        </p:nvSpPr>
        <p:spPr>
          <a:xfrm>
            <a:off x="6483096" y="2249424"/>
            <a:ext cx="2331720" cy="228600"/>
          </a:xfrm>
          <a:prstGeom prst="rect">
            <a:avLst/>
          </a:prstGeom>
          <a:noFill/>
        </p:spPr>
        <p:txBody>
          <a:bodyPr wrap="square" lIns="45720" rIns="45720" tIns="18288" bIns="18288" anchor="t">
            <a:spAutoFit/>
          </a:bodyPr>
          <a:lstStyle/>
          <a:p>
            <a:pPr algn="l"/>
            <a:r>
              <a:rPr sz="900" b="0" i="0">
                <a:solidFill>
                  <a:srgbClr val="FFFFFF"/>
                </a:solidFill>
                <a:latin typeface="Poppins"/>
              </a:rPr>
              <a:t>Days 15–30  ·  WEEK 3–4</a:t>
            </a:r>
          </a:p>
        </p:txBody>
      </p:sp>
      <p:sp>
        <p:nvSpPr>
          <p:cNvPr id="50" name="Rectangle 49"/>
          <p:cNvSpPr/>
          <p:nvPr/>
        </p:nvSpPr>
        <p:spPr>
          <a:xfrm>
            <a:off x="6254496" y="2514600"/>
            <a:ext cx="2788920" cy="361188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83096" y="2651760"/>
            <a:ext cx="2331720" cy="228600"/>
          </a:xfrm>
          <a:prstGeom prst="rect">
            <a:avLst/>
          </a:prstGeom>
          <a:noFill/>
        </p:spPr>
        <p:txBody>
          <a:bodyPr wrap="square" lIns="45720" rIns="45720" tIns="18288" bIns="18288" anchor="t">
            <a:spAutoFit/>
          </a:bodyPr>
          <a:lstStyle/>
          <a:p>
            <a:pPr algn="l"/>
            <a:r>
              <a:rPr sz="900" b="1" i="0">
                <a:solidFill>
                  <a:srgbClr val="F59E0B"/>
                </a:solidFill>
                <a:latin typeface="Poppins"/>
              </a:rPr>
              <a:t>MILESTONE</a:t>
            </a:r>
          </a:p>
        </p:txBody>
      </p:sp>
      <p:sp>
        <p:nvSpPr>
          <p:cNvPr id="52" name="TextBox 51"/>
          <p:cNvSpPr txBox="1"/>
          <p:nvPr/>
        </p:nvSpPr>
        <p:spPr>
          <a:xfrm>
            <a:off x="6483096" y="2852928"/>
            <a:ext cx="2331720" cy="1188720"/>
          </a:xfrm>
          <a:prstGeom prst="rect">
            <a:avLst/>
          </a:prstGeom>
          <a:noFill/>
        </p:spPr>
        <p:txBody>
          <a:bodyPr wrap="square" lIns="45720" rIns="45720" tIns="18288" bIns="18288" anchor="t">
            <a:spAutoFit/>
          </a:bodyPr>
          <a:lstStyle/>
          <a:p>
            <a:pPr algn="l"/>
            <a:r>
              <a:rPr sz="1100" b="1" i="0">
                <a:solidFill>
                  <a:srgbClr val="1F2A44"/>
                </a:solidFill>
                <a:latin typeface="Poppins"/>
              </a:rPr>
              <a:t>Founder's letter live, 5 clients paying, ~$17K MRR.</a:t>
            </a:r>
          </a:p>
        </p:txBody>
      </p:sp>
      <p:sp>
        <p:nvSpPr>
          <p:cNvPr id="53" name="TextBox 52"/>
          <p:cNvSpPr txBox="1"/>
          <p:nvPr/>
        </p:nvSpPr>
        <p:spPr>
          <a:xfrm>
            <a:off x="6483096" y="4069080"/>
            <a:ext cx="2331720" cy="228600"/>
          </a:xfrm>
          <a:prstGeom prst="rect">
            <a:avLst/>
          </a:prstGeom>
          <a:noFill/>
        </p:spPr>
        <p:txBody>
          <a:bodyPr wrap="square" lIns="45720" rIns="45720" tIns="18288" bIns="18288" anchor="t">
            <a:spAutoFit/>
          </a:bodyPr>
          <a:lstStyle/>
          <a:p>
            <a:pPr algn="l"/>
            <a:r>
              <a:rPr sz="900" b="1" i="0">
                <a:solidFill>
                  <a:srgbClr val="F59E0B"/>
                </a:solidFill>
                <a:latin typeface="Poppins"/>
              </a:rPr>
              <a:t>KEY DELIVERABLES</a:t>
            </a:r>
          </a:p>
        </p:txBody>
      </p:sp>
      <p:sp>
        <p:nvSpPr>
          <p:cNvPr id="54" name="TextBox 53"/>
          <p:cNvSpPr txBox="1"/>
          <p:nvPr/>
        </p:nvSpPr>
        <p:spPr>
          <a:xfrm>
            <a:off x="6528816" y="4297680"/>
            <a:ext cx="182880" cy="228600"/>
          </a:xfrm>
          <a:prstGeom prst="rect">
            <a:avLst/>
          </a:prstGeom>
          <a:noFill/>
        </p:spPr>
        <p:txBody>
          <a:bodyPr wrap="square" lIns="45720" rIns="45720" tIns="18288" bIns="18288" anchor="t">
            <a:spAutoFit/>
          </a:bodyPr>
          <a:lstStyle/>
          <a:p>
            <a:pPr algn="l"/>
            <a:r>
              <a:rPr sz="1000" b="1" i="0">
                <a:solidFill>
                  <a:srgbClr val="F59E0B"/>
                </a:solidFill>
                <a:latin typeface="Poppins"/>
              </a:rPr>
              <a:t>✓</a:t>
            </a:r>
          </a:p>
        </p:txBody>
      </p:sp>
      <p:sp>
        <p:nvSpPr>
          <p:cNvPr id="55" name="TextBox 54"/>
          <p:cNvSpPr txBox="1"/>
          <p:nvPr/>
        </p:nvSpPr>
        <p:spPr>
          <a:xfrm>
            <a:off x="6757416" y="4297680"/>
            <a:ext cx="2057400" cy="256032"/>
          </a:xfrm>
          <a:prstGeom prst="rect">
            <a:avLst/>
          </a:prstGeom>
          <a:noFill/>
        </p:spPr>
        <p:txBody>
          <a:bodyPr wrap="square" lIns="45720" rIns="45720" tIns="18288" bIns="18288" anchor="t">
            <a:spAutoFit/>
          </a:bodyPr>
          <a:lstStyle/>
          <a:p>
            <a:pPr algn="l"/>
            <a:r>
              <a:rPr sz="1000" b="0" i="0">
                <a:solidFill>
                  <a:srgbClr val="111827"/>
                </a:solidFill>
                <a:latin typeface="Poppins"/>
              </a:rPr>
              <a:t>Rolodex email</a:t>
            </a:r>
          </a:p>
        </p:txBody>
      </p:sp>
      <p:sp>
        <p:nvSpPr>
          <p:cNvPr id="56" name="TextBox 55"/>
          <p:cNvSpPr txBox="1"/>
          <p:nvPr/>
        </p:nvSpPr>
        <p:spPr>
          <a:xfrm>
            <a:off x="6528816" y="4590288"/>
            <a:ext cx="182880" cy="228600"/>
          </a:xfrm>
          <a:prstGeom prst="rect">
            <a:avLst/>
          </a:prstGeom>
          <a:noFill/>
        </p:spPr>
        <p:txBody>
          <a:bodyPr wrap="square" lIns="45720" rIns="45720" tIns="18288" bIns="18288" anchor="t">
            <a:spAutoFit/>
          </a:bodyPr>
          <a:lstStyle/>
          <a:p>
            <a:pPr algn="l"/>
            <a:r>
              <a:rPr sz="1000" b="1" i="0">
                <a:solidFill>
                  <a:srgbClr val="F59E0B"/>
                </a:solidFill>
                <a:latin typeface="Poppins"/>
              </a:rPr>
              <a:t>✓</a:t>
            </a:r>
          </a:p>
        </p:txBody>
      </p:sp>
      <p:sp>
        <p:nvSpPr>
          <p:cNvPr id="57" name="TextBox 56"/>
          <p:cNvSpPr txBox="1"/>
          <p:nvPr/>
        </p:nvSpPr>
        <p:spPr>
          <a:xfrm>
            <a:off x="6757416" y="4590288"/>
            <a:ext cx="2057400" cy="256032"/>
          </a:xfrm>
          <a:prstGeom prst="rect">
            <a:avLst/>
          </a:prstGeom>
          <a:noFill/>
        </p:spPr>
        <p:txBody>
          <a:bodyPr wrap="square" lIns="45720" rIns="45720" tIns="18288" bIns="18288" anchor="t">
            <a:spAutoFit/>
          </a:bodyPr>
          <a:lstStyle/>
          <a:p>
            <a:pPr algn="l"/>
            <a:r>
              <a:rPr sz="1000" b="0" i="0">
                <a:solidFill>
                  <a:srgbClr val="111827"/>
                </a:solidFill>
                <a:latin typeface="Poppins"/>
              </a:rPr>
              <a:t>5 podcast eps</a:t>
            </a:r>
          </a:p>
        </p:txBody>
      </p:sp>
      <p:sp>
        <p:nvSpPr>
          <p:cNvPr id="58" name="TextBox 57"/>
          <p:cNvSpPr txBox="1"/>
          <p:nvPr/>
        </p:nvSpPr>
        <p:spPr>
          <a:xfrm>
            <a:off x="6528816" y="4882896"/>
            <a:ext cx="182880" cy="228600"/>
          </a:xfrm>
          <a:prstGeom prst="rect">
            <a:avLst/>
          </a:prstGeom>
          <a:noFill/>
        </p:spPr>
        <p:txBody>
          <a:bodyPr wrap="square" lIns="45720" rIns="45720" tIns="18288" bIns="18288" anchor="t">
            <a:spAutoFit/>
          </a:bodyPr>
          <a:lstStyle/>
          <a:p>
            <a:pPr algn="l"/>
            <a:r>
              <a:rPr sz="1000" b="1" i="0">
                <a:solidFill>
                  <a:srgbClr val="F59E0B"/>
                </a:solidFill>
                <a:latin typeface="Poppins"/>
              </a:rPr>
              <a:t>✓</a:t>
            </a:r>
          </a:p>
        </p:txBody>
      </p:sp>
      <p:sp>
        <p:nvSpPr>
          <p:cNvPr id="59" name="TextBox 58"/>
          <p:cNvSpPr txBox="1"/>
          <p:nvPr/>
        </p:nvSpPr>
        <p:spPr>
          <a:xfrm>
            <a:off x="6757416" y="4882896"/>
            <a:ext cx="2057400" cy="256032"/>
          </a:xfrm>
          <a:prstGeom prst="rect">
            <a:avLst/>
          </a:prstGeom>
          <a:noFill/>
        </p:spPr>
        <p:txBody>
          <a:bodyPr wrap="square" lIns="45720" rIns="45720" tIns="18288" bIns="18288" anchor="t">
            <a:spAutoFit/>
          </a:bodyPr>
          <a:lstStyle/>
          <a:p>
            <a:pPr algn="l"/>
            <a:r>
              <a:rPr sz="1000" b="0" i="0">
                <a:solidFill>
                  <a:srgbClr val="111827"/>
                </a:solidFill>
                <a:latin typeface="Poppins"/>
              </a:rPr>
              <a:t>5 paying clients</a:t>
            </a:r>
          </a:p>
        </p:txBody>
      </p:sp>
      <p:sp>
        <p:nvSpPr>
          <p:cNvPr id="60" name="TextBox 59"/>
          <p:cNvSpPr txBox="1"/>
          <p:nvPr/>
        </p:nvSpPr>
        <p:spPr>
          <a:xfrm>
            <a:off x="6528816" y="5175504"/>
            <a:ext cx="182880" cy="228600"/>
          </a:xfrm>
          <a:prstGeom prst="rect">
            <a:avLst/>
          </a:prstGeom>
          <a:noFill/>
        </p:spPr>
        <p:txBody>
          <a:bodyPr wrap="square" lIns="45720" rIns="45720" tIns="18288" bIns="18288" anchor="t">
            <a:spAutoFit/>
          </a:bodyPr>
          <a:lstStyle/>
          <a:p>
            <a:pPr algn="l"/>
            <a:r>
              <a:rPr sz="1000" b="1" i="0">
                <a:solidFill>
                  <a:srgbClr val="F59E0B"/>
                </a:solidFill>
                <a:latin typeface="Poppins"/>
              </a:rPr>
              <a:t>✓</a:t>
            </a:r>
          </a:p>
        </p:txBody>
      </p:sp>
      <p:sp>
        <p:nvSpPr>
          <p:cNvPr id="61" name="TextBox 60"/>
          <p:cNvSpPr txBox="1"/>
          <p:nvPr/>
        </p:nvSpPr>
        <p:spPr>
          <a:xfrm>
            <a:off x="6757416" y="5175504"/>
            <a:ext cx="2057400" cy="256032"/>
          </a:xfrm>
          <a:prstGeom prst="rect">
            <a:avLst/>
          </a:prstGeom>
          <a:noFill/>
        </p:spPr>
        <p:txBody>
          <a:bodyPr wrap="square" lIns="45720" rIns="45720" tIns="18288" bIns="18288" anchor="t">
            <a:spAutoFit/>
          </a:bodyPr>
          <a:lstStyle/>
          <a:p>
            <a:pPr algn="l"/>
            <a:r>
              <a:rPr sz="1000" b="0" i="0">
                <a:solidFill>
                  <a:srgbClr val="111827"/>
                </a:solidFill>
                <a:latin typeface="Poppins"/>
              </a:rPr>
              <a:t>~$17K MRR</a:t>
            </a:r>
          </a:p>
        </p:txBody>
      </p:sp>
      <p:sp>
        <p:nvSpPr>
          <p:cNvPr id="62" name="TextBox 61"/>
          <p:cNvSpPr txBox="1"/>
          <p:nvPr/>
        </p:nvSpPr>
        <p:spPr>
          <a:xfrm>
            <a:off x="6528816" y="5468112"/>
            <a:ext cx="182880" cy="228600"/>
          </a:xfrm>
          <a:prstGeom prst="rect">
            <a:avLst/>
          </a:prstGeom>
          <a:noFill/>
        </p:spPr>
        <p:txBody>
          <a:bodyPr wrap="square" lIns="45720" rIns="45720" tIns="18288" bIns="18288" anchor="t">
            <a:spAutoFit/>
          </a:bodyPr>
          <a:lstStyle/>
          <a:p>
            <a:pPr algn="l"/>
            <a:r>
              <a:rPr sz="1000" b="1" i="0">
                <a:solidFill>
                  <a:srgbClr val="F59E0B"/>
                </a:solidFill>
                <a:latin typeface="Poppins"/>
              </a:rPr>
              <a:t>✓</a:t>
            </a:r>
          </a:p>
        </p:txBody>
      </p:sp>
      <p:sp>
        <p:nvSpPr>
          <p:cNvPr id="63" name="TextBox 62"/>
          <p:cNvSpPr txBox="1"/>
          <p:nvPr/>
        </p:nvSpPr>
        <p:spPr>
          <a:xfrm>
            <a:off x="6757416" y="5468112"/>
            <a:ext cx="2057400" cy="256032"/>
          </a:xfrm>
          <a:prstGeom prst="rect">
            <a:avLst/>
          </a:prstGeom>
          <a:noFill/>
        </p:spPr>
        <p:txBody>
          <a:bodyPr wrap="square" lIns="45720" rIns="45720" tIns="18288" bIns="18288" anchor="t">
            <a:spAutoFit/>
          </a:bodyPr>
          <a:lstStyle/>
          <a:p>
            <a:pPr algn="l"/>
            <a:r>
              <a:rPr sz="1000" b="0" i="0">
                <a:solidFill>
                  <a:srgbClr val="111827"/>
                </a:solidFill>
                <a:latin typeface="Poppins"/>
              </a:rPr>
              <a:t>Pitch Roofing Contractor</a:t>
            </a:r>
          </a:p>
        </p:txBody>
      </p:sp>
      <p:sp>
        <p:nvSpPr>
          <p:cNvPr id="64" name="Rectangle 63"/>
          <p:cNvSpPr/>
          <p:nvPr/>
        </p:nvSpPr>
        <p:spPr>
          <a:xfrm>
            <a:off x="9153144" y="1554480"/>
            <a:ext cx="2788920" cy="96012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381744" y="1645920"/>
            <a:ext cx="2286000" cy="256032"/>
          </a:xfrm>
          <a:prstGeom prst="rect">
            <a:avLst/>
          </a:prstGeom>
          <a:noFill/>
        </p:spPr>
        <p:txBody>
          <a:bodyPr wrap="square" lIns="45720" rIns="45720" tIns="18288" bIns="18288" anchor="t">
            <a:spAutoFit/>
          </a:bodyPr>
          <a:lstStyle/>
          <a:p>
            <a:pPr algn="l"/>
            <a:r>
              <a:rPr sz="1000" b="1" i="0">
                <a:solidFill>
                  <a:srgbClr val="FFFFFF"/>
                </a:solidFill>
                <a:latin typeface="Poppins"/>
              </a:rPr>
              <a:t>PHASE 4</a:t>
            </a:r>
          </a:p>
        </p:txBody>
      </p:sp>
      <p:sp>
        <p:nvSpPr>
          <p:cNvPr id="66" name="TextBox 65"/>
          <p:cNvSpPr txBox="1"/>
          <p:nvPr/>
        </p:nvSpPr>
        <p:spPr>
          <a:xfrm>
            <a:off x="9381744" y="1883664"/>
            <a:ext cx="2331720" cy="365760"/>
          </a:xfrm>
          <a:prstGeom prst="rect">
            <a:avLst/>
          </a:prstGeom>
          <a:noFill/>
        </p:spPr>
        <p:txBody>
          <a:bodyPr wrap="square" lIns="45720" rIns="45720" tIns="18288" bIns="18288" anchor="t">
            <a:spAutoFit/>
          </a:bodyPr>
          <a:lstStyle/>
          <a:p>
            <a:pPr algn="l"/>
            <a:r>
              <a:rPr sz="1700" b="1" i="0">
                <a:solidFill>
                  <a:srgbClr val="FFFFFF"/>
                </a:solidFill>
                <a:latin typeface="Poppins"/>
              </a:rPr>
              <a:t>Authority + Dominate</a:t>
            </a:r>
          </a:p>
        </p:txBody>
      </p:sp>
      <p:sp>
        <p:nvSpPr>
          <p:cNvPr id="67" name="TextBox 66"/>
          <p:cNvSpPr txBox="1"/>
          <p:nvPr/>
        </p:nvSpPr>
        <p:spPr>
          <a:xfrm>
            <a:off x="9381744" y="2249424"/>
            <a:ext cx="2331720" cy="228600"/>
          </a:xfrm>
          <a:prstGeom prst="rect">
            <a:avLst/>
          </a:prstGeom>
          <a:noFill/>
        </p:spPr>
        <p:txBody>
          <a:bodyPr wrap="square" lIns="45720" rIns="45720" tIns="18288" bIns="18288" anchor="t">
            <a:spAutoFit/>
          </a:bodyPr>
          <a:lstStyle/>
          <a:p>
            <a:pPr algn="l"/>
            <a:r>
              <a:rPr sz="900" b="0" i="0">
                <a:solidFill>
                  <a:srgbClr val="FFFFFF"/>
                </a:solidFill>
                <a:latin typeface="Poppins"/>
              </a:rPr>
              <a:t>Days 31–90  ·  WEEK 5–13</a:t>
            </a:r>
          </a:p>
        </p:txBody>
      </p:sp>
      <p:sp>
        <p:nvSpPr>
          <p:cNvPr id="68" name="Rectangle 67"/>
          <p:cNvSpPr/>
          <p:nvPr/>
        </p:nvSpPr>
        <p:spPr>
          <a:xfrm>
            <a:off x="9153144" y="2514600"/>
            <a:ext cx="2788920" cy="361188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381744" y="2651760"/>
            <a:ext cx="2331720" cy="228600"/>
          </a:xfrm>
          <a:prstGeom prst="rect">
            <a:avLst/>
          </a:prstGeom>
          <a:noFill/>
        </p:spPr>
        <p:txBody>
          <a:bodyPr wrap="square" lIns="45720" rIns="45720" tIns="18288" bIns="18288" anchor="t">
            <a:spAutoFit/>
          </a:bodyPr>
          <a:lstStyle/>
          <a:p>
            <a:pPr algn="l"/>
            <a:r>
              <a:rPr sz="900" b="1" i="0">
                <a:solidFill>
                  <a:srgbClr val="22C55E"/>
                </a:solidFill>
                <a:latin typeface="Poppins"/>
              </a:rPr>
              <a:t>MILESTONE</a:t>
            </a:r>
          </a:p>
        </p:txBody>
      </p:sp>
      <p:sp>
        <p:nvSpPr>
          <p:cNvPr id="70" name="TextBox 69"/>
          <p:cNvSpPr txBox="1"/>
          <p:nvPr/>
        </p:nvSpPr>
        <p:spPr>
          <a:xfrm>
            <a:off x="9381744" y="2852928"/>
            <a:ext cx="2331720" cy="1188720"/>
          </a:xfrm>
          <a:prstGeom prst="rect">
            <a:avLst/>
          </a:prstGeom>
          <a:noFill/>
        </p:spPr>
        <p:txBody>
          <a:bodyPr wrap="square" lIns="45720" rIns="45720" tIns="18288" bIns="18288" anchor="t">
            <a:spAutoFit/>
          </a:bodyPr>
          <a:lstStyle/>
          <a:p>
            <a:pPr algn="l"/>
            <a:r>
              <a:rPr sz="1100" b="1" i="0">
                <a:solidFill>
                  <a:srgbClr val="1F2A44"/>
                </a:solidFill>
                <a:latin typeface="Poppins"/>
              </a:rPr>
              <a:t>30 clients, $120K MRR, book proposal, 2 tier-1 press hits.</a:t>
            </a:r>
          </a:p>
        </p:txBody>
      </p:sp>
      <p:sp>
        <p:nvSpPr>
          <p:cNvPr id="71" name="TextBox 70"/>
          <p:cNvSpPr txBox="1"/>
          <p:nvPr/>
        </p:nvSpPr>
        <p:spPr>
          <a:xfrm>
            <a:off x="9381744" y="4069080"/>
            <a:ext cx="2331720" cy="228600"/>
          </a:xfrm>
          <a:prstGeom prst="rect">
            <a:avLst/>
          </a:prstGeom>
          <a:noFill/>
        </p:spPr>
        <p:txBody>
          <a:bodyPr wrap="square" lIns="45720" rIns="45720" tIns="18288" bIns="18288" anchor="t">
            <a:spAutoFit/>
          </a:bodyPr>
          <a:lstStyle/>
          <a:p>
            <a:pPr algn="l"/>
            <a:r>
              <a:rPr sz="900" b="1" i="0">
                <a:solidFill>
                  <a:srgbClr val="22C55E"/>
                </a:solidFill>
                <a:latin typeface="Poppins"/>
              </a:rPr>
              <a:t>KEY DELIVERABLES</a:t>
            </a:r>
          </a:p>
        </p:txBody>
      </p:sp>
      <p:sp>
        <p:nvSpPr>
          <p:cNvPr id="72" name="TextBox 71"/>
          <p:cNvSpPr txBox="1"/>
          <p:nvPr/>
        </p:nvSpPr>
        <p:spPr>
          <a:xfrm>
            <a:off x="9427464" y="4297680"/>
            <a:ext cx="182880" cy="228600"/>
          </a:xfrm>
          <a:prstGeom prst="rect">
            <a:avLst/>
          </a:prstGeom>
          <a:noFill/>
        </p:spPr>
        <p:txBody>
          <a:bodyPr wrap="square" lIns="45720" rIns="45720" tIns="18288" bIns="18288" anchor="t">
            <a:spAutoFit/>
          </a:bodyPr>
          <a:lstStyle/>
          <a:p>
            <a:pPr algn="l"/>
            <a:r>
              <a:rPr sz="1000" b="1" i="0">
                <a:solidFill>
                  <a:srgbClr val="22C55E"/>
                </a:solidFill>
                <a:latin typeface="Poppins"/>
              </a:rPr>
              <a:t>✓</a:t>
            </a:r>
          </a:p>
        </p:txBody>
      </p:sp>
      <p:sp>
        <p:nvSpPr>
          <p:cNvPr id="73" name="TextBox 72"/>
          <p:cNvSpPr txBox="1"/>
          <p:nvPr/>
        </p:nvSpPr>
        <p:spPr>
          <a:xfrm>
            <a:off x="9656064" y="4297680"/>
            <a:ext cx="2057400" cy="256032"/>
          </a:xfrm>
          <a:prstGeom prst="rect">
            <a:avLst/>
          </a:prstGeom>
          <a:noFill/>
        </p:spPr>
        <p:txBody>
          <a:bodyPr wrap="square" lIns="45720" rIns="45720" tIns="18288" bIns="18288" anchor="t">
            <a:spAutoFit/>
          </a:bodyPr>
          <a:lstStyle/>
          <a:p>
            <a:pPr algn="l"/>
            <a:r>
              <a:rPr sz="1000" b="0" i="0">
                <a:solidFill>
                  <a:srgbClr val="111827"/>
                </a:solidFill>
                <a:latin typeface="Poppins"/>
              </a:rPr>
              <a:t>30 clients</a:t>
            </a:r>
          </a:p>
        </p:txBody>
      </p:sp>
      <p:sp>
        <p:nvSpPr>
          <p:cNvPr id="74" name="TextBox 73"/>
          <p:cNvSpPr txBox="1"/>
          <p:nvPr/>
        </p:nvSpPr>
        <p:spPr>
          <a:xfrm>
            <a:off x="9427464" y="4590288"/>
            <a:ext cx="182880" cy="228600"/>
          </a:xfrm>
          <a:prstGeom prst="rect">
            <a:avLst/>
          </a:prstGeom>
          <a:noFill/>
        </p:spPr>
        <p:txBody>
          <a:bodyPr wrap="square" lIns="45720" rIns="45720" tIns="18288" bIns="18288" anchor="t">
            <a:spAutoFit/>
          </a:bodyPr>
          <a:lstStyle/>
          <a:p>
            <a:pPr algn="l"/>
            <a:r>
              <a:rPr sz="1000" b="1" i="0">
                <a:solidFill>
                  <a:srgbClr val="22C55E"/>
                </a:solidFill>
                <a:latin typeface="Poppins"/>
              </a:rPr>
              <a:t>✓</a:t>
            </a:r>
          </a:p>
        </p:txBody>
      </p:sp>
      <p:sp>
        <p:nvSpPr>
          <p:cNvPr id="75" name="TextBox 74"/>
          <p:cNvSpPr txBox="1"/>
          <p:nvPr/>
        </p:nvSpPr>
        <p:spPr>
          <a:xfrm>
            <a:off x="9656064" y="4590288"/>
            <a:ext cx="2057400" cy="256032"/>
          </a:xfrm>
          <a:prstGeom prst="rect">
            <a:avLst/>
          </a:prstGeom>
          <a:noFill/>
        </p:spPr>
        <p:txBody>
          <a:bodyPr wrap="square" lIns="45720" rIns="45720" tIns="18288" bIns="18288" anchor="t">
            <a:spAutoFit/>
          </a:bodyPr>
          <a:lstStyle/>
          <a:p>
            <a:pPr algn="l"/>
            <a:r>
              <a:rPr sz="1000" b="0" i="0">
                <a:solidFill>
                  <a:srgbClr val="111827"/>
                </a:solidFill>
                <a:latin typeface="Poppins"/>
              </a:rPr>
              <a:t>$120K MRR</a:t>
            </a:r>
          </a:p>
        </p:txBody>
      </p:sp>
      <p:sp>
        <p:nvSpPr>
          <p:cNvPr id="76" name="TextBox 75"/>
          <p:cNvSpPr txBox="1"/>
          <p:nvPr/>
        </p:nvSpPr>
        <p:spPr>
          <a:xfrm>
            <a:off x="9427464" y="4882896"/>
            <a:ext cx="182880" cy="228600"/>
          </a:xfrm>
          <a:prstGeom prst="rect">
            <a:avLst/>
          </a:prstGeom>
          <a:noFill/>
        </p:spPr>
        <p:txBody>
          <a:bodyPr wrap="square" lIns="45720" rIns="45720" tIns="18288" bIns="18288" anchor="t">
            <a:spAutoFit/>
          </a:bodyPr>
          <a:lstStyle/>
          <a:p>
            <a:pPr algn="l"/>
            <a:r>
              <a:rPr sz="1000" b="1" i="0">
                <a:solidFill>
                  <a:srgbClr val="22C55E"/>
                </a:solidFill>
                <a:latin typeface="Poppins"/>
              </a:rPr>
              <a:t>✓</a:t>
            </a:r>
          </a:p>
        </p:txBody>
      </p:sp>
      <p:sp>
        <p:nvSpPr>
          <p:cNvPr id="77" name="TextBox 76"/>
          <p:cNvSpPr txBox="1"/>
          <p:nvPr/>
        </p:nvSpPr>
        <p:spPr>
          <a:xfrm>
            <a:off x="9656064" y="4882896"/>
            <a:ext cx="2057400" cy="256032"/>
          </a:xfrm>
          <a:prstGeom prst="rect">
            <a:avLst/>
          </a:prstGeom>
          <a:noFill/>
        </p:spPr>
        <p:txBody>
          <a:bodyPr wrap="square" lIns="45720" rIns="45720" tIns="18288" bIns="18288" anchor="t">
            <a:spAutoFit/>
          </a:bodyPr>
          <a:lstStyle/>
          <a:p>
            <a:pPr algn="l"/>
            <a:r>
              <a:rPr sz="1000" b="0" i="0">
                <a:solidFill>
                  <a:srgbClr val="111827"/>
                </a:solidFill>
                <a:latin typeface="Poppins"/>
              </a:rPr>
              <a:t>Leaky Bucket Live weekly</a:t>
            </a:r>
          </a:p>
        </p:txBody>
      </p:sp>
      <p:sp>
        <p:nvSpPr>
          <p:cNvPr id="78" name="TextBox 77"/>
          <p:cNvSpPr txBox="1"/>
          <p:nvPr/>
        </p:nvSpPr>
        <p:spPr>
          <a:xfrm>
            <a:off x="9427464" y="5175504"/>
            <a:ext cx="182880" cy="228600"/>
          </a:xfrm>
          <a:prstGeom prst="rect">
            <a:avLst/>
          </a:prstGeom>
          <a:noFill/>
        </p:spPr>
        <p:txBody>
          <a:bodyPr wrap="square" lIns="45720" rIns="45720" tIns="18288" bIns="18288" anchor="t">
            <a:spAutoFit/>
          </a:bodyPr>
          <a:lstStyle/>
          <a:p>
            <a:pPr algn="l"/>
            <a:r>
              <a:rPr sz="1000" b="1" i="0">
                <a:solidFill>
                  <a:srgbClr val="22C55E"/>
                </a:solidFill>
                <a:latin typeface="Poppins"/>
              </a:rPr>
              <a:t>✓</a:t>
            </a:r>
          </a:p>
        </p:txBody>
      </p:sp>
      <p:sp>
        <p:nvSpPr>
          <p:cNvPr id="79" name="TextBox 78"/>
          <p:cNvSpPr txBox="1"/>
          <p:nvPr/>
        </p:nvSpPr>
        <p:spPr>
          <a:xfrm>
            <a:off x="9656064" y="5175504"/>
            <a:ext cx="2057400" cy="256032"/>
          </a:xfrm>
          <a:prstGeom prst="rect">
            <a:avLst/>
          </a:prstGeom>
          <a:noFill/>
        </p:spPr>
        <p:txBody>
          <a:bodyPr wrap="square" lIns="45720" rIns="45720" tIns="18288" bIns="18288" anchor="t">
            <a:spAutoFit/>
          </a:bodyPr>
          <a:lstStyle/>
          <a:p>
            <a:pPr algn="l"/>
            <a:r>
              <a:rPr sz="1000" b="0" i="0">
                <a:solidFill>
                  <a:srgbClr val="111827"/>
                </a:solidFill>
                <a:latin typeface="Poppins"/>
              </a:rPr>
              <a:t>State of Sales report</a:t>
            </a:r>
          </a:p>
        </p:txBody>
      </p:sp>
      <p:sp>
        <p:nvSpPr>
          <p:cNvPr id="80" name="TextBox 79"/>
          <p:cNvSpPr txBox="1"/>
          <p:nvPr/>
        </p:nvSpPr>
        <p:spPr>
          <a:xfrm>
            <a:off x="9427464" y="5468112"/>
            <a:ext cx="182880" cy="228600"/>
          </a:xfrm>
          <a:prstGeom prst="rect">
            <a:avLst/>
          </a:prstGeom>
          <a:noFill/>
        </p:spPr>
        <p:txBody>
          <a:bodyPr wrap="square" lIns="45720" rIns="45720" tIns="18288" bIns="18288" anchor="t">
            <a:spAutoFit/>
          </a:bodyPr>
          <a:lstStyle/>
          <a:p>
            <a:pPr algn="l"/>
            <a:r>
              <a:rPr sz="1000" b="1" i="0">
                <a:solidFill>
                  <a:srgbClr val="22C55E"/>
                </a:solidFill>
                <a:latin typeface="Poppins"/>
              </a:rPr>
              <a:t>✓</a:t>
            </a:r>
          </a:p>
        </p:txBody>
      </p:sp>
      <p:sp>
        <p:nvSpPr>
          <p:cNvPr id="81" name="TextBox 80"/>
          <p:cNvSpPr txBox="1"/>
          <p:nvPr/>
        </p:nvSpPr>
        <p:spPr>
          <a:xfrm>
            <a:off x="9656064" y="5468112"/>
            <a:ext cx="2057400" cy="256032"/>
          </a:xfrm>
          <a:prstGeom prst="rect">
            <a:avLst/>
          </a:prstGeom>
          <a:noFill/>
        </p:spPr>
        <p:txBody>
          <a:bodyPr wrap="square" lIns="45720" rIns="45720" tIns="18288" bIns="18288" anchor="t">
            <a:spAutoFit/>
          </a:bodyPr>
          <a:lstStyle/>
          <a:p>
            <a:pPr algn="l"/>
            <a:r>
              <a:rPr sz="1000" b="0" i="0">
                <a:solidFill>
                  <a:srgbClr val="111827"/>
                </a:solidFill>
                <a:latin typeface="Poppins"/>
              </a:rPr>
              <a:t>First FTE hired</a:t>
            </a:r>
          </a:p>
        </p:txBody>
      </p:sp>
      <p:sp>
        <p:nvSpPr>
          <p:cNvPr id="82" name="Rectangle 81"/>
          <p:cNvSpPr/>
          <p:nvPr/>
        </p:nvSpPr>
        <p:spPr>
          <a:xfrm>
            <a:off x="457200" y="6355080"/>
            <a:ext cx="11247120" cy="32004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40080" y="6364224"/>
            <a:ext cx="10972800" cy="320040"/>
          </a:xfrm>
          <a:prstGeom prst="rect">
            <a:avLst/>
          </a:prstGeom>
          <a:noFill/>
        </p:spPr>
        <p:txBody>
          <a:bodyPr wrap="square" lIns="45720" rIns="45720" tIns="18288" bIns="18288" anchor="ctr">
            <a:spAutoFit/>
          </a:bodyPr>
          <a:lstStyle/>
          <a:p>
            <a:pPr algn="l"/>
            <a:r>
              <a:rPr sz="1100" b="1" i="0">
                <a:solidFill>
                  <a:srgbClr val="FFFFFF"/>
                </a:solidFill>
                <a:latin typeface="Poppins"/>
              </a:rPr>
              <a:t>END-OF-90-DAYS TARGET:  30 paying clients  //  $120K MRR  //  $1.4M ARR run-rate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45720" rIns="45720" tIns="18288" bIns="18288" anchor="t">
            <a:spAutoFit/>
          </a:bodyPr>
          <a:lstStyle/>
          <a:p>
            <a:pPr algn="l"/>
            <a:r>
              <a:rPr sz="1000" b="1" i="0">
                <a:solidFill>
                  <a:srgbClr val="00A3E0"/>
                </a:solidFill>
                <a:latin typeface="Poppins"/>
              </a:rPr>
              <a:t>10 · WEEK 1 — FOUNDATION LOCK</a:t>
            </a:r>
          </a:p>
        </p:txBody>
      </p:sp>
      <p:sp>
        <p:nvSpPr>
          <p:cNvPr id="4" name="TextBox 3"/>
          <p:cNvSpPr txBox="1"/>
          <p:nvPr/>
        </p:nvSpPr>
        <p:spPr>
          <a:xfrm>
            <a:off x="457200" y="594360"/>
            <a:ext cx="11247120" cy="640080"/>
          </a:xfrm>
          <a:prstGeom prst="rect">
            <a:avLst/>
          </a:prstGeom>
          <a:noFill/>
        </p:spPr>
        <p:txBody>
          <a:bodyPr wrap="square" lIns="45720" rIns="45720" tIns="18288" bIns="18288" anchor="t">
            <a:spAutoFit/>
          </a:bodyPr>
          <a:lstStyle/>
          <a:p>
            <a:pPr algn="l"/>
            <a:r>
              <a:rPr sz="2800" b="1" i="0">
                <a:solidFill>
                  <a:srgbClr val="1F2A44"/>
                </a:solidFill>
                <a:latin typeface="Poppins"/>
              </a:rPr>
              <a:t>Days 1–7. Zero slack. Everything ships or it blocks.</a:t>
            </a:r>
          </a:p>
        </p:txBody>
      </p:sp>
      <p:sp>
        <p:nvSpPr>
          <p:cNvPr id="5" name="Rectangle 4"/>
          <p:cNvSpPr/>
          <p:nvPr/>
        </p:nvSpPr>
        <p:spPr>
          <a:xfrm>
            <a:off x="457200" y="1234440"/>
            <a:ext cx="914400" cy="4572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320040"/>
            <a:ext cx="640080" cy="274320"/>
          </a:xfrm>
          <a:prstGeom prst="rect">
            <a:avLst/>
          </a:prstGeom>
          <a:noFill/>
        </p:spPr>
        <p:txBody>
          <a:bodyPr wrap="square" lIns="45720" rIns="45720" tIns="18288" bIns="18288" anchor="t">
            <a:spAutoFit/>
          </a:bodyPr>
          <a:lstStyle/>
          <a:p>
            <a:pPr algn="r"/>
            <a:r>
              <a:rPr sz="900" b="1" i="0">
                <a:solidFill>
                  <a:srgbClr val="4A5568"/>
                </a:solidFill>
                <a:latin typeface="Poppins"/>
              </a:rPr>
              <a:t>11 / 18</a:t>
            </a:r>
          </a:p>
        </p:txBody>
      </p:sp>
      <p:sp>
        <p:nvSpPr>
          <p:cNvPr id="7" name="Rectangle 6"/>
          <p:cNvSpPr/>
          <p:nvPr/>
        </p:nvSpPr>
        <p:spPr>
          <a:xfrm>
            <a:off x="0" y="6720840"/>
            <a:ext cx="12191695" cy="1371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492240"/>
            <a:ext cx="3657600" cy="274320"/>
          </a:xfrm>
          <a:prstGeom prst="rect">
            <a:avLst/>
          </a:prstGeom>
          <a:noFill/>
        </p:spPr>
        <p:txBody>
          <a:bodyPr wrap="square" lIns="45720" rIns="45720" tIns="18288" bIns="18288" anchor="t">
            <a:spAutoFit/>
          </a:bodyPr>
          <a:lstStyle/>
          <a:p>
            <a:pPr algn="l"/>
            <a:r>
              <a:rPr sz="800" b="1" i="0">
                <a:solidFill>
                  <a:srgbClr val="1F2A44"/>
                </a:solidFill>
                <a:latin typeface="Poppins"/>
              </a:rPr>
              <a:t>CLOSECLINIC</a:t>
            </a:r>
          </a:p>
        </p:txBody>
      </p:sp>
      <p:sp>
        <p:nvSpPr>
          <p:cNvPr id="9" name="TextBox 8"/>
          <p:cNvSpPr txBox="1"/>
          <p:nvPr/>
        </p:nvSpPr>
        <p:spPr>
          <a:xfrm>
            <a:off x="6400800" y="6492240"/>
            <a:ext cx="5486400" cy="274320"/>
          </a:xfrm>
          <a:prstGeom prst="rect">
            <a:avLst/>
          </a:prstGeom>
          <a:noFill/>
        </p:spPr>
        <p:txBody>
          <a:bodyPr wrap="square" lIns="45720" rIns="45720" tIns="18288" bIns="18288" anchor="t">
            <a:spAutoFit/>
          </a:bodyPr>
          <a:lstStyle/>
          <a:p>
            <a:pPr algn="r"/>
            <a:r>
              <a:rPr sz="800" b="0" i="0">
                <a:solidFill>
                  <a:srgbClr val="4A5568"/>
                </a:solidFill>
                <a:latin typeface="Poppins"/>
              </a:rPr>
              <a:t>CloseClinic · Launch Plan · 2026-04-21 · p.11</a:t>
            </a:r>
          </a:p>
        </p:txBody>
      </p:sp>
      <p:graphicFrame>
        <p:nvGraphicFramePr>
          <p:cNvPr id="10" name="Table 9"/>
          <p:cNvGraphicFramePr>
            <a:graphicFrameLocks noGrp="1"/>
          </p:cNvGraphicFramePr>
          <p:nvPr/>
        </p:nvGraphicFramePr>
        <p:xfrm>
          <a:off x="365760" y="1463040"/>
          <a:ext cx="11475720" cy="5029200"/>
        </p:xfrm>
        <a:graphic>
          <a:graphicData uri="http://schemas.openxmlformats.org/drawingml/2006/table">
            <a:tbl>
              <a:tblPr firstRow="1" bandRow="1">
                <a:tableStyleId>{5C22544A-7EE6-4342-B048-85BDC9FD1C3A}</a:tableStyleId>
              </a:tblPr>
              <a:tblGrid>
                <a:gridCol w="640080"/>
                <a:gridCol w="5897880"/>
                <a:gridCol w="1645920"/>
                <a:gridCol w="3291840"/>
              </a:tblGrid>
              <a:tr h="320040">
                <a:tc>
                  <a:txBody>
                    <a:bodyPr anchor="ctr"/>
                    <a:lstStyle/>
                    <a:p>
                      <a:pPr algn="ctr"/>
                      <a:r>
                        <a:rPr sz="1000" b="1">
                          <a:solidFill>
                            <a:srgbClr val="FFFFFF"/>
                          </a:solidFill>
                          <a:latin typeface="Poppins"/>
                        </a:rPr>
                        <a:t>Day</a:t>
                      </a:r>
                    </a:p>
                  </a:txBody>
                  <a:tcPr>
                    <a:solidFill>
                      <a:srgbClr val="1F2A44"/>
                    </a:solidFill>
                  </a:tcPr>
                </a:tc>
                <a:tc>
                  <a:txBody>
                    <a:bodyPr anchor="ctr"/>
                    <a:lstStyle/>
                    <a:p>
                      <a:pPr algn="l"/>
                      <a:r>
                        <a:rPr sz="1000" b="1">
                          <a:solidFill>
                            <a:srgbClr val="FFFFFF"/>
                          </a:solidFill>
                          <a:latin typeface="Poppins"/>
                        </a:rPr>
                        <a:t>Task</a:t>
                      </a:r>
                    </a:p>
                  </a:txBody>
                  <a:tcPr>
                    <a:solidFill>
                      <a:srgbClr val="1F2A44"/>
                    </a:solidFill>
                  </a:tcPr>
                </a:tc>
                <a:tc>
                  <a:txBody>
                    <a:bodyPr anchor="ctr"/>
                    <a:lstStyle/>
                    <a:p>
                      <a:pPr algn="l"/>
                      <a:r>
                        <a:rPr sz="1000" b="1">
                          <a:solidFill>
                            <a:srgbClr val="FFFFFF"/>
                          </a:solidFill>
                          <a:latin typeface="Poppins"/>
                        </a:rPr>
                        <a:t>Owner</a:t>
                      </a:r>
                    </a:p>
                  </a:txBody>
                  <a:tcPr>
                    <a:solidFill>
                      <a:srgbClr val="1F2A44"/>
                    </a:solidFill>
                  </a:tcPr>
                </a:tc>
                <a:tc>
                  <a:txBody>
                    <a:bodyPr anchor="ctr"/>
                    <a:lstStyle/>
                    <a:p>
                      <a:pPr algn="l"/>
                      <a:r>
                        <a:rPr sz="1000" b="1">
                          <a:solidFill>
                            <a:srgbClr val="FFFFFF"/>
                          </a:solidFill>
                          <a:latin typeface="Poppins"/>
                        </a:rPr>
                        <a:t>Deliverable</a:t>
                      </a:r>
                    </a:p>
                  </a:txBody>
                  <a:tcPr>
                    <a:solidFill>
                      <a:srgbClr val="1F2A44"/>
                    </a:solidFill>
                  </a:tcPr>
                </a:tc>
              </a:tr>
              <a:tr h="313944">
                <a:tc>
                  <a:txBody>
                    <a:bodyPr anchor="ctr"/>
                    <a:lstStyle/>
                    <a:p>
                      <a:pPr algn="ctr"/>
                      <a:r>
                        <a:rPr sz="1100" b="1">
                          <a:solidFill>
                            <a:srgbClr val="00A3E0"/>
                          </a:solidFill>
                          <a:latin typeface="Poppins"/>
                        </a:rPr>
                        <a:t>1</a:t>
                      </a:r>
                    </a:p>
                  </a:txBody>
                  <a:tcPr>
                    <a:solidFill>
                      <a:srgbClr val="FFFFFF"/>
                    </a:solidFill>
                  </a:tcPr>
                </a:tc>
                <a:tc>
                  <a:txBody>
                    <a:bodyPr anchor="ctr"/>
                    <a:lstStyle/>
                    <a:p>
                      <a:pPr algn="l"/>
                      <a:r>
                        <a:rPr sz="950" b="0">
                          <a:solidFill>
                            <a:srgbClr val="111827"/>
                          </a:solidFill>
                          <a:latin typeface="Poppins"/>
                        </a:rPr>
                        <a:t>Lock brand: CloseClinic. Register .com + .ai + .co</a:t>
                      </a:r>
                    </a:p>
                  </a:txBody>
                  <a:tcPr>
                    <a:solidFill>
                      <a:srgbClr val="FFFFFF"/>
                    </a:solidFill>
                  </a:tcPr>
                </a:tc>
                <a:tc>
                  <a:txBody>
                    <a:bodyPr anchor="ctr"/>
                    <a:lstStyle/>
                    <a:p>
                      <a:pPr algn="l"/>
                      <a:r>
                        <a:rPr sz="900" b="1">
                          <a:solidFill>
                            <a:srgbClr val="1F2A44"/>
                          </a:solidFill>
                          <a:latin typeface="Poppins"/>
                        </a:rPr>
                        <a:t>Rob</a:t>
                      </a:r>
                    </a:p>
                  </a:txBody>
                  <a:tcPr>
                    <a:solidFill>
                      <a:srgbClr val="FFFFFF"/>
                    </a:solidFill>
                  </a:tcPr>
                </a:tc>
                <a:tc>
                  <a:txBody>
                    <a:bodyPr anchor="ctr"/>
                    <a:lstStyle/>
                    <a:p>
                      <a:pPr algn="l"/>
                      <a:r>
                        <a:rPr sz="950" b="0">
                          <a:solidFill>
                            <a:srgbClr val="111827"/>
                          </a:solidFill>
                          <a:latin typeface="Poppins"/>
                        </a:rPr>
                        <a:t>Domains registered</a:t>
                      </a:r>
                    </a:p>
                  </a:txBody>
                  <a:tcPr>
                    <a:solidFill>
                      <a:srgbClr val="FFFFFF"/>
                    </a:solidFill>
                  </a:tcPr>
                </a:tc>
              </a:tr>
              <a:tr h="313944">
                <a:tc>
                  <a:txBody>
                    <a:bodyPr anchor="ctr"/>
                    <a:lstStyle/>
                    <a:p>
                      <a:pPr algn="ctr"/>
                      <a:r>
                        <a:rPr sz="1100" b="1">
                          <a:solidFill>
                            <a:srgbClr val="00A3E0"/>
                          </a:solidFill>
                          <a:latin typeface="Poppins"/>
                        </a:rPr>
                        <a:t>1</a:t>
                      </a:r>
                    </a:p>
                  </a:txBody>
                  <a:tcPr>
                    <a:solidFill>
                      <a:srgbClr val="F3F5F9"/>
                    </a:solidFill>
                  </a:tcPr>
                </a:tc>
                <a:tc>
                  <a:txBody>
                    <a:bodyPr anchor="ctr"/>
                    <a:lstStyle/>
                    <a:p>
                      <a:pPr algn="l"/>
                      <a:r>
                        <a:rPr sz="950" b="0">
                          <a:solidFill>
                            <a:srgbClr val="111827"/>
                          </a:solidFill>
                          <a:latin typeface="Poppins"/>
                        </a:rPr>
                        <a:t>File LLC (TX or DE) via Stripe Atlas / Clerky</a:t>
                      </a:r>
                    </a:p>
                  </a:txBody>
                  <a:tcPr>
                    <a:solidFill>
                      <a:srgbClr val="F3F5F9"/>
                    </a:solidFill>
                  </a:tcPr>
                </a:tc>
                <a:tc>
                  <a:txBody>
                    <a:bodyPr anchor="ctr"/>
                    <a:lstStyle/>
                    <a:p>
                      <a:pPr algn="l"/>
                      <a:r>
                        <a:rPr sz="900" b="1">
                          <a:solidFill>
                            <a:srgbClr val="1F2A44"/>
                          </a:solidFill>
                          <a:latin typeface="Poppins"/>
                        </a:rPr>
                        <a:t>Rob</a:t>
                      </a:r>
                    </a:p>
                  </a:txBody>
                  <a:tcPr>
                    <a:solidFill>
                      <a:srgbClr val="F3F5F9"/>
                    </a:solidFill>
                  </a:tcPr>
                </a:tc>
                <a:tc>
                  <a:txBody>
                    <a:bodyPr anchor="ctr"/>
                    <a:lstStyle/>
                    <a:p>
                      <a:pPr algn="l"/>
                      <a:r>
                        <a:rPr sz="950" b="0">
                          <a:solidFill>
                            <a:srgbClr val="111827"/>
                          </a:solidFill>
                          <a:latin typeface="Poppins"/>
                        </a:rPr>
                        <a:t>EIN pending</a:t>
                      </a:r>
                    </a:p>
                  </a:txBody>
                  <a:tcPr>
                    <a:solidFill>
                      <a:srgbClr val="F3F5F9"/>
                    </a:solidFill>
                  </a:tcPr>
                </a:tc>
              </a:tr>
              <a:tr h="313944">
                <a:tc>
                  <a:txBody>
                    <a:bodyPr anchor="ctr"/>
                    <a:lstStyle/>
                    <a:p>
                      <a:pPr algn="ctr"/>
                      <a:r>
                        <a:rPr sz="1100" b="1">
                          <a:solidFill>
                            <a:srgbClr val="00A3E0"/>
                          </a:solidFill>
                          <a:latin typeface="Poppins"/>
                        </a:rPr>
                        <a:t>1</a:t>
                      </a:r>
                    </a:p>
                  </a:txBody>
                  <a:tcPr>
                    <a:solidFill>
                      <a:srgbClr val="FFFFFF"/>
                    </a:solidFill>
                  </a:tcPr>
                </a:tc>
                <a:tc>
                  <a:txBody>
                    <a:bodyPr anchor="ctr"/>
                    <a:lstStyle/>
                    <a:p>
                      <a:pPr algn="l"/>
                      <a:r>
                        <a:rPr sz="950" b="0">
                          <a:solidFill>
                            <a:srgbClr val="111827"/>
                          </a:solidFill>
                          <a:latin typeface="Poppins"/>
                        </a:rPr>
                        <a:t>Open Mercury or Brex business bank account</a:t>
                      </a:r>
                    </a:p>
                  </a:txBody>
                  <a:tcPr>
                    <a:solidFill>
                      <a:srgbClr val="FFFFFF"/>
                    </a:solidFill>
                  </a:tcPr>
                </a:tc>
                <a:tc>
                  <a:txBody>
                    <a:bodyPr anchor="ctr"/>
                    <a:lstStyle/>
                    <a:p>
                      <a:pPr algn="l"/>
                      <a:r>
                        <a:rPr sz="900" b="1">
                          <a:solidFill>
                            <a:srgbClr val="1F2A44"/>
                          </a:solidFill>
                          <a:latin typeface="Poppins"/>
                        </a:rPr>
                        <a:t>Rob</a:t>
                      </a:r>
                    </a:p>
                  </a:txBody>
                  <a:tcPr>
                    <a:solidFill>
                      <a:srgbClr val="FFFFFF"/>
                    </a:solidFill>
                  </a:tcPr>
                </a:tc>
                <a:tc>
                  <a:txBody>
                    <a:bodyPr anchor="ctr"/>
                    <a:lstStyle/>
                    <a:p>
                      <a:pPr algn="l"/>
                      <a:r>
                        <a:rPr sz="950" b="0">
                          <a:solidFill>
                            <a:srgbClr val="111827"/>
                          </a:solidFill>
                          <a:latin typeface="Poppins"/>
                        </a:rPr>
                        <a:t>Account funded</a:t>
                      </a:r>
                    </a:p>
                  </a:txBody>
                  <a:tcPr>
                    <a:solidFill>
                      <a:srgbClr val="FFFFFF"/>
                    </a:solidFill>
                  </a:tcPr>
                </a:tc>
              </a:tr>
              <a:tr h="313944">
                <a:tc>
                  <a:txBody>
                    <a:bodyPr anchor="ctr"/>
                    <a:lstStyle/>
                    <a:p>
                      <a:pPr algn="ctr"/>
                      <a:r>
                        <a:rPr sz="1100" b="1">
                          <a:solidFill>
                            <a:srgbClr val="00A3E0"/>
                          </a:solidFill>
                          <a:latin typeface="Poppins"/>
                        </a:rPr>
                        <a:t>2</a:t>
                      </a:r>
                    </a:p>
                  </a:txBody>
                  <a:tcPr>
                    <a:solidFill>
                      <a:srgbClr val="F3F5F9"/>
                    </a:solidFill>
                  </a:tcPr>
                </a:tc>
                <a:tc>
                  <a:txBody>
                    <a:bodyPr anchor="ctr"/>
                    <a:lstStyle/>
                    <a:p>
                      <a:pPr algn="l"/>
                      <a:r>
                        <a:rPr sz="950" b="0">
                          <a:solidFill>
                            <a:srgbClr val="111827"/>
                          </a:solidFill>
                          <a:latin typeface="Poppins"/>
                        </a:rPr>
                        <a:t>Sign Synthflow agency + Chatbase agency plans</a:t>
                      </a:r>
                    </a:p>
                  </a:txBody>
                  <a:tcPr>
                    <a:solidFill>
                      <a:srgbClr val="F3F5F9"/>
                    </a:solidFill>
                  </a:tcPr>
                </a:tc>
                <a:tc>
                  <a:txBody>
                    <a:bodyPr anchor="ctr"/>
                    <a:lstStyle/>
                    <a:p>
                      <a:pPr algn="l"/>
                      <a:r>
                        <a:rPr sz="900" b="1">
                          <a:solidFill>
                            <a:srgbClr val="1F2A44"/>
                          </a:solidFill>
                          <a:latin typeface="Poppins"/>
                        </a:rPr>
                        <a:t>Rob</a:t>
                      </a:r>
                    </a:p>
                  </a:txBody>
                  <a:tcPr>
                    <a:solidFill>
                      <a:srgbClr val="F3F5F9"/>
                    </a:solidFill>
                  </a:tcPr>
                </a:tc>
                <a:tc>
                  <a:txBody>
                    <a:bodyPr anchor="ctr"/>
                    <a:lstStyle/>
                    <a:p>
                      <a:pPr algn="l"/>
                      <a:r>
                        <a:rPr sz="950" b="0">
                          <a:solidFill>
                            <a:srgbClr val="111827"/>
                          </a:solidFill>
                          <a:latin typeface="Poppins"/>
                        </a:rPr>
                        <a:t>Credentials</a:t>
                      </a:r>
                    </a:p>
                  </a:txBody>
                  <a:tcPr>
                    <a:solidFill>
                      <a:srgbClr val="F3F5F9"/>
                    </a:solidFill>
                  </a:tcPr>
                </a:tc>
              </a:tr>
              <a:tr h="313944">
                <a:tc>
                  <a:txBody>
                    <a:bodyPr anchor="ctr"/>
                    <a:lstStyle/>
                    <a:p>
                      <a:pPr algn="ctr"/>
                      <a:r>
                        <a:rPr sz="1100" b="1">
                          <a:solidFill>
                            <a:srgbClr val="00A3E0"/>
                          </a:solidFill>
                          <a:latin typeface="Poppins"/>
                        </a:rPr>
                        <a:t>2</a:t>
                      </a:r>
                    </a:p>
                  </a:txBody>
                  <a:tcPr>
                    <a:solidFill>
                      <a:srgbClr val="FFFFFF"/>
                    </a:solidFill>
                  </a:tcPr>
                </a:tc>
                <a:tc>
                  <a:txBody>
                    <a:bodyPr anchor="ctr"/>
                    <a:lstStyle/>
                    <a:p>
                      <a:pPr algn="l"/>
                      <a:r>
                        <a:rPr sz="950" b="0">
                          <a:solidFill>
                            <a:srgbClr val="111827"/>
                          </a:solidFill>
                          <a:latin typeface="Poppins"/>
                        </a:rPr>
                        <a:t>Spin up n8n on Hetzner VPS</a:t>
                      </a:r>
                    </a:p>
                  </a:txBody>
                  <a:tcPr>
                    <a:solidFill>
                      <a:srgbClr val="FFFFFF"/>
                    </a:solidFill>
                  </a:tcPr>
                </a:tc>
                <a:tc>
                  <a:txBody>
                    <a:bodyPr anchor="ctr"/>
                    <a:lstStyle/>
                    <a:p>
                      <a:pPr algn="l"/>
                      <a:r>
                        <a:rPr sz="900" b="1">
                          <a:solidFill>
                            <a:srgbClr val="00A3E0"/>
                          </a:solidFill>
                          <a:latin typeface="Poppins"/>
                        </a:rPr>
                        <a:t>Max</a:t>
                      </a:r>
                    </a:p>
                  </a:txBody>
                  <a:tcPr>
                    <a:solidFill>
                      <a:srgbClr val="FFFFFF"/>
                    </a:solidFill>
                  </a:tcPr>
                </a:tc>
                <a:tc>
                  <a:txBody>
                    <a:bodyPr anchor="ctr"/>
                    <a:lstStyle/>
                    <a:p>
                      <a:pPr algn="l"/>
                      <a:r>
                        <a:rPr sz="950" b="0">
                          <a:solidFill>
                            <a:srgbClr val="111827"/>
                          </a:solidFill>
                          <a:latin typeface="Poppins"/>
                        </a:rPr>
                        <a:t>n8n URL live</a:t>
                      </a:r>
                    </a:p>
                  </a:txBody>
                  <a:tcPr>
                    <a:solidFill>
                      <a:srgbClr val="FFFFFF"/>
                    </a:solidFill>
                  </a:tcPr>
                </a:tc>
              </a:tr>
              <a:tr h="313944">
                <a:tc>
                  <a:txBody>
                    <a:bodyPr anchor="ctr"/>
                    <a:lstStyle/>
                    <a:p>
                      <a:pPr algn="ctr"/>
                      <a:r>
                        <a:rPr sz="1100" b="1">
                          <a:solidFill>
                            <a:srgbClr val="00A3E0"/>
                          </a:solidFill>
                          <a:latin typeface="Poppins"/>
                        </a:rPr>
                        <a:t>2</a:t>
                      </a:r>
                    </a:p>
                  </a:txBody>
                  <a:tcPr>
                    <a:solidFill>
                      <a:srgbClr val="F3F5F9"/>
                    </a:solidFill>
                  </a:tcPr>
                </a:tc>
                <a:tc>
                  <a:txBody>
                    <a:bodyPr anchor="ctr"/>
                    <a:lstStyle/>
                    <a:p>
                      <a:pPr algn="l"/>
                      <a:r>
                        <a:rPr sz="950" b="0">
                          <a:solidFill>
                            <a:srgbClr val="111827"/>
                          </a:solidFill>
                          <a:latin typeface="Poppins"/>
                        </a:rPr>
                        <a:t>Register Twilio. Start A2P 10DLC registration</a:t>
                      </a:r>
                    </a:p>
                  </a:txBody>
                  <a:tcPr>
                    <a:solidFill>
                      <a:srgbClr val="F3F5F9"/>
                    </a:solidFill>
                  </a:tcPr>
                </a:tc>
                <a:tc>
                  <a:txBody>
                    <a:bodyPr anchor="ctr"/>
                    <a:lstStyle/>
                    <a:p>
                      <a:pPr algn="l"/>
                      <a:r>
                        <a:rPr sz="900" b="1">
                          <a:solidFill>
                            <a:srgbClr val="00A3E0"/>
                          </a:solidFill>
                          <a:latin typeface="Poppins"/>
                        </a:rPr>
                        <a:t>Max</a:t>
                      </a:r>
                    </a:p>
                  </a:txBody>
                  <a:tcPr>
                    <a:solidFill>
                      <a:srgbClr val="F3F5F9"/>
                    </a:solidFill>
                  </a:tcPr>
                </a:tc>
                <a:tc>
                  <a:txBody>
                    <a:bodyPr anchor="ctr"/>
                    <a:lstStyle/>
                    <a:p>
                      <a:pPr algn="l"/>
                      <a:r>
                        <a:rPr sz="950" b="0">
                          <a:solidFill>
                            <a:srgbClr val="111827"/>
                          </a:solidFill>
                          <a:latin typeface="Poppins"/>
                        </a:rPr>
                        <a:t>Twilio account</a:t>
                      </a:r>
                    </a:p>
                  </a:txBody>
                  <a:tcPr>
                    <a:solidFill>
                      <a:srgbClr val="F3F5F9"/>
                    </a:solidFill>
                  </a:tcPr>
                </a:tc>
              </a:tr>
              <a:tr h="313944">
                <a:tc>
                  <a:txBody>
                    <a:bodyPr anchor="ctr"/>
                    <a:lstStyle/>
                    <a:p>
                      <a:pPr algn="ctr"/>
                      <a:r>
                        <a:rPr sz="1100" b="1">
                          <a:solidFill>
                            <a:srgbClr val="00A3E0"/>
                          </a:solidFill>
                          <a:latin typeface="Poppins"/>
                        </a:rPr>
                        <a:t>3</a:t>
                      </a:r>
                    </a:p>
                  </a:txBody>
                  <a:tcPr>
                    <a:solidFill>
                      <a:srgbClr val="FFFFFF"/>
                    </a:solidFill>
                  </a:tcPr>
                </a:tc>
                <a:tc>
                  <a:txBody>
                    <a:bodyPr anchor="ctr"/>
                    <a:lstStyle/>
                    <a:p>
                      <a:pPr algn="l"/>
                      <a:r>
                        <a:rPr sz="950" b="0">
                          <a:solidFill>
                            <a:srgbClr val="111827"/>
                          </a:solidFill>
                          <a:latin typeface="Poppins"/>
                        </a:rPr>
                        <a:t>Hire brand designer (Fiverr Pro / Contra) for logo + wordmark + palette</a:t>
                      </a:r>
                    </a:p>
                  </a:txBody>
                  <a:tcPr>
                    <a:solidFill>
                      <a:srgbClr val="FFFFFF"/>
                    </a:solidFill>
                  </a:tcPr>
                </a:tc>
                <a:tc>
                  <a:txBody>
                    <a:bodyPr anchor="ctr"/>
                    <a:lstStyle/>
                    <a:p>
                      <a:pPr algn="l"/>
                      <a:r>
                        <a:rPr sz="900" b="1">
                          <a:solidFill>
                            <a:srgbClr val="1F2A44"/>
                          </a:solidFill>
                          <a:latin typeface="Poppins"/>
                        </a:rPr>
                        <a:t>Rob</a:t>
                      </a:r>
                    </a:p>
                  </a:txBody>
                  <a:tcPr>
                    <a:solidFill>
                      <a:srgbClr val="FFFFFF"/>
                    </a:solidFill>
                  </a:tcPr>
                </a:tc>
                <a:tc>
                  <a:txBody>
                    <a:bodyPr anchor="ctr"/>
                    <a:lstStyle/>
                    <a:p>
                      <a:pPr algn="l"/>
                      <a:r>
                        <a:rPr sz="950" b="0">
                          <a:solidFill>
                            <a:srgbClr val="111827"/>
                          </a:solidFill>
                          <a:latin typeface="Poppins"/>
                        </a:rPr>
                        <a:t>Brief sent</a:t>
                      </a:r>
                    </a:p>
                  </a:txBody>
                  <a:tcPr>
                    <a:solidFill>
                      <a:srgbClr val="FFFFFF"/>
                    </a:solidFill>
                  </a:tcPr>
                </a:tc>
              </a:tr>
              <a:tr h="313944">
                <a:tc>
                  <a:txBody>
                    <a:bodyPr anchor="ctr"/>
                    <a:lstStyle/>
                    <a:p>
                      <a:pPr algn="ctr"/>
                      <a:r>
                        <a:rPr sz="1100" b="1">
                          <a:solidFill>
                            <a:srgbClr val="00A3E0"/>
                          </a:solidFill>
                          <a:latin typeface="Poppins"/>
                        </a:rPr>
                        <a:t>3</a:t>
                      </a:r>
                    </a:p>
                  </a:txBody>
                  <a:tcPr>
                    <a:solidFill>
                      <a:srgbClr val="F3F5F9"/>
                    </a:solidFill>
                  </a:tcPr>
                </a:tc>
                <a:tc>
                  <a:txBody>
                    <a:bodyPr anchor="ctr"/>
                    <a:lstStyle/>
                    <a:p>
                      <a:pPr algn="l"/>
                      <a:r>
                        <a:rPr sz="950" b="0">
                          <a:solidFill>
                            <a:srgbClr val="111827"/>
                          </a:solidFill>
                          <a:latin typeface="Poppins"/>
                        </a:rPr>
                        <a:t>Resignation letter to STG (clean, 2-wk notice)</a:t>
                      </a:r>
                    </a:p>
                  </a:txBody>
                  <a:tcPr>
                    <a:solidFill>
                      <a:srgbClr val="F3F5F9"/>
                    </a:solidFill>
                  </a:tcPr>
                </a:tc>
                <a:tc>
                  <a:txBody>
                    <a:bodyPr anchor="ctr"/>
                    <a:lstStyle/>
                    <a:p>
                      <a:pPr algn="l"/>
                      <a:r>
                        <a:rPr sz="900" b="1">
                          <a:solidFill>
                            <a:srgbClr val="1F2A44"/>
                          </a:solidFill>
                          <a:latin typeface="Poppins"/>
                        </a:rPr>
                        <a:t>Rob</a:t>
                      </a:r>
                    </a:p>
                  </a:txBody>
                  <a:tcPr>
                    <a:solidFill>
                      <a:srgbClr val="F3F5F9"/>
                    </a:solidFill>
                  </a:tcPr>
                </a:tc>
                <a:tc>
                  <a:txBody>
                    <a:bodyPr anchor="ctr"/>
                    <a:lstStyle/>
                    <a:p>
                      <a:pPr algn="l"/>
                      <a:r>
                        <a:rPr sz="950" b="0">
                          <a:solidFill>
                            <a:srgbClr val="111827"/>
                          </a:solidFill>
                          <a:latin typeface="Poppins"/>
                        </a:rPr>
                        <a:t>Letter sent</a:t>
                      </a:r>
                    </a:p>
                  </a:txBody>
                  <a:tcPr>
                    <a:solidFill>
                      <a:srgbClr val="F3F5F9"/>
                    </a:solidFill>
                  </a:tcPr>
                </a:tc>
              </a:tr>
              <a:tr h="313944">
                <a:tc>
                  <a:txBody>
                    <a:bodyPr anchor="ctr"/>
                    <a:lstStyle/>
                    <a:p>
                      <a:pPr algn="ctr"/>
                      <a:r>
                        <a:rPr sz="1100" b="1">
                          <a:solidFill>
                            <a:srgbClr val="00A3E0"/>
                          </a:solidFill>
                          <a:latin typeface="Poppins"/>
                        </a:rPr>
                        <a:t>4</a:t>
                      </a:r>
                    </a:p>
                  </a:txBody>
                  <a:tcPr>
                    <a:solidFill>
                      <a:srgbClr val="FFFFFF"/>
                    </a:solidFill>
                  </a:tcPr>
                </a:tc>
                <a:tc>
                  <a:txBody>
                    <a:bodyPr anchor="ctr"/>
                    <a:lstStyle/>
                    <a:p>
                      <a:pPr algn="l"/>
                      <a:r>
                        <a:rPr sz="950" b="0">
                          <a:solidFill>
                            <a:srgbClr val="111827"/>
                          </a:solidFill>
                          <a:latin typeface="Poppins"/>
                        </a:rPr>
                        <a:t>File USPTO trademark (CloseClinic wordmark + design)</a:t>
                      </a:r>
                    </a:p>
                  </a:txBody>
                  <a:tcPr>
                    <a:solidFill>
                      <a:srgbClr val="FFFFFF"/>
                    </a:solidFill>
                  </a:tcPr>
                </a:tc>
                <a:tc>
                  <a:txBody>
                    <a:bodyPr anchor="ctr"/>
                    <a:lstStyle/>
                    <a:p>
                      <a:pPr algn="l"/>
                      <a:r>
                        <a:rPr sz="900" b="1">
                          <a:solidFill>
                            <a:srgbClr val="1F2A44"/>
                          </a:solidFill>
                          <a:latin typeface="Poppins"/>
                        </a:rPr>
                        <a:t>Rob</a:t>
                      </a:r>
                    </a:p>
                  </a:txBody>
                  <a:tcPr>
                    <a:solidFill>
                      <a:srgbClr val="FFFFFF"/>
                    </a:solidFill>
                  </a:tcPr>
                </a:tc>
                <a:tc>
                  <a:txBody>
                    <a:bodyPr anchor="ctr"/>
                    <a:lstStyle/>
                    <a:p>
                      <a:pPr algn="l"/>
                      <a:r>
                        <a:rPr sz="950" b="0">
                          <a:solidFill>
                            <a:srgbClr val="111827"/>
                          </a:solidFill>
                          <a:latin typeface="Poppins"/>
                        </a:rPr>
                        <a:t>TM filing</a:t>
                      </a:r>
                    </a:p>
                  </a:txBody>
                  <a:tcPr>
                    <a:solidFill>
                      <a:srgbClr val="FFFFFF"/>
                    </a:solidFill>
                  </a:tcPr>
                </a:tc>
              </a:tr>
              <a:tr h="313944">
                <a:tc>
                  <a:txBody>
                    <a:bodyPr anchor="ctr"/>
                    <a:lstStyle/>
                    <a:p>
                      <a:pPr algn="ctr"/>
                      <a:r>
                        <a:rPr sz="1100" b="1">
                          <a:solidFill>
                            <a:srgbClr val="00A3E0"/>
                          </a:solidFill>
                          <a:latin typeface="Poppins"/>
                        </a:rPr>
                        <a:t>4</a:t>
                      </a:r>
                    </a:p>
                  </a:txBody>
                  <a:tcPr>
                    <a:solidFill>
                      <a:srgbClr val="F3F5F9"/>
                    </a:solidFill>
                  </a:tcPr>
                </a:tc>
                <a:tc>
                  <a:txBody>
                    <a:bodyPr anchor="ctr"/>
                    <a:lstStyle/>
                    <a:p>
                      <a:pPr algn="l"/>
                      <a:r>
                        <a:rPr sz="950" b="0">
                          <a:solidFill>
                            <a:srgbClr val="111827"/>
                          </a:solidFill>
                          <a:latin typeface="Poppins"/>
                        </a:rPr>
                        <a:t>Set up Google Workspace for @closeclinic.com</a:t>
                      </a:r>
                    </a:p>
                  </a:txBody>
                  <a:tcPr>
                    <a:solidFill>
                      <a:srgbClr val="F3F5F9"/>
                    </a:solidFill>
                  </a:tcPr>
                </a:tc>
                <a:tc>
                  <a:txBody>
                    <a:bodyPr anchor="ctr"/>
                    <a:lstStyle/>
                    <a:p>
                      <a:pPr algn="l"/>
                      <a:r>
                        <a:rPr sz="900" b="1">
                          <a:solidFill>
                            <a:srgbClr val="1F2A44"/>
                          </a:solidFill>
                          <a:latin typeface="Poppins"/>
                        </a:rPr>
                        <a:t>Rob</a:t>
                      </a:r>
                    </a:p>
                  </a:txBody>
                  <a:tcPr>
                    <a:solidFill>
                      <a:srgbClr val="F3F5F9"/>
                    </a:solidFill>
                  </a:tcPr>
                </a:tc>
                <a:tc>
                  <a:txBody>
                    <a:bodyPr anchor="ctr"/>
                    <a:lstStyle/>
                    <a:p>
                      <a:pPr algn="l"/>
                      <a:r>
                        <a:rPr sz="950" b="0">
                          <a:solidFill>
                            <a:srgbClr val="111827"/>
                          </a:solidFill>
                          <a:latin typeface="Poppins"/>
                        </a:rPr>
                        <a:t>Email live</a:t>
                      </a:r>
                    </a:p>
                  </a:txBody>
                  <a:tcPr>
                    <a:solidFill>
                      <a:srgbClr val="F3F5F9"/>
                    </a:solidFill>
                  </a:tcPr>
                </a:tc>
              </a:tr>
              <a:tr h="313944">
                <a:tc>
                  <a:txBody>
                    <a:bodyPr anchor="ctr"/>
                    <a:lstStyle/>
                    <a:p>
                      <a:pPr algn="ctr"/>
                      <a:r>
                        <a:rPr sz="1100" b="1">
                          <a:solidFill>
                            <a:srgbClr val="00A3E0"/>
                          </a:solidFill>
                          <a:latin typeface="Poppins"/>
                        </a:rPr>
                        <a:t>5</a:t>
                      </a:r>
                    </a:p>
                  </a:txBody>
                  <a:tcPr>
                    <a:solidFill>
                      <a:srgbClr val="FFFFFF"/>
                    </a:solidFill>
                  </a:tcPr>
                </a:tc>
                <a:tc>
                  <a:txBody>
                    <a:bodyPr anchor="ctr"/>
                    <a:lstStyle/>
                    <a:p>
                      <a:pPr algn="l"/>
                      <a:r>
                        <a:rPr sz="950" b="0">
                          <a:solidFill>
                            <a:srgbClr val="111827"/>
                          </a:solidFill>
                          <a:latin typeface="Poppins"/>
                        </a:rPr>
                        <a:t>Draft Founder's Letter (LinkedIn + personal list)</a:t>
                      </a:r>
                    </a:p>
                  </a:txBody>
                  <a:tcPr>
                    <a:solidFill>
                      <a:srgbClr val="FFFFFF"/>
                    </a:solidFill>
                  </a:tcPr>
                </a:tc>
                <a:tc>
                  <a:txBody>
                    <a:bodyPr anchor="ctr"/>
                    <a:lstStyle/>
                    <a:p>
                      <a:pPr algn="l"/>
                      <a:r>
                        <a:rPr sz="900" b="1">
                          <a:solidFill>
                            <a:srgbClr val="00A3E0"/>
                          </a:solidFill>
                          <a:latin typeface="Poppins"/>
                        </a:rPr>
                        <a:t>Max</a:t>
                      </a:r>
                    </a:p>
                  </a:txBody>
                  <a:tcPr>
                    <a:solidFill>
                      <a:srgbClr val="FFFFFF"/>
                    </a:solidFill>
                  </a:tcPr>
                </a:tc>
                <a:tc>
                  <a:txBody>
                    <a:bodyPr anchor="ctr"/>
                    <a:lstStyle/>
                    <a:p>
                      <a:pPr algn="l"/>
                      <a:r>
                        <a:rPr sz="950" b="0">
                          <a:solidFill>
                            <a:srgbClr val="111827"/>
                          </a:solidFill>
                          <a:latin typeface="Poppins"/>
                        </a:rPr>
                        <a:t>Draft ready</a:t>
                      </a:r>
                    </a:p>
                  </a:txBody>
                  <a:tcPr>
                    <a:solidFill>
                      <a:srgbClr val="FFFFFF"/>
                    </a:solidFill>
                  </a:tcPr>
                </a:tc>
              </a:tr>
              <a:tr h="313944">
                <a:tc>
                  <a:txBody>
                    <a:bodyPr anchor="ctr"/>
                    <a:lstStyle/>
                    <a:p>
                      <a:pPr algn="ctr"/>
                      <a:r>
                        <a:rPr sz="1100" b="1">
                          <a:solidFill>
                            <a:srgbClr val="00A3E0"/>
                          </a:solidFill>
                          <a:latin typeface="Poppins"/>
                        </a:rPr>
                        <a:t>5</a:t>
                      </a:r>
                    </a:p>
                  </a:txBody>
                  <a:tcPr>
                    <a:solidFill>
                      <a:srgbClr val="F3F5F9"/>
                    </a:solidFill>
                  </a:tcPr>
                </a:tc>
                <a:tc>
                  <a:txBody>
                    <a:bodyPr anchor="ctr"/>
                    <a:lstStyle/>
                    <a:p>
                      <a:pPr algn="l"/>
                      <a:r>
                        <a:rPr sz="950" b="0">
                          <a:solidFill>
                            <a:srgbClr val="111827"/>
                          </a:solidFill>
                          <a:latin typeface="Poppins"/>
                        </a:rPr>
                        <a:t>Schedule brand photos + video reel (Dallas)</a:t>
                      </a:r>
                    </a:p>
                  </a:txBody>
                  <a:tcPr>
                    <a:solidFill>
                      <a:srgbClr val="F3F5F9"/>
                    </a:solidFill>
                  </a:tcPr>
                </a:tc>
                <a:tc>
                  <a:txBody>
                    <a:bodyPr anchor="ctr"/>
                    <a:lstStyle/>
                    <a:p>
                      <a:pPr algn="l"/>
                      <a:r>
                        <a:rPr sz="900" b="1">
                          <a:solidFill>
                            <a:srgbClr val="1F2A44"/>
                          </a:solidFill>
                          <a:latin typeface="Poppins"/>
                        </a:rPr>
                        <a:t>Rob</a:t>
                      </a:r>
                    </a:p>
                  </a:txBody>
                  <a:tcPr>
                    <a:solidFill>
                      <a:srgbClr val="F3F5F9"/>
                    </a:solidFill>
                  </a:tcPr>
                </a:tc>
                <a:tc>
                  <a:txBody>
                    <a:bodyPr anchor="ctr"/>
                    <a:lstStyle/>
                    <a:p>
                      <a:pPr algn="l"/>
                      <a:r>
                        <a:rPr sz="950" b="0">
                          <a:solidFill>
                            <a:srgbClr val="111827"/>
                          </a:solidFill>
                          <a:latin typeface="Poppins"/>
                        </a:rPr>
                        <a:t>Session booked</a:t>
                      </a:r>
                    </a:p>
                  </a:txBody>
                  <a:tcPr>
                    <a:solidFill>
                      <a:srgbClr val="F3F5F9"/>
                    </a:solidFill>
                  </a:tcPr>
                </a:tc>
              </a:tr>
              <a:tr h="313944">
                <a:tc>
                  <a:txBody>
                    <a:bodyPr anchor="ctr"/>
                    <a:lstStyle/>
                    <a:p>
                      <a:pPr algn="ctr"/>
                      <a:r>
                        <a:rPr sz="1100" b="1">
                          <a:solidFill>
                            <a:srgbClr val="00A3E0"/>
                          </a:solidFill>
                          <a:latin typeface="Poppins"/>
                        </a:rPr>
                        <a:t>6</a:t>
                      </a:r>
                    </a:p>
                  </a:txBody>
                  <a:tcPr>
                    <a:solidFill>
                      <a:srgbClr val="FFFFFF"/>
                    </a:solidFill>
                  </a:tcPr>
                </a:tc>
                <a:tc>
                  <a:txBody>
                    <a:bodyPr anchor="ctr"/>
                    <a:lstStyle/>
                    <a:p>
                      <a:pPr algn="l"/>
                      <a:r>
                        <a:rPr sz="950" b="0">
                          <a:solidFill>
                            <a:srgbClr val="111827"/>
                          </a:solidFill>
                          <a:latin typeface="Poppins"/>
                        </a:rPr>
                        <a:t>Build master Synthflow voice agent template (roofing)</a:t>
                      </a:r>
                    </a:p>
                  </a:txBody>
                  <a:tcPr>
                    <a:solidFill>
                      <a:srgbClr val="FFFFFF"/>
                    </a:solidFill>
                  </a:tcPr>
                </a:tc>
                <a:tc>
                  <a:txBody>
                    <a:bodyPr anchor="ctr"/>
                    <a:lstStyle/>
                    <a:p>
                      <a:pPr algn="l"/>
                      <a:r>
                        <a:rPr sz="900" b="1">
                          <a:solidFill>
                            <a:srgbClr val="4A5568"/>
                          </a:solidFill>
                          <a:latin typeface="Poppins"/>
                        </a:rPr>
                        <a:t>Max + Rob</a:t>
                      </a:r>
                    </a:p>
                  </a:txBody>
                  <a:tcPr>
                    <a:solidFill>
                      <a:srgbClr val="FFFFFF"/>
                    </a:solidFill>
                  </a:tcPr>
                </a:tc>
                <a:tc>
                  <a:txBody>
                    <a:bodyPr anchor="ctr"/>
                    <a:lstStyle/>
                    <a:p>
                      <a:pPr algn="l"/>
                      <a:r>
                        <a:rPr sz="950" b="0">
                          <a:solidFill>
                            <a:srgbClr val="111827"/>
                          </a:solidFill>
                          <a:latin typeface="Poppins"/>
                        </a:rPr>
                        <a:t>Template live</a:t>
                      </a:r>
                    </a:p>
                  </a:txBody>
                  <a:tcPr>
                    <a:solidFill>
                      <a:srgbClr val="FFFFFF"/>
                    </a:solidFill>
                  </a:tcPr>
                </a:tc>
              </a:tr>
              <a:tr h="313944">
                <a:tc>
                  <a:txBody>
                    <a:bodyPr anchor="ctr"/>
                    <a:lstStyle/>
                    <a:p>
                      <a:pPr algn="ctr"/>
                      <a:r>
                        <a:rPr sz="1100" b="1">
                          <a:solidFill>
                            <a:srgbClr val="00A3E0"/>
                          </a:solidFill>
                          <a:latin typeface="Poppins"/>
                        </a:rPr>
                        <a:t>6</a:t>
                      </a:r>
                    </a:p>
                  </a:txBody>
                  <a:tcPr>
                    <a:solidFill>
                      <a:srgbClr val="F3F5F9"/>
                    </a:solidFill>
                  </a:tcPr>
                </a:tc>
                <a:tc>
                  <a:txBody>
                    <a:bodyPr anchor="ctr"/>
                    <a:lstStyle/>
                    <a:p>
                      <a:pPr algn="l"/>
                      <a:r>
                        <a:rPr sz="950" b="0">
                          <a:solidFill>
                            <a:srgbClr val="111827"/>
                          </a:solidFill>
                          <a:latin typeface="Poppins"/>
                        </a:rPr>
                        <a:t>Build master Chatbase chat agent template</a:t>
                      </a:r>
                    </a:p>
                  </a:txBody>
                  <a:tcPr>
                    <a:solidFill>
                      <a:srgbClr val="F3F5F9"/>
                    </a:solidFill>
                  </a:tcPr>
                </a:tc>
                <a:tc>
                  <a:txBody>
                    <a:bodyPr anchor="ctr"/>
                    <a:lstStyle/>
                    <a:p>
                      <a:pPr algn="l"/>
                      <a:r>
                        <a:rPr sz="900" b="1">
                          <a:solidFill>
                            <a:srgbClr val="4A5568"/>
                          </a:solidFill>
                          <a:latin typeface="Poppins"/>
                        </a:rPr>
                        <a:t>Max + Rob</a:t>
                      </a:r>
                    </a:p>
                  </a:txBody>
                  <a:tcPr>
                    <a:solidFill>
                      <a:srgbClr val="F3F5F9"/>
                    </a:solidFill>
                  </a:tcPr>
                </a:tc>
                <a:tc>
                  <a:txBody>
                    <a:bodyPr anchor="ctr"/>
                    <a:lstStyle/>
                    <a:p>
                      <a:pPr algn="l"/>
                      <a:r>
                        <a:rPr sz="950" b="0">
                          <a:solidFill>
                            <a:srgbClr val="111827"/>
                          </a:solidFill>
                          <a:latin typeface="Poppins"/>
                        </a:rPr>
                        <a:t>Template live</a:t>
                      </a:r>
                    </a:p>
                  </a:txBody>
                  <a:tcPr>
                    <a:solidFill>
                      <a:srgbClr val="F3F5F9"/>
                    </a:solidFill>
                  </a:tcPr>
                </a:tc>
              </a:tr>
              <a:tr h="313944">
                <a:tc>
                  <a:txBody>
                    <a:bodyPr anchor="ctr"/>
                    <a:lstStyle/>
                    <a:p>
                      <a:pPr algn="ctr"/>
                      <a:r>
                        <a:rPr sz="1100" b="1">
                          <a:solidFill>
                            <a:srgbClr val="00A3E0"/>
                          </a:solidFill>
                          <a:latin typeface="Poppins"/>
                        </a:rPr>
                        <a:t>7</a:t>
                      </a:r>
                    </a:p>
                  </a:txBody>
                  <a:tcPr>
                    <a:solidFill>
                      <a:srgbClr val="FFFFFF"/>
                    </a:solidFill>
                  </a:tcPr>
                </a:tc>
                <a:tc>
                  <a:txBody>
                    <a:bodyPr anchor="ctr"/>
                    <a:lstStyle/>
                    <a:p>
                      <a:pPr algn="l"/>
                      <a:r>
                        <a:rPr sz="950" b="0">
                          <a:solidFill>
                            <a:srgbClr val="111827"/>
                          </a:solidFill>
                          <a:latin typeface="Poppins"/>
                        </a:rPr>
                        <a:t>Week 1 retro. Ship first internal demo to 3 friendlies</a:t>
                      </a:r>
                    </a:p>
                  </a:txBody>
                  <a:tcPr>
                    <a:solidFill>
                      <a:srgbClr val="FFFFFF"/>
                    </a:solidFill>
                  </a:tcPr>
                </a:tc>
                <a:tc>
                  <a:txBody>
                    <a:bodyPr anchor="ctr"/>
                    <a:lstStyle/>
                    <a:p>
                      <a:pPr algn="l"/>
                      <a:r>
                        <a:rPr sz="900" b="1">
                          <a:solidFill>
                            <a:srgbClr val="4A5568"/>
                          </a:solidFill>
                          <a:latin typeface="Poppins"/>
                        </a:rPr>
                        <a:t>Rob + Max</a:t>
                      </a:r>
                    </a:p>
                  </a:txBody>
                  <a:tcPr>
                    <a:solidFill>
                      <a:srgbClr val="FFFFFF"/>
                    </a:solidFill>
                  </a:tcPr>
                </a:tc>
                <a:tc>
                  <a:txBody>
                    <a:bodyPr anchor="ctr"/>
                    <a:lstStyle/>
                    <a:p>
                      <a:pPr algn="l"/>
                      <a:r>
                        <a:rPr sz="950" b="0">
                          <a:solidFill>
                            <a:srgbClr val="111827"/>
                          </a:solidFill>
                          <a:latin typeface="Poppins"/>
                        </a:rPr>
                        <a:t>Demos done</a:t>
                      </a:r>
                    </a:p>
                  </a:txBody>
                  <a:tcP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45720" rIns="45720" tIns="18288" bIns="18288" anchor="t">
            <a:spAutoFit/>
          </a:bodyPr>
          <a:lstStyle/>
          <a:p>
            <a:pPr algn="l"/>
            <a:r>
              <a:rPr sz="1000" b="1" i="0">
                <a:solidFill>
                  <a:srgbClr val="00A3E0"/>
                </a:solidFill>
                <a:latin typeface="Poppins"/>
              </a:rPr>
              <a:t>11 · WEEKS 2–4 — WEBSITE + FIRST CLIENTS</a:t>
            </a:r>
          </a:p>
        </p:txBody>
      </p:sp>
      <p:sp>
        <p:nvSpPr>
          <p:cNvPr id="4" name="TextBox 3"/>
          <p:cNvSpPr txBox="1"/>
          <p:nvPr/>
        </p:nvSpPr>
        <p:spPr>
          <a:xfrm>
            <a:off x="457200" y="594360"/>
            <a:ext cx="11247120" cy="640080"/>
          </a:xfrm>
          <a:prstGeom prst="rect">
            <a:avLst/>
          </a:prstGeom>
          <a:noFill/>
        </p:spPr>
        <p:txBody>
          <a:bodyPr wrap="square" lIns="45720" rIns="45720" tIns="18288" bIns="18288" anchor="t">
            <a:spAutoFit/>
          </a:bodyPr>
          <a:lstStyle/>
          <a:p>
            <a:pPr algn="l"/>
            <a:r>
              <a:rPr sz="2800" b="1" i="0">
                <a:solidFill>
                  <a:srgbClr val="1F2A44"/>
                </a:solidFill>
                <a:latin typeface="Poppins"/>
              </a:rPr>
              <a:t>Ship the digital real estate. Convert the friendlies.</a:t>
            </a:r>
          </a:p>
        </p:txBody>
      </p:sp>
      <p:sp>
        <p:nvSpPr>
          <p:cNvPr id="5" name="Rectangle 4"/>
          <p:cNvSpPr/>
          <p:nvPr/>
        </p:nvSpPr>
        <p:spPr>
          <a:xfrm>
            <a:off x="457200" y="1234440"/>
            <a:ext cx="914400" cy="4572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320040"/>
            <a:ext cx="640080" cy="274320"/>
          </a:xfrm>
          <a:prstGeom prst="rect">
            <a:avLst/>
          </a:prstGeom>
          <a:noFill/>
        </p:spPr>
        <p:txBody>
          <a:bodyPr wrap="square" lIns="45720" rIns="45720" tIns="18288" bIns="18288" anchor="t">
            <a:spAutoFit/>
          </a:bodyPr>
          <a:lstStyle/>
          <a:p>
            <a:pPr algn="r"/>
            <a:r>
              <a:rPr sz="900" b="1" i="0">
                <a:solidFill>
                  <a:srgbClr val="4A5568"/>
                </a:solidFill>
                <a:latin typeface="Poppins"/>
              </a:rPr>
              <a:t>12 / 18</a:t>
            </a:r>
          </a:p>
        </p:txBody>
      </p:sp>
      <p:sp>
        <p:nvSpPr>
          <p:cNvPr id="7" name="Rectangle 6"/>
          <p:cNvSpPr/>
          <p:nvPr/>
        </p:nvSpPr>
        <p:spPr>
          <a:xfrm>
            <a:off x="0" y="6720840"/>
            <a:ext cx="12191695" cy="1371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492240"/>
            <a:ext cx="3657600" cy="274320"/>
          </a:xfrm>
          <a:prstGeom prst="rect">
            <a:avLst/>
          </a:prstGeom>
          <a:noFill/>
        </p:spPr>
        <p:txBody>
          <a:bodyPr wrap="square" lIns="45720" rIns="45720" tIns="18288" bIns="18288" anchor="t">
            <a:spAutoFit/>
          </a:bodyPr>
          <a:lstStyle/>
          <a:p>
            <a:pPr algn="l"/>
            <a:r>
              <a:rPr sz="800" b="1" i="0">
                <a:solidFill>
                  <a:srgbClr val="1F2A44"/>
                </a:solidFill>
                <a:latin typeface="Poppins"/>
              </a:rPr>
              <a:t>CLOSECLINIC</a:t>
            </a:r>
          </a:p>
        </p:txBody>
      </p:sp>
      <p:sp>
        <p:nvSpPr>
          <p:cNvPr id="9" name="TextBox 8"/>
          <p:cNvSpPr txBox="1"/>
          <p:nvPr/>
        </p:nvSpPr>
        <p:spPr>
          <a:xfrm>
            <a:off x="6400800" y="6492240"/>
            <a:ext cx="5486400" cy="274320"/>
          </a:xfrm>
          <a:prstGeom prst="rect">
            <a:avLst/>
          </a:prstGeom>
          <a:noFill/>
        </p:spPr>
        <p:txBody>
          <a:bodyPr wrap="square" lIns="45720" rIns="45720" tIns="18288" bIns="18288" anchor="t">
            <a:spAutoFit/>
          </a:bodyPr>
          <a:lstStyle/>
          <a:p>
            <a:pPr algn="r"/>
            <a:r>
              <a:rPr sz="800" b="0" i="0">
                <a:solidFill>
                  <a:srgbClr val="4A5568"/>
                </a:solidFill>
                <a:latin typeface="Poppins"/>
              </a:rPr>
              <a:t>CloseClinic · Launch Plan · 2026-04-21 · p.12</a:t>
            </a:r>
          </a:p>
        </p:txBody>
      </p:sp>
      <p:sp>
        <p:nvSpPr>
          <p:cNvPr id="10" name="Rectangle 9"/>
          <p:cNvSpPr/>
          <p:nvPr/>
        </p:nvSpPr>
        <p:spPr>
          <a:xfrm>
            <a:off x="457200" y="1463040"/>
            <a:ext cx="3749039" cy="96012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423160"/>
            <a:ext cx="3749039" cy="37033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572768"/>
            <a:ext cx="3291839" cy="228600"/>
          </a:xfrm>
          <a:prstGeom prst="rect">
            <a:avLst/>
          </a:prstGeom>
          <a:noFill/>
        </p:spPr>
        <p:txBody>
          <a:bodyPr wrap="square" lIns="45720" rIns="45720" tIns="18288" bIns="18288" anchor="t">
            <a:spAutoFit/>
          </a:bodyPr>
          <a:lstStyle/>
          <a:p>
            <a:pPr algn="l"/>
            <a:r>
              <a:rPr sz="900" b="1" i="0">
                <a:solidFill>
                  <a:srgbClr val="FFFFFF"/>
                </a:solidFill>
                <a:latin typeface="Poppins"/>
              </a:rPr>
              <a:t>WEEK 2  ·  Days 8–14</a:t>
            </a:r>
          </a:p>
        </p:txBody>
      </p:sp>
      <p:sp>
        <p:nvSpPr>
          <p:cNvPr id="13" name="TextBox 12"/>
          <p:cNvSpPr txBox="1"/>
          <p:nvPr/>
        </p:nvSpPr>
        <p:spPr>
          <a:xfrm>
            <a:off x="685800" y="1810512"/>
            <a:ext cx="3291839" cy="457200"/>
          </a:xfrm>
          <a:prstGeom prst="rect">
            <a:avLst/>
          </a:prstGeom>
          <a:noFill/>
        </p:spPr>
        <p:txBody>
          <a:bodyPr wrap="square" lIns="45720" rIns="45720" tIns="18288" bIns="18288" anchor="t">
            <a:spAutoFit/>
          </a:bodyPr>
          <a:lstStyle/>
          <a:p>
            <a:pPr algn="l"/>
            <a:r>
              <a:rPr sz="1700" b="1" i="0">
                <a:solidFill>
                  <a:srgbClr val="FFFFFF"/>
                </a:solidFill>
                <a:latin typeface="Poppins"/>
              </a:rPr>
              <a:t>Website + Core Assets</a:t>
            </a:r>
          </a:p>
        </p:txBody>
      </p:sp>
      <p:sp>
        <p:nvSpPr>
          <p:cNvPr id="14" name="TextBox 13"/>
          <p:cNvSpPr txBox="1"/>
          <p:nvPr/>
        </p:nvSpPr>
        <p:spPr>
          <a:xfrm>
            <a:off x="685800" y="2578608"/>
            <a:ext cx="182880" cy="256032"/>
          </a:xfrm>
          <a:prstGeom prst="rect">
            <a:avLst/>
          </a:prstGeom>
          <a:noFill/>
        </p:spPr>
        <p:txBody>
          <a:bodyPr wrap="square" lIns="45720" rIns="45720" tIns="18288" bIns="18288" anchor="t">
            <a:spAutoFit/>
          </a:bodyPr>
          <a:lstStyle/>
          <a:p>
            <a:pPr algn="l"/>
            <a:r>
              <a:rPr sz="1000" b="1" i="0">
                <a:solidFill>
                  <a:srgbClr val="00A3E0"/>
                </a:solidFill>
                <a:latin typeface="Poppins"/>
              </a:rPr>
              <a:t>▸</a:t>
            </a:r>
          </a:p>
        </p:txBody>
      </p:sp>
      <p:sp>
        <p:nvSpPr>
          <p:cNvPr id="15" name="TextBox 14"/>
          <p:cNvSpPr txBox="1"/>
          <p:nvPr/>
        </p:nvSpPr>
        <p:spPr>
          <a:xfrm>
            <a:off x="914400" y="2578608"/>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Scaffold Next.js 16 project on Vercel</a:t>
            </a:r>
          </a:p>
        </p:txBody>
      </p:sp>
      <p:sp>
        <p:nvSpPr>
          <p:cNvPr id="16" name="TextBox 15"/>
          <p:cNvSpPr txBox="1"/>
          <p:nvPr/>
        </p:nvSpPr>
        <p:spPr>
          <a:xfrm>
            <a:off x="685800" y="2916936"/>
            <a:ext cx="182880" cy="256032"/>
          </a:xfrm>
          <a:prstGeom prst="rect">
            <a:avLst/>
          </a:prstGeom>
          <a:noFill/>
        </p:spPr>
        <p:txBody>
          <a:bodyPr wrap="square" lIns="45720" rIns="45720" tIns="18288" bIns="18288" anchor="t">
            <a:spAutoFit/>
          </a:bodyPr>
          <a:lstStyle/>
          <a:p>
            <a:pPr algn="l"/>
            <a:r>
              <a:rPr sz="1000" b="1" i="0">
                <a:solidFill>
                  <a:srgbClr val="00A3E0"/>
                </a:solidFill>
                <a:latin typeface="Poppins"/>
              </a:rPr>
              <a:t>▸</a:t>
            </a:r>
          </a:p>
        </p:txBody>
      </p:sp>
      <p:sp>
        <p:nvSpPr>
          <p:cNvPr id="17" name="TextBox 16"/>
          <p:cNvSpPr txBox="1"/>
          <p:nvPr/>
        </p:nvSpPr>
        <p:spPr>
          <a:xfrm>
            <a:off x="914400" y="2916936"/>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Ship /home, /about, /services, /pricing, /contact</a:t>
            </a:r>
          </a:p>
        </p:txBody>
      </p:sp>
      <p:sp>
        <p:nvSpPr>
          <p:cNvPr id="18" name="TextBox 17"/>
          <p:cNvSpPr txBox="1"/>
          <p:nvPr/>
        </p:nvSpPr>
        <p:spPr>
          <a:xfrm>
            <a:off x="685800" y="3255264"/>
            <a:ext cx="182880" cy="256032"/>
          </a:xfrm>
          <a:prstGeom prst="rect">
            <a:avLst/>
          </a:prstGeom>
          <a:noFill/>
        </p:spPr>
        <p:txBody>
          <a:bodyPr wrap="square" lIns="45720" rIns="45720" tIns="18288" bIns="18288" anchor="t">
            <a:spAutoFit/>
          </a:bodyPr>
          <a:lstStyle/>
          <a:p>
            <a:pPr algn="l"/>
            <a:r>
              <a:rPr sz="1000" b="1" i="0">
                <a:solidFill>
                  <a:srgbClr val="00A3E0"/>
                </a:solidFill>
                <a:latin typeface="Poppins"/>
              </a:rPr>
              <a:t>▸</a:t>
            </a:r>
          </a:p>
        </p:txBody>
      </p:sp>
      <p:sp>
        <p:nvSpPr>
          <p:cNvPr id="19" name="TextBox 18"/>
          <p:cNvSpPr txBox="1"/>
          <p:nvPr/>
        </p:nvSpPr>
        <p:spPr>
          <a:xfrm>
            <a:off x="914400" y="3255264"/>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Embed Org + Person + LocalBusiness + Service + FAQPage + Course JSON-LD</a:t>
            </a:r>
          </a:p>
        </p:txBody>
      </p:sp>
      <p:sp>
        <p:nvSpPr>
          <p:cNvPr id="20" name="TextBox 19"/>
          <p:cNvSpPr txBox="1"/>
          <p:nvPr/>
        </p:nvSpPr>
        <p:spPr>
          <a:xfrm>
            <a:off x="685800" y="3593592"/>
            <a:ext cx="182880" cy="256032"/>
          </a:xfrm>
          <a:prstGeom prst="rect">
            <a:avLst/>
          </a:prstGeom>
          <a:noFill/>
        </p:spPr>
        <p:txBody>
          <a:bodyPr wrap="square" lIns="45720" rIns="45720" tIns="18288" bIns="18288" anchor="t">
            <a:spAutoFit/>
          </a:bodyPr>
          <a:lstStyle/>
          <a:p>
            <a:pPr algn="l"/>
            <a:r>
              <a:rPr sz="1000" b="1" i="0">
                <a:solidFill>
                  <a:srgbClr val="00A3E0"/>
                </a:solidFill>
                <a:latin typeface="Poppins"/>
              </a:rPr>
              <a:t>▸</a:t>
            </a:r>
          </a:p>
        </p:txBody>
      </p:sp>
      <p:sp>
        <p:nvSpPr>
          <p:cNvPr id="21" name="TextBox 20"/>
          <p:cNvSpPr txBox="1"/>
          <p:nvPr/>
        </p:nvSpPr>
        <p:spPr>
          <a:xfrm>
            <a:off x="914400" y="3593592"/>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Publish llms.txt + llms-full.txt + ai.txt + ai.toon</a:t>
            </a:r>
          </a:p>
        </p:txBody>
      </p:sp>
      <p:sp>
        <p:nvSpPr>
          <p:cNvPr id="22" name="TextBox 21"/>
          <p:cNvSpPr txBox="1"/>
          <p:nvPr/>
        </p:nvSpPr>
        <p:spPr>
          <a:xfrm>
            <a:off x="685800" y="3931920"/>
            <a:ext cx="182880" cy="256032"/>
          </a:xfrm>
          <a:prstGeom prst="rect">
            <a:avLst/>
          </a:prstGeom>
          <a:noFill/>
        </p:spPr>
        <p:txBody>
          <a:bodyPr wrap="square" lIns="45720" rIns="45720" tIns="18288" bIns="18288" anchor="t">
            <a:spAutoFit/>
          </a:bodyPr>
          <a:lstStyle/>
          <a:p>
            <a:pPr algn="l"/>
            <a:r>
              <a:rPr sz="1000" b="1" i="0">
                <a:solidFill>
                  <a:srgbClr val="00A3E0"/>
                </a:solidFill>
                <a:latin typeface="Poppins"/>
              </a:rPr>
              <a:t>▸</a:t>
            </a:r>
          </a:p>
        </p:txBody>
      </p:sp>
      <p:sp>
        <p:nvSpPr>
          <p:cNvPr id="23" name="TextBox 22"/>
          <p:cNvSpPr txBox="1"/>
          <p:nvPr/>
        </p:nvSpPr>
        <p:spPr>
          <a:xfrm>
            <a:off x="914400" y="3931920"/>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Submit sitemap to GSC, Bing, IndexNow</a:t>
            </a:r>
          </a:p>
        </p:txBody>
      </p:sp>
      <p:sp>
        <p:nvSpPr>
          <p:cNvPr id="24" name="TextBox 23"/>
          <p:cNvSpPr txBox="1"/>
          <p:nvPr/>
        </p:nvSpPr>
        <p:spPr>
          <a:xfrm>
            <a:off x="685800" y="4270248"/>
            <a:ext cx="182880" cy="256032"/>
          </a:xfrm>
          <a:prstGeom prst="rect">
            <a:avLst/>
          </a:prstGeom>
          <a:noFill/>
        </p:spPr>
        <p:txBody>
          <a:bodyPr wrap="square" lIns="45720" rIns="45720" tIns="18288" bIns="18288" anchor="t">
            <a:spAutoFit/>
          </a:bodyPr>
          <a:lstStyle/>
          <a:p>
            <a:pPr algn="l"/>
            <a:r>
              <a:rPr sz="1000" b="1" i="0">
                <a:solidFill>
                  <a:srgbClr val="00A3E0"/>
                </a:solidFill>
                <a:latin typeface="Poppins"/>
              </a:rPr>
              <a:t>▸</a:t>
            </a:r>
          </a:p>
        </p:txBody>
      </p:sp>
      <p:sp>
        <p:nvSpPr>
          <p:cNvPr id="25" name="TextBox 24"/>
          <p:cNvSpPr txBox="1"/>
          <p:nvPr/>
        </p:nvSpPr>
        <p:spPr>
          <a:xfrm>
            <a:off x="914400" y="4270248"/>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Interactive Leaky Bucket Diagnostic (React scorecard)</a:t>
            </a:r>
          </a:p>
        </p:txBody>
      </p:sp>
      <p:sp>
        <p:nvSpPr>
          <p:cNvPr id="26" name="TextBox 25"/>
          <p:cNvSpPr txBox="1"/>
          <p:nvPr/>
        </p:nvSpPr>
        <p:spPr>
          <a:xfrm>
            <a:off x="685800" y="4608576"/>
            <a:ext cx="182880" cy="256032"/>
          </a:xfrm>
          <a:prstGeom prst="rect">
            <a:avLst/>
          </a:prstGeom>
          <a:noFill/>
        </p:spPr>
        <p:txBody>
          <a:bodyPr wrap="square" lIns="45720" rIns="45720" tIns="18288" bIns="18288" anchor="t">
            <a:spAutoFit/>
          </a:bodyPr>
          <a:lstStyle/>
          <a:p>
            <a:pPr algn="l"/>
            <a:r>
              <a:rPr sz="1000" b="1" i="0">
                <a:solidFill>
                  <a:srgbClr val="00A3E0"/>
                </a:solidFill>
                <a:latin typeface="Poppins"/>
              </a:rPr>
              <a:t>▸</a:t>
            </a:r>
          </a:p>
        </p:txBody>
      </p:sp>
      <p:sp>
        <p:nvSpPr>
          <p:cNvPr id="27" name="TextBox 26"/>
          <p:cNvSpPr txBox="1"/>
          <p:nvPr/>
        </p:nvSpPr>
        <p:spPr>
          <a:xfrm>
            <a:off x="914400" y="4608576"/>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Embed demo AI receptionist on homepage</a:t>
            </a:r>
          </a:p>
        </p:txBody>
      </p:sp>
      <p:sp>
        <p:nvSpPr>
          <p:cNvPr id="28" name="TextBox 27"/>
          <p:cNvSpPr txBox="1"/>
          <p:nvPr/>
        </p:nvSpPr>
        <p:spPr>
          <a:xfrm>
            <a:off x="685800" y="4946904"/>
            <a:ext cx="182880" cy="256032"/>
          </a:xfrm>
          <a:prstGeom prst="rect">
            <a:avLst/>
          </a:prstGeom>
          <a:noFill/>
        </p:spPr>
        <p:txBody>
          <a:bodyPr wrap="square" lIns="45720" rIns="45720" tIns="18288" bIns="18288" anchor="t">
            <a:spAutoFit/>
          </a:bodyPr>
          <a:lstStyle/>
          <a:p>
            <a:pPr algn="l"/>
            <a:r>
              <a:rPr sz="1000" b="1" i="0">
                <a:solidFill>
                  <a:srgbClr val="00A3E0"/>
                </a:solidFill>
                <a:latin typeface="Poppins"/>
              </a:rPr>
              <a:t>▸</a:t>
            </a:r>
          </a:p>
        </p:txBody>
      </p:sp>
      <p:sp>
        <p:nvSpPr>
          <p:cNvPr id="29" name="TextBox 28"/>
          <p:cNvSpPr txBox="1"/>
          <p:nvPr/>
        </p:nvSpPr>
        <p:spPr>
          <a:xfrm>
            <a:off x="914400" y="4946904"/>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10 foundational blog posts (FAQ-seeded)</a:t>
            </a:r>
          </a:p>
        </p:txBody>
      </p:sp>
      <p:sp>
        <p:nvSpPr>
          <p:cNvPr id="30" name="TextBox 29"/>
          <p:cNvSpPr txBox="1"/>
          <p:nvPr/>
        </p:nvSpPr>
        <p:spPr>
          <a:xfrm>
            <a:off x="685800" y="5285232"/>
            <a:ext cx="182880" cy="256032"/>
          </a:xfrm>
          <a:prstGeom prst="rect">
            <a:avLst/>
          </a:prstGeom>
          <a:noFill/>
        </p:spPr>
        <p:txBody>
          <a:bodyPr wrap="square" lIns="45720" rIns="45720" tIns="18288" bIns="18288" anchor="t">
            <a:spAutoFit/>
          </a:bodyPr>
          <a:lstStyle/>
          <a:p>
            <a:pPr algn="l"/>
            <a:r>
              <a:rPr sz="1000" b="1" i="0">
                <a:solidFill>
                  <a:srgbClr val="00A3E0"/>
                </a:solidFill>
                <a:latin typeface="Poppins"/>
              </a:rPr>
              <a:t>▸</a:t>
            </a:r>
          </a:p>
        </p:txBody>
      </p:sp>
      <p:sp>
        <p:nvSpPr>
          <p:cNvPr id="31" name="TextBox 30"/>
          <p:cNvSpPr txBox="1"/>
          <p:nvPr/>
        </p:nvSpPr>
        <p:spPr>
          <a:xfrm>
            <a:off x="914400" y="5285232"/>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Soft-launch to personal network</a:t>
            </a:r>
          </a:p>
        </p:txBody>
      </p:sp>
      <p:sp>
        <p:nvSpPr>
          <p:cNvPr id="32" name="Rectangle 31"/>
          <p:cNvSpPr/>
          <p:nvPr/>
        </p:nvSpPr>
        <p:spPr>
          <a:xfrm>
            <a:off x="457200" y="5669280"/>
            <a:ext cx="3749039" cy="4572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5696712"/>
            <a:ext cx="3291839" cy="201168"/>
          </a:xfrm>
          <a:prstGeom prst="rect">
            <a:avLst/>
          </a:prstGeom>
          <a:noFill/>
        </p:spPr>
        <p:txBody>
          <a:bodyPr wrap="square" lIns="45720" rIns="45720" tIns="18288" bIns="18288" anchor="t">
            <a:spAutoFit/>
          </a:bodyPr>
          <a:lstStyle/>
          <a:p>
            <a:pPr algn="l"/>
            <a:r>
              <a:rPr sz="800" b="1" i="0">
                <a:solidFill>
                  <a:srgbClr val="00A3E0"/>
                </a:solidFill>
                <a:latin typeface="Poppins"/>
              </a:rPr>
              <a:t>OUTCOME</a:t>
            </a:r>
          </a:p>
        </p:txBody>
      </p:sp>
      <p:sp>
        <p:nvSpPr>
          <p:cNvPr id="34" name="TextBox 33"/>
          <p:cNvSpPr txBox="1"/>
          <p:nvPr/>
        </p:nvSpPr>
        <p:spPr>
          <a:xfrm>
            <a:off x="685800" y="5879592"/>
            <a:ext cx="3291839" cy="228600"/>
          </a:xfrm>
          <a:prstGeom prst="rect">
            <a:avLst/>
          </a:prstGeom>
          <a:noFill/>
        </p:spPr>
        <p:txBody>
          <a:bodyPr wrap="square" lIns="45720" rIns="45720" tIns="18288" bIns="18288" anchor="t">
            <a:spAutoFit/>
          </a:bodyPr>
          <a:lstStyle/>
          <a:p>
            <a:pPr algn="l"/>
            <a:r>
              <a:rPr sz="950" b="1" i="0">
                <a:solidFill>
                  <a:srgbClr val="FFFFFF"/>
                </a:solidFill>
                <a:latin typeface="Poppins"/>
              </a:rPr>
              <a:t>Site live. Schema validates. Lead magnet capturing.</a:t>
            </a:r>
          </a:p>
        </p:txBody>
      </p:sp>
      <p:sp>
        <p:nvSpPr>
          <p:cNvPr id="35" name="Rectangle 34"/>
          <p:cNvSpPr/>
          <p:nvPr/>
        </p:nvSpPr>
        <p:spPr>
          <a:xfrm>
            <a:off x="4343399" y="1463040"/>
            <a:ext cx="3749039"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43399" y="2423160"/>
            <a:ext cx="3749039" cy="37033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1999" y="1572768"/>
            <a:ext cx="3291839" cy="228600"/>
          </a:xfrm>
          <a:prstGeom prst="rect">
            <a:avLst/>
          </a:prstGeom>
          <a:noFill/>
        </p:spPr>
        <p:txBody>
          <a:bodyPr wrap="square" lIns="45720" rIns="45720" tIns="18288" bIns="18288" anchor="t">
            <a:spAutoFit/>
          </a:bodyPr>
          <a:lstStyle/>
          <a:p>
            <a:pPr algn="l"/>
            <a:r>
              <a:rPr sz="900" b="1" i="0">
                <a:solidFill>
                  <a:srgbClr val="FFFFFF"/>
                </a:solidFill>
                <a:latin typeface="Poppins"/>
              </a:rPr>
              <a:t>WEEK 3  ·  Days 15–21</a:t>
            </a:r>
          </a:p>
        </p:txBody>
      </p:sp>
      <p:sp>
        <p:nvSpPr>
          <p:cNvPr id="38" name="TextBox 37"/>
          <p:cNvSpPr txBox="1"/>
          <p:nvPr/>
        </p:nvSpPr>
        <p:spPr>
          <a:xfrm>
            <a:off x="4571999" y="1810512"/>
            <a:ext cx="3291839" cy="457200"/>
          </a:xfrm>
          <a:prstGeom prst="rect">
            <a:avLst/>
          </a:prstGeom>
          <a:noFill/>
        </p:spPr>
        <p:txBody>
          <a:bodyPr wrap="square" lIns="45720" rIns="45720" tIns="18288" bIns="18288" anchor="t">
            <a:spAutoFit/>
          </a:bodyPr>
          <a:lstStyle/>
          <a:p>
            <a:pPr algn="l"/>
            <a:r>
              <a:rPr sz="1700" b="1" i="0">
                <a:solidFill>
                  <a:srgbClr val="FFFFFF"/>
                </a:solidFill>
                <a:latin typeface="Poppins"/>
              </a:rPr>
              <a:t>Content + Authority</a:t>
            </a:r>
          </a:p>
        </p:txBody>
      </p:sp>
      <p:sp>
        <p:nvSpPr>
          <p:cNvPr id="39" name="TextBox 38"/>
          <p:cNvSpPr txBox="1"/>
          <p:nvPr/>
        </p:nvSpPr>
        <p:spPr>
          <a:xfrm>
            <a:off x="4571999" y="2578608"/>
            <a:ext cx="182880" cy="256032"/>
          </a:xfrm>
          <a:prstGeom prst="rect">
            <a:avLst/>
          </a:prstGeom>
          <a:noFill/>
        </p:spPr>
        <p:txBody>
          <a:bodyPr wrap="square" lIns="45720" rIns="45720" tIns="18288" bIns="18288" anchor="t">
            <a:spAutoFit/>
          </a:bodyPr>
          <a:lstStyle/>
          <a:p>
            <a:pPr algn="l"/>
            <a:r>
              <a:rPr sz="1000" b="1" i="0">
                <a:solidFill>
                  <a:srgbClr val="F59E0B"/>
                </a:solidFill>
                <a:latin typeface="Poppins"/>
              </a:rPr>
              <a:t>▸</a:t>
            </a:r>
          </a:p>
        </p:txBody>
      </p:sp>
      <p:sp>
        <p:nvSpPr>
          <p:cNvPr id="40" name="TextBox 39"/>
          <p:cNvSpPr txBox="1"/>
          <p:nvPr/>
        </p:nvSpPr>
        <p:spPr>
          <a:xfrm>
            <a:off x="4800599" y="2578608"/>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Founder's Letter on LinkedIn (announce CloseClinic)</a:t>
            </a:r>
          </a:p>
        </p:txBody>
      </p:sp>
      <p:sp>
        <p:nvSpPr>
          <p:cNvPr id="41" name="TextBox 40"/>
          <p:cNvSpPr txBox="1"/>
          <p:nvPr/>
        </p:nvSpPr>
        <p:spPr>
          <a:xfrm>
            <a:off x="4571999" y="2916936"/>
            <a:ext cx="182880" cy="256032"/>
          </a:xfrm>
          <a:prstGeom prst="rect">
            <a:avLst/>
          </a:prstGeom>
          <a:noFill/>
        </p:spPr>
        <p:txBody>
          <a:bodyPr wrap="square" lIns="45720" rIns="45720" tIns="18288" bIns="18288" anchor="t">
            <a:spAutoFit/>
          </a:bodyPr>
          <a:lstStyle/>
          <a:p>
            <a:pPr algn="l"/>
            <a:r>
              <a:rPr sz="1000" b="1" i="0">
                <a:solidFill>
                  <a:srgbClr val="F59E0B"/>
                </a:solidFill>
                <a:latin typeface="Poppins"/>
              </a:rPr>
              <a:t>▸</a:t>
            </a:r>
          </a:p>
        </p:txBody>
      </p:sp>
      <p:sp>
        <p:nvSpPr>
          <p:cNvPr id="42" name="TextBox 41"/>
          <p:cNvSpPr txBox="1"/>
          <p:nvPr/>
        </p:nvSpPr>
        <p:spPr>
          <a:xfrm>
            <a:off x="4800599" y="2916936"/>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Email to 500+ contractor contacts (STG-era Rolodex)</a:t>
            </a:r>
          </a:p>
        </p:txBody>
      </p:sp>
      <p:sp>
        <p:nvSpPr>
          <p:cNvPr id="43" name="TextBox 42"/>
          <p:cNvSpPr txBox="1"/>
          <p:nvPr/>
        </p:nvSpPr>
        <p:spPr>
          <a:xfrm>
            <a:off x="4571999" y="3255264"/>
            <a:ext cx="182880" cy="256032"/>
          </a:xfrm>
          <a:prstGeom prst="rect">
            <a:avLst/>
          </a:prstGeom>
          <a:noFill/>
        </p:spPr>
        <p:txBody>
          <a:bodyPr wrap="square" lIns="45720" rIns="45720" tIns="18288" bIns="18288" anchor="t">
            <a:spAutoFit/>
          </a:bodyPr>
          <a:lstStyle/>
          <a:p>
            <a:pPr algn="l"/>
            <a:r>
              <a:rPr sz="1000" b="1" i="0">
                <a:solidFill>
                  <a:srgbClr val="F59E0B"/>
                </a:solidFill>
                <a:latin typeface="Poppins"/>
              </a:rPr>
              <a:t>▸</a:t>
            </a:r>
          </a:p>
        </p:txBody>
      </p:sp>
      <p:sp>
        <p:nvSpPr>
          <p:cNvPr id="44" name="TextBox 43"/>
          <p:cNvSpPr txBox="1"/>
          <p:nvPr/>
        </p:nvSpPr>
        <p:spPr>
          <a:xfrm>
            <a:off x="4800599" y="3255264"/>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Record first 5 CloseClinic Diagnostic Podcast eps</a:t>
            </a:r>
          </a:p>
        </p:txBody>
      </p:sp>
      <p:sp>
        <p:nvSpPr>
          <p:cNvPr id="45" name="TextBox 44"/>
          <p:cNvSpPr txBox="1"/>
          <p:nvPr/>
        </p:nvSpPr>
        <p:spPr>
          <a:xfrm>
            <a:off x="4571999" y="3593592"/>
            <a:ext cx="182880" cy="256032"/>
          </a:xfrm>
          <a:prstGeom prst="rect">
            <a:avLst/>
          </a:prstGeom>
          <a:noFill/>
        </p:spPr>
        <p:txBody>
          <a:bodyPr wrap="square" lIns="45720" rIns="45720" tIns="18288" bIns="18288" anchor="t">
            <a:spAutoFit/>
          </a:bodyPr>
          <a:lstStyle/>
          <a:p>
            <a:pPr algn="l"/>
            <a:r>
              <a:rPr sz="1000" b="1" i="0">
                <a:solidFill>
                  <a:srgbClr val="F59E0B"/>
                </a:solidFill>
                <a:latin typeface="Poppins"/>
              </a:rPr>
              <a:t>▸</a:t>
            </a:r>
          </a:p>
        </p:txBody>
      </p:sp>
      <p:sp>
        <p:nvSpPr>
          <p:cNvPr id="46" name="TextBox 45"/>
          <p:cNvSpPr txBox="1"/>
          <p:nvPr/>
        </p:nvSpPr>
        <p:spPr>
          <a:xfrm>
            <a:off x="4800599" y="3593592"/>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Publish Ep 1 on YouTube + Spotify + Apple</a:t>
            </a:r>
          </a:p>
        </p:txBody>
      </p:sp>
      <p:sp>
        <p:nvSpPr>
          <p:cNvPr id="47" name="TextBox 46"/>
          <p:cNvSpPr txBox="1"/>
          <p:nvPr/>
        </p:nvSpPr>
        <p:spPr>
          <a:xfrm>
            <a:off x="4571999" y="3931920"/>
            <a:ext cx="182880" cy="256032"/>
          </a:xfrm>
          <a:prstGeom prst="rect">
            <a:avLst/>
          </a:prstGeom>
          <a:noFill/>
        </p:spPr>
        <p:txBody>
          <a:bodyPr wrap="square" lIns="45720" rIns="45720" tIns="18288" bIns="18288" anchor="t">
            <a:spAutoFit/>
          </a:bodyPr>
          <a:lstStyle/>
          <a:p>
            <a:pPr algn="l"/>
            <a:r>
              <a:rPr sz="1000" b="1" i="0">
                <a:solidFill>
                  <a:srgbClr val="F59E0B"/>
                </a:solidFill>
                <a:latin typeface="Poppins"/>
              </a:rPr>
              <a:t>▸</a:t>
            </a:r>
          </a:p>
        </p:txBody>
      </p:sp>
      <p:sp>
        <p:nvSpPr>
          <p:cNvPr id="48" name="TextBox 47"/>
          <p:cNvSpPr txBox="1"/>
          <p:nvPr/>
        </p:nvSpPr>
        <p:spPr>
          <a:xfrm>
            <a:off x="4800599" y="3931920"/>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Seed 10 Reddit answers (r/Roofing, r/HVAC, r/RoofingSales)</a:t>
            </a:r>
          </a:p>
        </p:txBody>
      </p:sp>
      <p:sp>
        <p:nvSpPr>
          <p:cNvPr id="49" name="TextBox 48"/>
          <p:cNvSpPr txBox="1"/>
          <p:nvPr/>
        </p:nvSpPr>
        <p:spPr>
          <a:xfrm>
            <a:off x="4571999" y="4270248"/>
            <a:ext cx="182880" cy="256032"/>
          </a:xfrm>
          <a:prstGeom prst="rect">
            <a:avLst/>
          </a:prstGeom>
          <a:noFill/>
        </p:spPr>
        <p:txBody>
          <a:bodyPr wrap="square" lIns="45720" rIns="45720" tIns="18288" bIns="18288" anchor="t">
            <a:spAutoFit/>
          </a:bodyPr>
          <a:lstStyle/>
          <a:p>
            <a:pPr algn="l"/>
            <a:r>
              <a:rPr sz="1000" b="1" i="0">
                <a:solidFill>
                  <a:srgbClr val="F59E0B"/>
                </a:solidFill>
                <a:latin typeface="Poppins"/>
              </a:rPr>
              <a:t>▸</a:t>
            </a:r>
          </a:p>
        </p:txBody>
      </p:sp>
      <p:sp>
        <p:nvSpPr>
          <p:cNvPr id="50" name="TextBox 49"/>
          <p:cNvSpPr txBox="1"/>
          <p:nvPr/>
        </p:nvSpPr>
        <p:spPr>
          <a:xfrm>
            <a:off x="4800599" y="4270248"/>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Pitch Roofing Contractor Magazine (feature angle)</a:t>
            </a:r>
          </a:p>
        </p:txBody>
      </p:sp>
      <p:sp>
        <p:nvSpPr>
          <p:cNvPr id="51" name="TextBox 50"/>
          <p:cNvSpPr txBox="1"/>
          <p:nvPr/>
        </p:nvSpPr>
        <p:spPr>
          <a:xfrm>
            <a:off x="4571999" y="4608576"/>
            <a:ext cx="182880" cy="256032"/>
          </a:xfrm>
          <a:prstGeom prst="rect">
            <a:avLst/>
          </a:prstGeom>
          <a:noFill/>
        </p:spPr>
        <p:txBody>
          <a:bodyPr wrap="square" lIns="45720" rIns="45720" tIns="18288" bIns="18288" anchor="t">
            <a:spAutoFit/>
          </a:bodyPr>
          <a:lstStyle/>
          <a:p>
            <a:pPr algn="l"/>
            <a:r>
              <a:rPr sz="1000" b="1" i="0">
                <a:solidFill>
                  <a:srgbClr val="F59E0B"/>
                </a:solidFill>
                <a:latin typeface="Poppins"/>
              </a:rPr>
              <a:t>▸</a:t>
            </a:r>
          </a:p>
        </p:txBody>
      </p:sp>
      <p:sp>
        <p:nvSpPr>
          <p:cNvPr id="52" name="TextBox 51"/>
          <p:cNvSpPr txBox="1"/>
          <p:nvPr/>
        </p:nvSpPr>
        <p:spPr>
          <a:xfrm>
            <a:off x="4800599" y="4608576"/>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Pitch Pro Remodeler, Qualified Remodeler, ProSales</a:t>
            </a:r>
          </a:p>
        </p:txBody>
      </p:sp>
      <p:sp>
        <p:nvSpPr>
          <p:cNvPr id="53" name="TextBox 52"/>
          <p:cNvSpPr txBox="1"/>
          <p:nvPr/>
        </p:nvSpPr>
        <p:spPr>
          <a:xfrm>
            <a:off x="4571999" y="4946904"/>
            <a:ext cx="182880" cy="256032"/>
          </a:xfrm>
          <a:prstGeom prst="rect">
            <a:avLst/>
          </a:prstGeom>
          <a:noFill/>
        </p:spPr>
        <p:txBody>
          <a:bodyPr wrap="square" lIns="45720" rIns="45720" tIns="18288" bIns="18288" anchor="t">
            <a:spAutoFit/>
          </a:bodyPr>
          <a:lstStyle/>
          <a:p>
            <a:pPr algn="l"/>
            <a:r>
              <a:rPr sz="1000" b="1" i="0">
                <a:solidFill>
                  <a:srgbClr val="F59E0B"/>
                </a:solidFill>
                <a:latin typeface="Poppins"/>
              </a:rPr>
              <a:t>▸</a:t>
            </a:r>
          </a:p>
        </p:txBody>
      </p:sp>
      <p:sp>
        <p:nvSpPr>
          <p:cNvPr id="54" name="TextBox 53"/>
          <p:cNvSpPr txBox="1"/>
          <p:nvPr/>
        </p:nvSpPr>
        <p:spPr>
          <a:xfrm>
            <a:off x="4800599" y="4946904"/>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Two content pillars live by end of week</a:t>
            </a:r>
          </a:p>
        </p:txBody>
      </p:sp>
      <p:sp>
        <p:nvSpPr>
          <p:cNvPr id="55" name="Rectangle 54"/>
          <p:cNvSpPr/>
          <p:nvPr/>
        </p:nvSpPr>
        <p:spPr>
          <a:xfrm>
            <a:off x="4343399" y="5669280"/>
            <a:ext cx="3749039" cy="4572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1999" y="5696712"/>
            <a:ext cx="3291839" cy="201168"/>
          </a:xfrm>
          <a:prstGeom prst="rect">
            <a:avLst/>
          </a:prstGeom>
          <a:noFill/>
        </p:spPr>
        <p:txBody>
          <a:bodyPr wrap="square" lIns="45720" rIns="45720" tIns="18288" bIns="18288" anchor="t">
            <a:spAutoFit/>
          </a:bodyPr>
          <a:lstStyle/>
          <a:p>
            <a:pPr algn="l"/>
            <a:r>
              <a:rPr sz="800" b="1" i="0">
                <a:solidFill>
                  <a:srgbClr val="00A3E0"/>
                </a:solidFill>
                <a:latin typeface="Poppins"/>
              </a:rPr>
              <a:t>OUTCOME</a:t>
            </a:r>
          </a:p>
        </p:txBody>
      </p:sp>
      <p:sp>
        <p:nvSpPr>
          <p:cNvPr id="57" name="TextBox 56"/>
          <p:cNvSpPr txBox="1"/>
          <p:nvPr/>
        </p:nvSpPr>
        <p:spPr>
          <a:xfrm>
            <a:off x="4571999" y="5879592"/>
            <a:ext cx="3291839" cy="228600"/>
          </a:xfrm>
          <a:prstGeom prst="rect">
            <a:avLst/>
          </a:prstGeom>
          <a:noFill/>
        </p:spPr>
        <p:txBody>
          <a:bodyPr wrap="square" lIns="45720" rIns="45720" tIns="18288" bIns="18288" anchor="t">
            <a:spAutoFit/>
          </a:bodyPr>
          <a:lstStyle/>
          <a:p>
            <a:pPr algn="l"/>
            <a:r>
              <a:rPr sz="950" b="1" i="0">
                <a:solidFill>
                  <a:srgbClr val="FFFFFF"/>
                </a:solidFill>
                <a:latin typeface="Poppins"/>
              </a:rPr>
              <a:t>Category authority signal starts firing.</a:t>
            </a:r>
          </a:p>
        </p:txBody>
      </p:sp>
      <p:sp>
        <p:nvSpPr>
          <p:cNvPr id="58" name="Rectangle 57"/>
          <p:cNvSpPr/>
          <p:nvPr/>
        </p:nvSpPr>
        <p:spPr>
          <a:xfrm>
            <a:off x="8229598" y="1463040"/>
            <a:ext cx="3749039" cy="96012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229598" y="2423160"/>
            <a:ext cx="3749039" cy="37033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58198" y="1572768"/>
            <a:ext cx="3291839" cy="228600"/>
          </a:xfrm>
          <a:prstGeom prst="rect">
            <a:avLst/>
          </a:prstGeom>
          <a:noFill/>
        </p:spPr>
        <p:txBody>
          <a:bodyPr wrap="square" lIns="45720" rIns="45720" tIns="18288" bIns="18288" anchor="t">
            <a:spAutoFit/>
          </a:bodyPr>
          <a:lstStyle/>
          <a:p>
            <a:pPr algn="l"/>
            <a:r>
              <a:rPr sz="900" b="1" i="0">
                <a:solidFill>
                  <a:srgbClr val="FFFFFF"/>
                </a:solidFill>
                <a:latin typeface="Poppins"/>
              </a:rPr>
              <a:t>WEEK 4  ·  Days 22–30</a:t>
            </a:r>
          </a:p>
        </p:txBody>
      </p:sp>
      <p:sp>
        <p:nvSpPr>
          <p:cNvPr id="61" name="TextBox 60"/>
          <p:cNvSpPr txBox="1"/>
          <p:nvPr/>
        </p:nvSpPr>
        <p:spPr>
          <a:xfrm>
            <a:off x="8458198" y="1810512"/>
            <a:ext cx="3291839" cy="457200"/>
          </a:xfrm>
          <a:prstGeom prst="rect">
            <a:avLst/>
          </a:prstGeom>
          <a:noFill/>
        </p:spPr>
        <p:txBody>
          <a:bodyPr wrap="square" lIns="45720" rIns="45720" tIns="18288" bIns="18288" anchor="t">
            <a:spAutoFit/>
          </a:bodyPr>
          <a:lstStyle/>
          <a:p>
            <a:pPr algn="l"/>
            <a:r>
              <a:rPr sz="1700" b="1" i="0">
                <a:solidFill>
                  <a:srgbClr val="FFFFFF"/>
                </a:solidFill>
                <a:latin typeface="Poppins"/>
              </a:rPr>
              <a:t>First Paid Clients</a:t>
            </a:r>
          </a:p>
        </p:txBody>
      </p:sp>
      <p:sp>
        <p:nvSpPr>
          <p:cNvPr id="62" name="TextBox 61"/>
          <p:cNvSpPr txBox="1"/>
          <p:nvPr/>
        </p:nvSpPr>
        <p:spPr>
          <a:xfrm>
            <a:off x="8458198" y="2578608"/>
            <a:ext cx="182880" cy="256032"/>
          </a:xfrm>
          <a:prstGeom prst="rect">
            <a:avLst/>
          </a:prstGeom>
          <a:noFill/>
        </p:spPr>
        <p:txBody>
          <a:bodyPr wrap="square" lIns="45720" rIns="45720" tIns="18288" bIns="18288" anchor="t">
            <a:spAutoFit/>
          </a:bodyPr>
          <a:lstStyle/>
          <a:p>
            <a:pPr algn="l"/>
            <a:r>
              <a:rPr sz="1000" b="1" i="0">
                <a:solidFill>
                  <a:srgbClr val="22C55E"/>
                </a:solidFill>
                <a:latin typeface="Poppins"/>
              </a:rPr>
              <a:t>▸</a:t>
            </a:r>
          </a:p>
        </p:txBody>
      </p:sp>
      <p:sp>
        <p:nvSpPr>
          <p:cNvPr id="63" name="TextBox 62"/>
          <p:cNvSpPr txBox="1"/>
          <p:nvPr/>
        </p:nvSpPr>
        <p:spPr>
          <a:xfrm>
            <a:off x="8686798" y="2578608"/>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Convert 3 friendlies to Tier 2 (founder price $3,497/mo for 12mo)</a:t>
            </a:r>
          </a:p>
        </p:txBody>
      </p:sp>
      <p:sp>
        <p:nvSpPr>
          <p:cNvPr id="64" name="TextBox 63"/>
          <p:cNvSpPr txBox="1"/>
          <p:nvPr/>
        </p:nvSpPr>
        <p:spPr>
          <a:xfrm>
            <a:off x="8458198" y="2916936"/>
            <a:ext cx="182880" cy="256032"/>
          </a:xfrm>
          <a:prstGeom prst="rect">
            <a:avLst/>
          </a:prstGeom>
          <a:noFill/>
        </p:spPr>
        <p:txBody>
          <a:bodyPr wrap="square" lIns="45720" rIns="45720" tIns="18288" bIns="18288" anchor="t">
            <a:spAutoFit/>
          </a:bodyPr>
          <a:lstStyle/>
          <a:p>
            <a:pPr algn="l"/>
            <a:r>
              <a:rPr sz="1000" b="1" i="0">
                <a:solidFill>
                  <a:srgbClr val="22C55E"/>
                </a:solidFill>
                <a:latin typeface="Poppins"/>
              </a:rPr>
              <a:t>▸</a:t>
            </a:r>
          </a:p>
        </p:txBody>
      </p:sp>
      <p:sp>
        <p:nvSpPr>
          <p:cNvPr id="65" name="TextBox 64"/>
          <p:cNvSpPr txBox="1"/>
          <p:nvPr/>
        </p:nvSpPr>
        <p:spPr>
          <a:xfrm>
            <a:off x="8686798" y="2916936"/>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Onboard Client #1: Synthflow + GHL + n8n + Chatbase</a:t>
            </a:r>
          </a:p>
        </p:txBody>
      </p:sp>
      <p:sp>
        <p:nvSpPr>
          <p:cNvPr id="66" name="TextBox 65"/>
          <p:cNvSpPr txBox="1"/>
          <p:nvPr/>
        </p:nvSpPr>
        <p:spPr>
          <a:xfrm>
            <a:off x="8458198" y="3255264"/>
            <a:ext cx="182880" cy="256032"/>
          </a:xfrm>
          <a:prstGeom prst="rect">
            <a:avLst/>
          </a:prstGeom>
          <a:noFill/>
        </p:spPr>
        <p:txBody>
          <a:bodyPr wrap="square" lIns="45720" rIns="45720" tIns="18288" bIns="18288" anchor="t">
            <a:spAutoFit/>
          </a:bodyPr>
          <a:lstStyle/>
          <a:p>
            <a:pPr algn="l"/>
            <a:r>
              <a:rPr sz="1000" b="1" i="0">
                <a:solidFill>
                  <a:srgbClr val="22C55E"/>
                </a:solidFill>
                <a:latin typeface="Poppins"/>
              </a:rPr>
              <a:t>▸</a:t>
            </a:r>
          </a:p>
        </p:txBody>
      </p:sp>
      <p:sp>
        <p:nvSpPr>
          <p:cNvPr id="67" name="TextBox 66"/>
          <p:cNvSpPr txBox="1"/>
          <p:nvPr/>
        </p:nvSpPr>
        <p:spPr>
          <a:xfrm>
            <a:off x="8686798" y="3255264"/>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Onboard Client #2</a:t>
            </a:r>
          </a:p>
        </p:txBody>
      </p:sp>
      <p:sp>
        <p:nvSpPr>
          <p:cNvPr id="68" name="TextBox 67"/>
          <p:cNvSpPr txBox="1"/>
          <p:nvPr/>
        </p:nvSpPr>
        <p:spPr>
          <a:xfrm>
            <a:off x="8458198" y="3593592"/>
            <a:ext cx="182880" cy="256032"/>
          </a:xfrm>
          <a:prstGeom prst="rect">
            <a:avLst/>
          </a:prstGeom>
          <a:noFill/>
        </p:spPr>
        <p:txBody>
          <a:bodyPr wrap="square" lIns="45720" rIns="45720" tIns="18288" bIns="18288" anchor="t">
            <a:spAutoFit/>
          </a:bodyPr>
          <a:lstStyle/>
          <a:p>
            <a:pPr algn="l"/>
            <a:r>
              <a:rPr sz="1000" b="1" i="0">
                <a:solidFill>
                  <a:srgbClr val="22C55E"/>
                </a:solidFill>
                <a:latin typeface="Poppins"/>
              </a:rPr>
              <a:t>▸</a:t>
            </a:r>
          </a:p>
        </p:txBody>
      </p:sp>
      <p:sp>
        <p:nvSpPr>
          <p:cNvPr id="69" name="TextBox 68"/>
          <p:cNvSpPr txBox="1"/>
          <p:nvPr/>
        </p:nvSpPr>
        <p:spPr>
          <a:xfrm>
            <a:off x="8686798" y="3593592"/>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Onboard Client #3</a:t>
            </a:r>
          </a:p>
        </p:txBody>
      </p:sp>
      <p:sp>
        <p:nvSpPr>
          <p:cNvPr id="70" name="TextBox 69"/>
          <p:cNvSpPr txBox="1"/>
          <p:nvPr/>
        </p:nvSpPr>
        <p:spPr>
          <a:xfrm>
            <a:off x="8458198" y="3931920"/>
            <a:ext cx="182880" cy="256032"/>
          </a:xfrm>
          <a:prstGeom prst="rect">
            <a:avLst/>
          </a:prstGeom>
          <a:noFill/>
        </p:spPr>
        <p:txBody>
          <a:bodyPr wrap="square" lIns="45720" rIns="45720" tIns="18288" bIns="18288" anchor="t">
            <a:spAutoFit/>
          </a:bodyPr>
          <a:lstStyle/>
          <a:p>
            <a:pPr algn="l"/>
            <a:r>
              <a:rPr sz="1000" b="1" i="0">
                <a:solidFill>
                  <a:srgbClr val="22C55E"/>
                </a:solidFill>
                <a:latin typeface="Poppins"/>
              </a:rPr>
              <a:t>▸</a:t>
            </a:r>
          </a:p>
        </p:txBody>
      </p:sp>
      <p:sp>
        <p:nvSpPr>
          <p:cNvPr id="71" name="TextBox 70"/>
          <p:cNvSpPr txBox="1"/>
          <p:nvPr/>
        </p:nvSpPr>
        <p:spPr>
          <a:xfrm>
            <a:off x="8686798" y="3931920"/>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Capture baseline before-metrics for case studies</a:t>
            </a:r>
          </a:p>
        </p:txBody>
      </p:sp>
      <p:sp>
        <p:nvSpPr>
          <p:cNvPr id="72" name="TextBox 71"/>
          <p:cNvSpPr txBox="1"/>
          <p:nvPr/>
        </p:nvSpPr>
        <p:spPr>
          <a:xfrm>
            <a:off x="8458198" y="4270248"/>
            <a:ext cx="182880" cy="256032"/>
          </a:xfrm>
          <a:prstGeom prst="rect">
            <a:avLst/>
          </a:prstGeom>
          <a:noFill/>
        </p:spPr>
        <p:txBody>
          <a:bodyPr wrap="square" lIns="45720" rIns="45720" tIns="18288" bIns="18288" anchor="t">
            <a:spAutoFit/>
          </a:bodyPr>
          <a:lstStyle/>
          <a:p>
            <a:pPr algn="l"/>
            <a:r>
              <a:rPr sz="1000" b="1" i="0">
                <a:solidFill>
                  <a:srgbClr val="22C55E"/>
                </a:solidFill>
                <a:latin typeface="Poppins"/>
              </a:rPr>
              <a:t>▸</a:t>
            </a:r>
          </a:p>
        </p:txBody>
      </p:sp>
      <p:sp>
        <p:nvSpPr>
          <p:cNvPr id="73" name="TextBox 72"/>
          <p:cNvSpPr txBox="1"/>
          <p:nvPr/>
        </p:nvSpPr>
        <p:spPr>
          <a:xfrm>
            <a:off x="8686798" y="4270248"/>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Soft-launch Tier 1 to email list</a:t>
            </a:r>
          </a:p>
        </p:txBody>
      </p:sp>
      <p:sp>
        <p:nvSpPr>
          <p:cNvPr id="74" name="TextBox 73"/>
          <p:cNvSpPr txBox="1"/>
          <p:nvPr/>
        </p:nvSpPr>
        <p:spPr>
          <a:xfrm>
            <a:off x="8458198" y="4608576"/>
            <a:ext cx="182880" cy="256032"/>
          </a:xfrm>
          <a:prstGeom prst="rect">
            <a:avLst/>
          </a:prstGeom>
          <a:noFill/>
        </p:spPr>
        <p:txBody>
          <a:bodyPr wrap="square" lIns="45720" rIns="45720" tIns="18288" bIns="18288" anchor="t">
            <a:spAutoFit/>
          </a:bodyPr>
          <a:lstStyle/>
          <a:p>
            <a:pPr algn="l"/>
            <a:r>
              <a:rPr sz="1000" b="1" i="0">
                <a:solidFill>
                  <a:srgbClr val="22C55E"/>
                </a:solidFill>
                <a:latin typeface="Poppins"/>
              </a:rPr>
              <a:t>▸</a:t>
            </a:r>
          </a:p>
        </p:txBody>
      </p:sp>
      <p:sp>
        <p:nvSpPr>
          <p:cNvPr id="75" name="TextBox 74"/>
          <p:cNvSpPr txBox="1"/>
          <p:nvPr/>
        </p:nvSpPr>
        <p:spPr>
          <a:xfrm>
            <a:off x="8686798" y="4608576"/>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Convert 2 Tier 1 founding members</a:t>
            </a:r>
          </a:p>
        </p:txBody>
      </p:sp>
      <p:sp>
        <p:nvSpPr>
          <p:cNvPr id="76" name="TextBox 75"/>
          <p:cNvSpPr txBox="1"/>
          <p:nvPr/>
        </p:nvSpPr>
        <p:spPr>
          <a:xfrm>
            <a:off x="8458198" y="4946904"/>
            <a:ext cx="182880" cy="256032"/>
          </a:xfrm>
          <a:prstGeom prst="rect">
            <a:avLst/>
          </a:prstGeom>
          <a:noFill/>
        </p:spPr>
        <p:txBody>
          <a:bodyPr wrap="square" lIns="45720" rIns="45720" tIns="18288" bIns="18288" anchor="t">
            <a:spAutoFit/>
          </a:bodyPr>
          <a:lstStyle/>
          <a:p>
            <a:pPr algn="l"/>
            <a:r>
              <a:rPr sz="1000" b="1" i="0">
                <a:solidFill>
                  <a:srgbClr val="22C55E"/>
                </a:solidFill>
                <a:latin typeface="Poppins"/>
              </a:rPr>
              <a:t>▸</a:t>
            </a:r>
          </a:p>
        </p:txBody>
      </p:sp>
      <p:sp>
        <p:nvSpPr>
          <p:cNvPr id="77" name="TextBox 76"/>
          <p:cNvSpPr txBox="1"/>
          <p:nvPr/>
        </p:nvSpPr>
        <p:spPr>
          <a:xfrm>
            <a:off x="8686798" y="4946904"/>
            <a:ext cx="3063239" cy="320040"/>
          </a:xfrm>
          <a:prstGeom prst="rect">
            <a:avLst/>
          </a:prstGeom>
          <a:noFill/>
        </p:spPr>
        <p:txBody>
          <a:bodyPr wrap="square" lIns="45720" rIns="45720" tIns="18288" bIns="18288" anchor="t">
            <a:spAutoFit/>
          </a:bodyPr>
          <a:lstStyle/>
          <a:p>
            <a:pPr algn="l"/>
            <a:r>
              <a:rPr sz="950" b="0" i="0">
                <a:solidFill>
                  <a:srgbClr val="111827"/>
                </a:solidFill>
                <a:latin typeface="Poppins"/>
              </a:rPr>
              <a:t>Record 'How I left STG → $17K MRR in 30 days' post</a:t>
            </a:r>
          </a:p>
        </p:txBody>
      </p:sp>
      <p:sp>
        <p:nvSpPr>
          <p:cNvPr id="78" name="Rectangle 77"/>
          <p:cNvSpPr/>
          <p:nvPr/>
        </p:nvSpPr>
        <p:spPr>
          <a:xfrm>
            <a:off x="8229598" y="5669280"/>
            <a:ext cx="3749039" cy="4572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458198" y="5696712"/>
            <a:ext cx="3291839" cy="201168"/>
          </a:xfrm>
          <a:prstGeom prst="rect">
            <a:avLst/>
          </a:prstGeom>
          <a:noFill/>
        </p:spPr>
        <p:txBody>
          <a:bodyPr wrap="square" lIns="45720" rIns="45720" tIns="18288" bIns="18288" anchor="t">
            <a:spAutoFit/>
          </a:bodyPr>
          <a:lstStyle/>
          <a:p>
            <a:pPr algn="l"/>
            <a:r>
              <a:rPr sz="800" b="1" i="0">
                <a:solidFill>
                  <a:srgbClr val="00A3E0"/>
                </a:solidFill>
                <a:latin typeface="Poppins"/>
              </a:rPr>
              <a:t>OUTCOME</a:t>
            </a:r>
          </a:p>
        </p:txBody>
      </p:sp>
      <p:sp>
        <p:nvSpPr>
          <p:cNvPr id="80" name="TextBox 79"/>
          <p:cNvSpPr txBox="1"/>
          <p:nvPr/>
        </p:nvSpPr>
        <p:spPr>
          <a:xfrm>
            <a:off x="8458198" y="5879592"/>
            <a:ext cx="3291839" cy="228600"/>
          </a:xfrm>
          <a:prstGeom prst="rect">
            <a:avLst/>
          </a:prstGeom>
          <a:noFill/>
        </p:spPr>
        <p:txBody>
          <a:bodyPr wrap="square" lIns="45720" rIns="45720" tIns="18288" bIns="18288" anchor="t">
            <a:spAutoFit/>
          </a:bodyPr>
          <a:lstStyle/>
          <a:p>
            <a:pPr algn="l"/>
            <a:r>
              <a:rPr sz="950" b="1" i="0">
                <a:solidFill>
                  <a:srgbClr val="FFFFFF"/>
                </a:solidFill>
                <a:latin typeface="Poppins"/>
              </a:rPr>
              <a:t>5 paying clients. ~$17K MRR. Momentum established.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45720" rIns="45720" tIns="18288" bIns="18288" anchor="t">
            <a:spAutoFit/>
          </a:bodyPr>
          <a:lstStyle/>
          <a:p>
            <a:pPr algn="l"/>
            <a:r>
              <a:rPr sz="1000" b="1" i="0">
                <a:solidFill>
                  <a:srgbClr val="00A3E0"/>
                </a:solidFill>
                <a:latin typeface="Poppins"/>
              </a:rPr>
              <a:t>12 · WEEKS 5–13 — AUTHORITY + SCALE</a:t>
            </a:r>
          </a:p>
        </p:txBody>
      </p:sp>
      <p:sp>
        <p:nvSpPr>
          <p:cNvPr id="4" name="TextBox 3"/>
          <p:cNvSpPr txBox="1"/>
          <p:nvPr/>
        </p:nvSpPr>
        <p:spPr>
          <a:xfrm>
            <a:off x="457200" y="594360"/>
            <a:ext cx="11247120" cy="640080"/>
          </a:xfrm>
          <a:prstGeom prst="rect">
            <a:avLst/>
          </a:prstGeom>
          <a:noFill/>
        </p:spPr>
        <p:txBody>
          <a:bodyPr wrap="square" lIns="45720" rIns="45720" tIns="18288" bIns="18288" anchor="t">
            <a:spAutoFit/>
          </a:bodyPr>
          <a:lstStyle/>
          <a:p>
            <a:pPr algn="l"/>
            <a:r>
              <a:rPr sz="2800" b="1" i="0">
                <a:solidFill>
                  <a:srgbClr val="1F2A44"/>
                </a:solidFill>
                <a:latin typeface="Poppins"/>
              </a:rPr>
              <a:t>From 5 clients to 30. From local story to category leader.</a:t>
            </a:r>
          </a:p>
        </p:txBody>
      </p:sp>
      <p:sp>
        <p:nvSpPr>
          <p:cNvPr id="5" name="Rectangle 4"/>
          <p:cNvSpPr/>
          <p:nvPr/>
        </p:nvSpPr>
        <p:spPr>
          <a:xfrm>
            <a:off x="457200" y="1234440"/>
            <a:ext cx="914400" cy="4572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320040"/>
            <a:ext cx="640080" cy="274320"/>
          </a:xfrm>
          <a:prstGeom prst="rect">
            <a:avLst/>
          </a:prstGeom>
          <a:noFill/>
        </p:spPr>
        <p:txBody>
          <a:bodyPr wrap="square" lIns="45720" rIns="45720" tIns="18288" bIns="18288" anchor="t">
            <a:spAutoFit/>
          </a:bodyPr>
          <a:lstStyle/>
          <a:p>
            <a:pPr algn="r"/>
            <a:r>
              <a:rPr sz="900" b="1" i="0">
                <a:solidFill>
                  <a:srgbClr val="4A5568"/>
                </a:solidFill>
                <a:latin typeface="Poppins"/>
              </a:rPr>
              <a:t>13 / 18</a:t>
            </a:r>
          </a:p>
        </p:txBody>
      </p:sp>
      <p:sp>
        <p:nvSpPr>
          <p:cNvPr id="7" name="Rectangle 6"/>
          <p:cNvSpPr/>
          <p:nvPr/>
        </p:nvSpPr>
        <p:spPr>
          <a:xfrm>
            <a:off x="0" y="6720840"/>
            <a:ext cx="12191695" cy="1371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492240"/>
            <a:ext cx="3657600" cy="274320"/>
          </a:xfrm>
          <a:prstGeom prst="rect">
            <a:avLst/>
          </a:prstGeom>
          <a:noFill/>
        </p:spPr>
        <p:txBody>
          <a:bodyPr wrap="square" lIns="45720" rIns="45720" tIns="18288" bIns="18288" anchor="t">
            <a:spAutoFit/>
          </a:bodyPr>
          <a:lstStyle/>
          <a:p>
            <a:pPr algn="l"/>
            <a:r>
              <a:rPr sz="800" b="1" i="0">
                <a:solidFill>
                  <a:srgbClr val="1F2A44"/>
                </a:solidFill>
                <a:latin typeface="Poppins"/>
              </a:rPr>
              <a:t>CLOSECLINIC</a:t>
            </a:r>
          </a:p>
        </p:txBody>
      </p:sp>
      <p:sp>
        <p:nvSpPr>
          <p:cNvPr id="9" name="TextBox 8"/>
          <p:cNvSpPr txBox="1"/>
          <p:nvPr/>
        </p:nvSpPr>
        <p:spPr>
          <a:xfrm>
            <a:off x="6400800" y="6492240"/>
            <a:ext cx="5486400" cy="274320"/>
          </a:xfrm>
          <a:prstGeom prst="rect">
            <a:avLst/>
          </a:prstGeom>
          <a:noFill/>
        </p:spPr>
        <p:txBody>
          <a:bodyPr wrap="square" lIns="45720" rIns="45720" tIns="18288" bIns="18288" anchor="t">
            <a:spAutoFit/>
          </a:bodyPr>
          <a:lstStyle/>
          <a:p>
            <a:pPr algn="r"/>
            <a:r>
              <a:rPr sz="800" b="0" i="0">
                <a:solidFill>
                  <a:srgbClr val="4A5568"/>
                </a:solidFill>
                <a:latin typeface="Poppins"/>
              </a:rPr>
              <a:t>CloseClinic · Launch Plan · 2026-04-21 · p.13</a:t>
            </a:r>
          </a:p>
        </p:txBody>
      </p:sp>
      <p:sp>
        <p:nvSpPr>
          <p:cNvPr id="10" name="Rectangle 9"/>
          <p:cNvSpPr/>
          <p:nvPr/>
        </p:nvSpPr>
        <p:spPr>
          <a:xfrm>
            <a:off x="457200" y="1554480"/>
            <a:ext cx="5623560"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627632"/>
            <a:ext cx="4572000" cy="274320"/>
          </a:xfrm>
          <a:prstGeom prst="rect">
            <a:avLst/>
          </a:prstGeom>
          <a:noFill/>
        </p:spPr>
        <p:txBody>
          <a:bodyPr wrap="square" lIns="45720" rIns="45720" tIns="18288" bIns="18288" anchor="t">
            <a:spAutoFit/>
          </a:bodyPr>
          <a:lstStyle/>
          <a:p>
            <a:pPr algn="l"/>
            <a:r>
              <a:rPr sz="1000" b="1" i="0">
                <a:solidFill>
                  <a:srgbClr val="FFFFFF"/>
                </a:solidFill>
                <a:latin typeface="Poppins"/>
              </a:rPr>
              <a:t>WEEKS 5–8  ·  AUTHORITY BUILD</a:t>
            </a:r>
          </a:p>
        </p:txBody>
      </p:sp>
      <p:sp>
        <p:nvSpPr>
          <p:cNvPr id="12" name="TextBox 11"/>
          <p:cNvSpPr txBox="1"/>
          <p:nvPr/>
        </p:nvSpPr>
        <p:spPr>
          <a:xfrm>
            <a:off x="640080" y="1874519"/>
            <a:ext cx="4572000" cy="457200"/>
          </a:xfrm>
          <a:prstGeom prst="rect">
            <a:avLst/>
          </a:prstGeom>
          <a:noFill/>
        </p:spPr>
        <p:txBody>
          <a:bodyPr wrap="square" lIns="45720" rIns="45720" tIns="18288" bIns="18288" anchor="t">
            <a:spAutoFit/>
          </a:bodyPr>
          <a:lstStyle/>
          <a:p>
            <a:pPr algn="l"/>
            <a:r>
              <a:rPr sz="2200" b="1" i="0">
                <a:solidFill>
                  <a:srgbClr val="FFFFFF"/>
                </a:solidFill>
                <a:latin typeface="Poppins"/>
              </a:rPr>
              <a:t>Days 31–60</a:t>
            </a:r>
          </a:p>
        </p:txBody>
      </p:sp>
      <p:sp>
        <p:nvSpPr>
          <p:cNvPr id="13" name="Rectangle 12"/>
          <p:cNvSpPr/>
          <p:nvPr/>
        </p:nvSpPr>
        <p:spPr>
          <a:xfrm>
            <a:off x="4572000" y="1691640"/>
            <a:ext cx="1417320" cy="5029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1691640"/>
            <a:ext cx="1417320" cy="274320"/>
          </a:xfrm>
          <a:prstGeom prst="rect">
            <a:avLst/>
          </a:prstGeom>
          <a:noFill/>
        </p:spPr>
        <p:txBody>
          <a:bodyPr wrap="square" lIns="45720" rIns="45720" tIns="18288" bIns="18288" anchor="b">
            <a:spAutoFit/>
          </a:bodyPr>
          <a:lstStyle/>
          <a:p>
            <a:pPr algn="ctr"/>
            <a:r>
              <a:rPr sz="700" b="1" i="0">
                <a:solidFill>
                  <a:srgbClr val="00A3E0"/>
                </a:solidFill>
                <a:latin typeface="Poppins"/>
              </a:rPr>
              <a:t>MILESTONE</a:t>
            </a:r>
          </a:p>
        </p:txBody>
      </p:sp>
      <p:sp>
        <p:nvSpPr>
          <p:cNvPr id="15" name="TextBox 14"/>
          <p:cNvSpPr txBox="1"/>
          <p:nvPr/>
        </p:nvSpPr>
        <p:spPr>
          <a:xfrm>
            <a:off x="4572000" y="1920240"/>
            <a:ext cx="1417320" cy="292608"/>
          </a:xfrm>
          <a:prstGeom prst="rect">
            <a:avLst/>
          </a:prstGeom>
          <a:noFill/>
        </p:spPr>
        <p:txBody>
          <a:bodyPr wrap="square" lIns="45720" rIns="45720" tIns="18288" bIns="18288" anchor="t">
            <a:spAutoFit/>
          </a:bodyPr>
          <a:lstStyle/>
          <a:p>
            <a:pPr algn="ctr"/>
            <a:r>
              <a:rPr sz="900" b="1" i="0">
                <a:solidFill>
                  <a:srgbClr val="FFFFFF"/>
                </a:solidFill>
                <a:latin typeface="Poppins"/>
              </a:rPr>
              <a:t>15 clients · $60K MRR</a:t>
            </a:r>
          </a:p>
        </p:txBody>
      </p:sp>
      <p:sp>
        <p:nvSpPr>
          <p:cNvPr id="16" name="Rectangle 15"/>
          <p:cNvSpPr/>
          <p:nvPr/>
        </p:nvSpPr>
        <p:spPr>
          <a:xfrm>
            <a:off x="457200" y="2331720"/>
            <a:ext cx="5623560" cy="402336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468880"/>
            <a:ext cx="182880" cy="274320"/>
          </a:xfrm>
          <a:prstGeom prst="rect">
            <a:avLst/>
          </a:prstGeom>
          <a:noFill/>
        </p:spPr>
        <p:txBody>
          <a:bodyPr wrap="square" lIns="45720" rIns="45720" tIns="18288" bIns="18288" anchor="t">
            <a:spAutoFit/>
          </a:bodyPr>
          <a:lstStyle/>
          <a:p>
            <a:pPr algn="l"/>
            <a:r>
              <a:rPr sz="1100" b="1" i="0">
                <a:solidFill>
                  <a:srgbClr val="F59E0B"/>
                </a:solidFill>
                <a:latin typeface="Poppins"/>
              </a:rPr>
              <a:t>▸</a:t>
            </a:r>
          </a:p>
        </p:txBody>
      </p:sp>
      <p:sp>
        <p:nvSpPr>
          <p:cNvPr id="18" name="TextBox 17"/>
          <p:cNvSpPr txBox="1"/>
          <p:nvPr/>
        </p:nvSpPr>
        <p:spPr>
          <a:xfrm>
            <a:off x="868680" y="2468880"/>
            <a:ext cx="5166360" cy="457200"/>
          </a:xfrm>
          <a:prstGeom prst="rect">
            <a:avLst/>
          </a:prstGeom>
          <a:noFill/>
        </p:spPr>
        <p:txBody>
          <a:bodyPr wrap="square" lIns="45720" rIns="45720" tIns="18288" bIns="18288" anchor="t">
            <a:spAutoFit/>
          </a:bodyPr>
          <a:lstStyle/>
          <a:p>
            <a:pPr algn="l"/>
            <a:r>
              <a:rPr sz="1050" b="0" i="0">
                <a:solidFill>
                  <a:srgbClr val="111827"/>
                </a:solidFill>
                <a:latin typeface="Poppins"/>
              </a:rPr>
              <a:t>Launch weekly Leaky Bucket Live webinar (Thu 1pm CT) — pipeline pull</a:t>
            </a:r>
          </a:p>
        </p:txBody>
      </p:sp>
      <p:sp>
        <p:nvSpPr>
          <p:cNvPr id="19" name="TextBox 18"/>
          <p:cNvSpPr txBox="1"/>
          <p:nvPr/>
        </p:nvSpPr>
        <p:spPr>
          <a:xfrm>
            <a:off x="640080" y="2944368"/>
            <a:ext cx="182880" cy="274320"/>
          </a:xfrm>
          <a:prstGeom prst="rect">
            <a:avLst/>
          </a:prstGeom>
          <a:noFill/>
        </p:spPr>
        <p:txBody>
          <a:bodyPr wrap="square" lIns="45720" rIns="45720" tIns="18288" bIns="18288" anchor="t">
            <a:spAutoFit/>
          </a:bodyPr>
          <a:lstStyle/>
          <a:p>
            <a:pPr algn="l"/>
            <a:r>
              <a:rPr sz="1100" b="1" i="0">
                <a:solidFill>
                  <a:srgbClr val="F59E0B"/>
                </a:solidFill>
                <a:latin typeface="Poppins"/>
              </a:rPr>
              <a:t>▸</a:t>
            </a:r>
          </a:p>
        </p:txBody>
      </p:sp>
      <p:sp>
        <p:nvSpPr>
          <p:cNvPr id="20" name="TextBox 19"/>
          <p:cNvSpPr txBox="1"/>
          <p:nvPr/>
        </p:nvSpPr>
        <p:spPr>
          <a:xfrm>
            <a:off x="868680" y="2944368"/>
            <a:ext cx="5166360" cy="457200"/>
          </a:xfrm>
          <a:prstGeom prst="rect">
            <a:avLst/>
          </a:prstGeom>
          <a:noFill/>
        </p:spPr>
        <p:txBody>
          <a:bodyPr wrap="square" lIns="45720" rIns="45720" tIns="18288" bIns="18288" anchor="t">
            <a:spAutoFit/>
          </a:bodyPr>
          <a:lstStyle/>
          <a:p>
            <a:pPr algn="l"/>
            <a:r>
              <a:rPr sz="1050" b="0" i="0">
                <a:solidFill>
                  <a:srgbClr val="111827"/>
                </a:solidFill>
                <a:latin typeface="Poppins"/>
              </a:rPr>
              <a:t>Guest on 10 podcasts (Roofer Show, Start Build Grow, D2D Pod, Contractor Evolution, Roofing Success, Limitless CEO +4)</a:t>
            </a:r>
          </a:p>
        </p:txBody>
      </p:sp>
      <p:sp>
        <p:nvSpPr>
          <p:cNvPr id="21" name="TextBox 20"/>
          <p:cNvSpPr txBox="1"/>
          <p:nvPr/>
        </p:nvSpPr>
        <p:spPr>
          <a:xfrm>
            <a:off x="640080" y="3419856"/>
            <a:ext cx="182880" cy="274320"/>
          </a:xfrm>
          <a:prstGeom prst="rect">
            <a:avLst/>
          </a:prstGeom>
          <a:noFill/>
        </p:spPr>
        <p:txBody>
          <a:bodyPr wrap="square" lIns="45720" rIns="45720" tIns="18288" bIns="18288" anchor="t">
            <a:spAutoFit/>
          </a:bodyPr>
          <a:lstStyle/>
          <a:p>
            <a:pPr algn="l"/>
            <a:r>
              <a:rPr sz="1100" b="1" i="0">
                <a:solidFill>
                  <a:srgbClr val="F59E0B"/>
                </a:solidFill>
                <a:latin typeface="Poppins"/>
              </a:rPr>
              <a:t>▸</a:t>
            </a:r>
          </a:p>
        </p:txBody>
      </p:sp>
      <p:sp>
        <p:nvSpPr>
          <p:cNvPr id="22" name="TextBox 21"/>
          <p:cNvSpPr txBox="1"/>
          <p:nvPr/>
        </p:nvSpPr>
        <p:spPr>
          <a:xfrm>
            <a:off x="868680" y="3419856"/>
            <a:ext cx="5166360" cy="457200"/>
          </a:xfrm>
          <a:prstGeom prst="rect">
            <a:avLst/>
          </a:prstGeom>
          <a:noFill/>
        </p:spPr>
        <p:txBody>
          <a:bodyPr wrap="square" lIns="45720" rIns="45720" tIns="18288" bIns="18288" anchor="t">
            <a:spAutoFit/>
          </a:bodyPr>
          <a:lstStyle/>
          <a:p>
            <a:pPr algn="l"/>
            <a:r>
              <a:rPr sz="1050" b="0" i="0">
                <a:solidFill>
                  <a:srgbClr val="111827"/>
                </a:solidFill>
                <a:latin typeface="Poppins"/>
              </a:rPr>
              <a:t>Publish State of Contractor Sales 2026 report (n=500 survey, partner with Roofing Contractor mag)</a:t>
            </a:r>
          </a:p>
        </p:txBody>
      </p:sp>
      <p:sp>
        <p:nvSpPr>
          <p:cNvPr id="23" name="TextBox 22"/>
          <p:cNvSpPr txBox="1"/>
          <p:nvPr/>
        </p:nvSpPr>
        <p:spPr>
          <a:xfrm>
            <a:off x="640080" y="3895344"/>
            <a:ext cx="182880" cy="274320"/>
          </a:xfrm>
          <a:prstGeom prst="rect">
            <a:avLst/>
          </a:prstGeom>
          <a:noFill/>
        </p:spPr>
        <p:txBody>
          <a:bodyPr wrap="square" lIns="45720" rIns="45720" tIns="18288" bIns="18288" anchor="t">
            <a:spAutoFit/>
          </a:bodyPr>
          <a:lstStyle/>
          <a:p>
            <a:pPr algn="l"/>
            <a:r>
              <a:rPr sz="1100" b="1" i="0">
                <a:solidFill>
                  <a:srgbClr val="F59E0B"/>
                </a:solidFill>
                <a:latin typeface="Poppins"/>
              </a:rPr>
              <a:t>▸</a:t>
            </a:r>
          </a:p>
        </p:txBody>
      </p:sp>
      <p:sp>
        <p:nvSpPr>
          <p:cNvPr id="24" name="TextBox 23"/>
          <p:cNvSpPr txBox="1"/>
          <p:nvPr/>
        </p:nvSpPr>
        <p:spPr>
          <a:xfrm>
            <a:off x="868680" y="3895344"/>
            <a:ext cx="5166360" cy="457200"/>
          </a:xfrm>
          <a:prstGeom prst="rect">
            <a:avLst/>
          </a:prstGeom>
          <a:noFill/>
        </p:spPr>
        <p:txBody>
          <a:bodyPr wrap="square" lIns="45720" rIns="45720" tIns="18288" bIns="18288" anchor="t">
            <a:spAutoFit/>
          </a:bodyPr>
          <a:lstStyle/>
          <a:p>
            <a:pPr algn="l"/>
            <a:r>
              <a:rPr sz="1050" b="0" i="0">
                <a:solidFill>
                  <a:srgbClr val="111827"/>
                </a:solidFill>
                <a:latin typeface="Poppins"/>
              </a:rPr>
              <a:t>Close 10 more clients → 15 total by Day 60, $60K MRR</a:t>
            </a:r>
          </a:p>
        </p:txBody>
      </p:sp>
      <p:sp>
        <p:nvSpPr>
          <p:cNvPr id="25" name="TextBox 24"/>
          <p:cNvSpPr txBox="1"/>
          <p:nvPr/>
        </p:nvSpPr>
        <p:spPr>
          <a:xfrm>
            <a:off x="640080" y="4370832"/>
            <a:ext cx="182880" cy="274320"/>
          </a:xfrm>
          <a:prstGeom prst="rect">
            <a:avLst/>
          </a:prstGeom>
          <a:noFill/>
        </p:spPr>
        <p:txBody>
          <a:bodyPr wrap="square" lIns="45720" rIns="45720" tIns="18288" bIns="18288" anchor="t">
            <a:spAutoFit/>
          </a:bodyPr>
          <a:lstStyle/>
          <a:p>
            <a:pPr algn="l"/>
            <a:r>
              <a:rPr sz="1100" b="1" i="0">
                <a:solidFill>
                  <a:srgbClr val="F59E0B"/>
                </a:solidFill>
                <a:latin typeface="Poppins"/>
              </a:rPr>
              <a:t>▸</a:t>
            </a:r>
          </a:p>
        </p:txBody>
      </p:sp>
      <p:sp>
        <p:nvSpPr>
          <p:cNvPr id="26" name="TextBox 25"/>
          <p:cNvSpPr txBox="1"/>
          <p:nvPr/>
        </p:nvSpPr>
        <p:spPr>
          <a:xfrm>
            <a:off x="868680" y="4370832"/>
            <a:ext cx="5166360" cy="457200"/>
          </a:xfrm>
          <a:prstGeom prst="rect">
            <a:avLst/>
          </a:prstGeom>
          <a:noFill/>
        </p:spPr>
        <p:txBody>
          <a:bodyPr wrap="square" lIns="45720" rIns="45720" tIns="18288" bIns="18288" anchor="t">
            <a:spAutoFit/>
          </a:bodyPr>
          <a:lstStyle/>
          <a:p>
            <a:pPr algn="l"/>
            <a:r>
              <a:rPr sz="1050" b="0" i="0">
                <a:solidFill>
                  <a:srgbClr val="111827"/>
                </a:solidFill>
                <a:latin typeface="Poppins"/>
              </a:rPr>
              <a:t>Ship Success Stories page with 3 early wins (revenue deltas, call answer rate)</a:t>
            </a:r>
          </a:p>
        </p:txBody>
      </p:sp>
      <p:sp>
        <p:nvSpPr>
          <p:cNvPr id="27" name="TextBox 26"/>
          <p:cNvSpPr txBox="1"/>
          <p:nvPr/>
        </p:nvSpPr>
        <p:spPr>
          <a:xfrm>
            <a:off x="640080" y="4846320"/>
            <a:ext cx="182880" cy="274320"/>
          </a:xfrm>
          <a:prstGeom prst="rect">
            <a:avLst/>
          </a:prstGeom>
          <a:noFill/>
        </p:spPr>
        <p:txBody>
          <a:bodyPr wrap="square" lIns="45720" rIns="45720" tIns="18288" bIns="18288" anchor="t">
            <a:spAutoFit/>
          </a:bodyPr>
          <a:lstStyle/>
          <a:p>
            <a:pPr algn="l"/>
            <a:r>
              <a:rPr sz="1100" b="1" i="0">
                <a:solidFill>
                  <a:srgbClr val="F59E0B"/>
                </a:solidFill>
                <a:latin typeface="Poppins"/>
              </a:rPr>
              <a:t>▸</a:t>
            </a:r>
          </a:p>
        </p:txBody>
      </p:sp>
      <p:sp>
        <p:nvSpPr>
          <p:cNvPr id="28" name="TextBox 27"/>
          <p:cNvSpPr txBox="1"/>
          <p:nvPr/>
        </p:nvSpPr>
        <p:spPr>
          <a:xfrm>
            <a:off x="868680" y="4846320"/>
            <a:ext cx="5166360" cy="457200"/>
          </a:xfrm>
          <a:prstGeom prst="rect">
            <a:avLst/>
          </a:prstGeom>
          <a:noFill/>
        </p:spPr>
        <p:txBody>
          <a:bodyPr wrap="square" lIns="45720" rIns="45720" tIns="18288" bIns="18288" anchor="t">
            <a:spAutoFit/>
          </a:bodyPr>
          <a:lstStyle/>
          <a:p>
            <a:pPr algn="l"/>
            <a:r>
              <a:rPr sz="1050" b="0" i="0">
                <a:solidFill>
                  <a:srgbClr val="111827"/>
                </a:solidFill>
                <a:latin typeface="Poppins"/>
              </a:rPr>
              <a:t>Register for IRE 2027, Win the Storm, Best of Success — book speaking applications</a:t>
            </a:r>
          </a:p>
        </p:txBody>
      </p:sp>
      <p:sp>
        <p:nvSpPr>
          <p:cNvPr id="29" name="TextBox 28"/>
          <p:cNvSpPr txBox="1"/>
          <p:nvPr/>
        </p:nvSpPr>
        <p:spPr>
          <a:xfrm>
            <a:off x="640080" y="5321808"/>
            <a:ext cx="182880" cy="274320"/>
          </a:xfrm>
          <a:prstGeom prst="rect">
            <a:avLst/>
          </a:prstGeom>
          <a:noFill/>
        </p:spPr>
        <p:txBody>
          <a:bodyPr wrap="square" lIns="45720" rIns="45720" tIns="18288" bIns="18288" anchor="t">
            <a:spAutoFit/>
          </a:bodyPr>
          <a:lstStyle/>
          <a:p>
            <a:pPr algn="l"/>
            <a:r>
              <a:rPr sz="1100" b="1" i="0">
                <a:solidFill>
                  <a:srgbClr val="F59E0B"/>
                </a:solidFill>
                <a:latin typeface="Poppins"/>
              </a:rPr>
              <a:t>▸</a:t>
            </a:r>
          </a:p>
        </p:txBody>
      </p:sp>
      <p:sp>
        <p:nvSpPr>
          <p:cNvPr id="30" name="TextBox 29"/>
          <p:cNvSpPr txBox="1"/>
          <p:nvPr/>
        </p:nvSpPr>
        <p:spPr>
          <a:xfrm>
            <a:off x="868680" y="5321808"/>
            <a:ext cx="5166360" cy="457200"/>
          </a:xfrm>
          <a:prstGeom prst="rect">
            <a:avLst/>
          </a:prstGeom>
          <a:noFill/>
        </p:spPr>
        <p:txBody>
          <a:bodyPr wrap="square" lIns="45720" rIns="45720" tIns="18288" bIns="18288" anchor="t">
            <a:spAutoFit/>
          </a:bodyPr>
          <a:lstStyle/>
          <a:p>
            <a:pPr algn="l"/>
            <a:r>
              <a:rPr sz="1050" b="0" i="0">
                <a:solidFill>
                  <a:srgbClr val="111827"/>
                </a:solidFill>
                <a:latin typeface="Poppins"/>
              </a:rPr>
              <a:t>Publish 20 more blog posts (FAQs, 'CloseClinic vs STG', 'CloseClinic vs Contractor Fight')</a:t>
            </a:r>
          </a:p>
        </p:txBody>
      </p:sp>
      <p:sp>
        <p:nvSpPr>
          <p:cNvPr id="31" name="TextBox 30"/>
          <p:cNvSpPr txBox="1"/>
          <p:nvPr/>
        </p:nvSpPr>
        <p:spPr>
          <a:xfrm>
            <a:off x="640080" y="5797296"/>
            <a:ext cx="182880" cy="274320"/>
          </a:xfrm>
          <a:prstGeom prst="rect">
            <a:avLst/>
          </a:prstGeom>
          <a:noFill/>
        </p:spPr>
        <p:txBody>
          <a:bodyPr wrap="square" lIns="45720" rIns="45720" tIns="18288" bIns="18288" anchor="t">
            <a:spAutoFit/>
          </a:bodyPr>
          <a:lstStyle/>
          <a:p>
            <a:pPr algn="l"/>
            <a:r>
              <a:rPr sz="1100" b="1" i="0">
                <a:solidFill>
                  <a:srgbClr val="F59E0B"/>
                </a:solidFill>
                <a:latin typeface="Poppins"/>
              </a:rPr>
              <a:t>▸</a:t>
            </a:r>
          </a:p>
        </p:txBody>
      </p:sp>
      <p:sp>
        <p:nvSpPr>
          <p:cNvPr id="32" name="TextBox 31"/>
          <p:cNvSpPr txBox="1"/>
          <p:nvPr/>
        </p:nvSpPr>
        <p:spPr>
          <a:xfrm>
            <a:off x="868680" y="5797296"/>
            <a:ext cx="5166360" cy="457200"/>
          </a:xfrm>
          <a:prstGeom prst="rect">
            <a:avLst/>
          </a:prstGeom>
          <a:noFill/>
        </p:spPr>
        <p:txBody>
          <a:bodyPr wrap="square" lIns="45720" rIns="45720" tIns="18288" bIns="18288" anchor="t">
            <a:spAutoFit/>
          </a:bodyPr>
          <a:lstStyle/>
          <a:p>
            <a:pPr algn="l"/>
            <a:r>
              <a:rPr sz="1050" b="0" i="0">
                <a:solidFill>
                  <a:srgbClr val="111827"/>
                </a:solidFill>
                <a:latin typeface="Poppins"/>
              </a:rPr>
              <a:t>Hire first FTE: Head of Delivery (certified trainer or ex-contractor sales leader)</a:t>
            </a:r>
          </a:p>
        </p:txBody>
      </p:sp>
      <p:sp>
        <p:nvSpPr>
          <p:cNvPr id="33" name="Rectangle 32"/>
          <p:cNvSpPr/>
          <p:nvPr/>
        </p:nvSpPr>
        <p:spPr>
          <a:xfrm>
            <a:off x="6217920" y="1554480"/>
            <a:ext cx="5623560" cy="77724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1627632"/>
            <a:ext cx="4572000" cy="274320"/>
          </a:xfrm>
          <a:prstGeom prst="rect">
            <a:avLst/>
          </a:prstGeom>
          <a:noFill/>
        </p:spPr>
        <p:txBody>
          <a:bodyPr wrap="square" lIns="45720" rIns="45720" tIns="18288" bIns="18288" anchor="t">
            <a:spAutoFit/>
          </a:bodyPr>
          <a:lstStyle/>
          <a:p>
            <a:pPr algn="l"/>
            <a:r>
              <a:rPr sz="1000" b="1" i="0">
                <a:solidFill>
                  <a:srgbClr val="FFFFFF"/>
                </a:solidFill>
                <a:latin typeface="Poppins"/>
              </a:rPr>
              <a:t>WEEKS 9–13  ·  DOMINATE</a:t>
            </a:r>
          </a:p>
        </p:txBody>
      </p:sp>
      <p:sp>
        <p:nvSpPr>
          <p:cNvPr id="35" name="TextBox 34"/>
          <p:cNvSpPr txBox="1"/>
          <p:nvPr/>
        </p:nvSpPr>
        <p:spPr>
          <a:xfrm>
            <a:off x="6400800" y="1874519"/>
            <a:ext cx="4572000" cy="457200"/>
          </a:xfrm>
          <a:prstGeom prst="rect">
            <a:avLst/>
          </a:prstGeom>
          <a:noFill/>
        </p:spPr>
        <p:txBody>
          <a:bodyPr wrap="square" lIns="45720" rIns="45720" tIns="18288" bIns="18288" anchor="t">
            <a:spAutoFit/>
          </a:bodyPr>
          <a:lstStyle/>
          <a:p>
            <a:pPr algn="l"/>
            <a:r>
              <a:rPr sz="2200" b="1" i="0">
                <a:solidFill>
                  <a:srgbClr val="FFFFFF"/>
                </a:solidFill>
                <a:latin typeface="Poppins"/>
              </a:rPr>
              <a:t>Days 61–90</a:t>
            </a:r>
          </a:p>
        </p:txBody>
      </p:sp>
      <p:sp>
        <p:nvSpPr>
          <p:cNvPr id="36" name="Rectangle 35"/>
          <p:cNvSpPr/>
          <p:nvPr/>
        </p:nvSpPr>
        <p:spPr>
          <a:xfrm>
            <a:off x="10332720" y="1691640"/>
            <a:ext cx="1417320" cy="5029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32720" y="1691640"/>
            <a:ext cx="1417320" cy="274320"/>
          </a:xfrm>
          <a:prstGeom prst="rect">
            <a:avLst/>
          </a:prstGeom>
          <a:noFill/>
        </p:spPr>
        <p:txBody>
          <a:bodyPr wrap="square" lIns="45720" rIns="45720" tIns="18288" bIns="18288" anchor="b">
            <a:spAutoFit/>
          </a:bodyPr>
          <a:lstStyle/>
          <a:p>
            <a:pPr algn="ctr"/>
            <a:r>
              <a:rPr sz="700" b="1" i="0">
                <a:solidFill>
                  <a:srgbClr val="00A3E0"/>
                </a:solidFill>
                <a:latin typeface="Poppins"/>
              </a:rPr>
              <a:t>MILESTONE</a:t>
            </a:r>
          </a:p>
        </p:txBody>
      </p:sp>
      <p:sp>
        <p:nvSpPr>
          <p:cNvPr id="38" name="TextBox 37"/>
          <p:cNvSpPr txBox="1"/>
          <p:nvPr/>
        </p:nvSpPr>
        <p:spPr>
          <a:xfrm>
            <a:off x="10332720" y="1920240"/>
            <a:ext cx="1417320" cy="292608"/>
          </a:xfrm>
          <a:prstGeom prst="rect">
            <a:avLst/>
          </a:prstGeom>
          <a:noFill/>
        </p:spPr>
        <p:txBody>
          <a:bodyPr wrap="square" lIns="45720" rIns="45720" tIns="18288" bIns="18288" anchor="t">
            <a:spAutoFit/>
          </a:bodyPr>
          <a:lstStyle/>
          <a:p>
            <a:pPr algn="ctr"/>
            <a:r>
              <a:rPr sz="900" b="1" i="0">
                <a:solidFill>
                  <a:srgbClr val="FFFFFF"/>
                </a:solidFill>
                <a:latin typeface="Poppins"/>
              </a:rPr>
              <a:t>30 clients · $120K MRR</a:t>
            </a:r>
          </a:p>
        </p:txBody>
      </p:sp>
      <p:sp>
        <p:nvSpPr>
          <p:cNvPr id="39" name="Rectangle 38"/>
          <p:cNvSpPr/>
          <p:nvPr/>
        </p:nvSpPr>
        <p:spPr>
          <a:xfrm>
            <a:off x="6217920" y="2331720"/>
            <a:ext cx="5623560" cy="402336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0" y="2468880"/>
            <a:ext cx="182880" cy="274320"/>
          </a:xfrm>
          <a:prstGeom prst="rect">
            <a:avLst/>
          </a:prstGeom>
          <a:noFill/>
        </p:spPr>
        <p:txBody>
          <a:bodyPr wrap="square" lIns="45720" rIns="45720" tIns="18288" bIns="18288" anchor="t">
            <a:spAutoFit/>
          </a:bodyPr>
          <a:lstStyle/>
          <a:p>
            <a:pPr algn="l"/>
            <a:r>
              <a:rPr sz="1100" b="1" i="0">
                <a:solidFill>
                  <a:srgbClr val="22C55E"/>
                </a:solidFill>
                <a:latin typeface="Poppins"/>
              </a:rPr>
              <a:t>▸</a:t>
            </a:r>
          </a:p>
        </p:txBody>
      </p:sp>
      <p:sp>
        <p:nvSpPr>
          <p:cNvPr id="41" name="TextBox 40"/>
          <p:cNvSpPr txBox="1"/>
          <p:nvPr/>
        </p:nvSpPr>
        <p:spPr>
          <a:xfrm>
            <a:off x="6629400" y="2468880"/>
            <a:ext cx="5166360" cy="457200"/>
          </a:xfrm>
          <a:prstGeom prst="rect">
            <a:avLst/>
          </a:prstGeom>
          <a:noFill/>
        </p:spPr>
        <p:txBody>
          <a:bodyPr wrap="square" lIns="45720" rIns="45720" tIns="18288" bIns="18288" anchor="t">
            <a:spAutoFit/>
          </a:bodyPr>
          <a:lstStyle/>
          <a:p>
            <a:pPr algn="l"/>
            <a:r>
              <a:rPr sz="1050" b="0" i="0">
                <a:solidFill>
                  <a:srgbClr val="111827"/>
                </a:solidFill>
                <a:latin typeface="Poppins"/>
              </a:rPr>
              <a:t>Publish book proposal. Sign with Lioncrest / Scribe / Forbes Books — Q1 2027 pub target</a:t>
            </a:r>
          </a:p>
        </p:txBody>
      </p:sp>
      <p:sp>
        <p:nvSpPr>
          <p:cNvPr id="42" name="TextBox 41"/>
          <p:cNvSpPr txBox="1"/>
          <p:nvPr/>
        </p:nvSpPr>
        <p:spPr>
          <a:xfrm>
            <a:off x="6400800" y="2944368"/>
            <a:ext cx="182880" cy="274320"/>
          </a:xfrm>
          <a:prstGeom prst="rect">
            <a:avLst/>
          </a:prstGeom>
          <a:noFill/>
        </p:spPr>
        <p:txBody>
          <a:bodyPr wrap="square" lIns="45720" rIns="45720" tIns="18288" bIns="18288" anchor="t">
            <a:spAutoFit/>
          </a:bodyPr>
          <a:lstStyle/>
          <a:p>
            <a:pPr algn="l"/>
            <a:r>
              <a:rPr sz="1100" b="1" i="0">
                <a:solidFill>
                  <a:srgbClr val="22C55E"/>
                </a:solidFill>
                <a:latin typeface="Poppins"/>
              </a:rPr>
              <a:t>▸</a:t>
            </a:r>
          </a:p>
        </p:txBody>
      </p:sp>
      <p:sp>
        <p:nvSpPr>
          <p:cNvPr id="43" name="TextBox 42"/>
          <p:cNvSpPr txBox="1"/>
          <p:nvPr/>
        </p:nvSpPr>
        <p:spPr>
          <a:xfrm>
            <a:off x="6629400" y="2944368"/>
            <a:ext cx="5166360" cy="457200"/>
          </a:xfrm>
          <a:prstGeom prst="rect">
            <a:avLst/>
          </a:prstGeom>
          <a:noFill/>
        </p:spPr>
        <p:txBody>
          <a:bodyPr wrap="square" lIns="45720" rIns="45720" tIns="18288" bIns="18288" anchor="t">
            <a:spAutoFit/>
          </a:bodyPr>
          <a:lstStyle/>
          <a:p>
            <a:pPr algn="l"/>
            <a:r>
              <a:rPr sz="1050" b="0" i="0">
                <a:solidFill>
                  <a:srgbClr val="111827"/>
                </a:solidFill>
                <a:latin typeface="Poppins"/>
              </a:rPr>
              <a:t>Submit Inc. 5000 pre-application (2027 listing run-up)</a:t>
            </a:r>
          </a:p>
        </p:txBody>
      </p:sp>
      <p:sp>
        <p:nvSpPr>
          <p:cNvPr id="44" name="TextBox 43"/>
          <p:cNvSpPr txBox="1"/>
          <p:nvPr/>
        </p:nvSpPr>
        <p:spPr>
          <a:xfrm>
            <a:off x="6400800" y="3419856"/>
            <a:ext cx="182880" cy="274320"/>
          </a:xfrm>
          <a:prstGeom prst="rect">
            <a:avLst/>
          </a:prstGeom>
          <a:noFill/>
        </p:spPr>
        <p:txBody>
          <a:bodyPr wrap="square" lIns="45720" rIns="45720" tIns="18288" bIns="18288" anchor="t">
            <a:spAutoFit/>
          </a:bodyPr>
          <a:lstStyle/>
          <a:p>
            <a:pPr algn="l"/>
            <a:r>
              <a:rPr sz="1100" b="1" i="0">
                <a:solidFill>
                  <a:srgbClr val="22C55E"/>
                </a:solidFill>
                <a:latin typeface="Poppins"/>
              </a:rPr>
              <a:t>▸</a:t>
            </a:r>
          </a:p>
        </p:txBody>
      </p:sp>
      <p:sp>
        <p:nvSpPr>
          <p:cNvPr id="45" name="TextBox 44"/>
          <p:cNvSpPr txBox="1"/>
          <p:nvPr/>
        </p:nvSpPr>
        <p:spPr>
          <a:xfrm>
            <a:off x="6629400" y="3419856"/>
            <a:ext cx="5166360" cy="457200"/>
          </a:xfrm>
          <a:prstGeom prst="rect">
            <a:avLst/>
          </a:prstGeom>
          <a:noFill/>
        </p:spPr>
        <p:txBody>
          <a:bodyPr wrap="square" lIns="45720" rIns="45720" tIns="18288" bIns="18288" anchor="t">
            <a:spAutoFit/>
          </a:bodyPr>
          <a:lstStyle/>
          <a:p>
            <a:pPr algn="l"/>
            <a:r>
              <a:rPr sz="1050" b="0" i="0">
                <a:solidFill>
                  <a:srgbClr val="111827"/>
                </a:solidFill>
                <a:latin typeface="Poppins"/>
              </a:rPr>
              <a:t>Launch affiliate program for existing contractor consultants</a:t>
            </a:r>
          </a:p>
        </p:txBody>
      </p:sp>
      <p:sp>
        <p:nvSpPr>
          <p:cNvPr id="46" name="TextBox 45"/>
          <p:cNvSpPr txBox="1"/>
          <p:nvPr/>
        </p:nvSpPr>
        <p:spPr>
          <a:xfrm>
            <a:off x="6400800" y="3895344"/>
            <a:ext cx="182880" cy="274320"/>
          </a:xfrm>
          <a:prstGeom prst="rect">
            <a:avLst/>
          </a:prstGeom>
          <a:noFill/>
        </p:spPr>
        <p:txBody>
          <a:bodyPr wrap="square" lIns="45720" rIns="45720" tIns="18288" bIns="18288" anchor="t">
            <a:spAutoFit/>
          </a:bodyPr>
          <a:lstStyle/>
          <a:p>
            <a:pPr algn="l"/>
            <a:r>
              <a:rPr sz="1100" b="1" i="0">
                <a:solidFill>
                  <a:srgbClr val="22C55E"/>
                </a:solidFill>
                <a:latin typeface="Poppins"/>
              </a:rPr>
              <a:t>▸</a:t>
            </a:r>
          </a:p>
        </p:txBody>
      </p:sp>
      <p:sp>
        <p:nvSpPr>
          <p:cNvPr id="47" name="TextBox 46"/>
          <p:cNvSpPr txBox="1"/>
          <p:nvPr/>
        </p:nvSpPr>
        <p:spPr>
          <a:xfrm>
            <a:off x="6629400" y="3895344"/>
            <a:ext cx="5166360" cy="457200"/>
          </a:xfrm>
          <a:prstGeom prst="rect">
            <a:avLst/>
          </a:prstGeom>
          <a:noFill/>
        </p:spPr>
        <p:txBody>
          <a:bodyPr wrap="square" lIns="45720" rIns="45720" tIns="18288" bIns="18288" anchor="t">
            <a:spAutoFit/>
          </a:bodyPr>
          <a:lstStyle/>
          <a:p>
            <a:pPr algn="l"/>
            <a:r>
              <a:rPr sz="1050" b="0" i="0">
                <a:solidFill>
                  <a:srgbClr val="111827"/>
                </a:solidFill>
                <a:latin typeface="Poppins"/>
              </a:rPr>
              <a:t>Close 15 more clients → 30 total, ~$120K MRR</a:t>
            </a:r>
          </a:p>
        </p:txBody>
      </p:sp>
      <p:sp>
        <p:nvSpPr>
          <p:cNvPr id="48" name="TextBox 47"/>
          <p:cNvSpPr txBox="1"/>
          <p:nvPr/>
        </p:nvSpPr>
        <p:spPr>
          <a:xfrm>
            <a:off x="6400800" y="4370832"/>
            <a:ext cx="182880" cy="274320"/>
          </a:xfrm>
          <a:prstGeom prst="rect">
            <a:avLst/>
          </a:prstGeom>
          <a:noFill/>
        </p:spPr>
        <p:txBody>
          <a:bodyPr wrap="square" lIns="45720" rIns="45720" tIns="18288" bIns="18288" anchor="t">
            <a:spAutoFit/>
          </a:bodyPr>
          <a:lstStyle/>
          <a:p>
            <a:pPr algn="l"/>
            <a:r>
              <a:rPr sz="1100" b="1" i="0">
                <a:solidFill>
                  <a:srgbClr val="22C55E"/>
                </a:solidFill>
                <a:latin typeface="Poppins"/>
              </a:rPr>
              <a:t>▸</a:t>
            </a:r>
          </a:p>
        </p:txBody>
      </p:sp>
      <p:sp>
        <p:nvSpPr>
          <p:cNvPr id="49" name="TextBox 48"/>
          <p:cNvSpPr txBox="1"/>
          <p:nvPr/>
        </p:nvSpPr>
        <p:spPr>
          <a:xfrm>
            <a:off x="6629400" y="4370832"/>
            <a:ext cx="5166360" cy="457200"/>
          </a:xfrm>
          <a:prstGeom prst="rect">
            <a:avLst/>
          </a:prstGeom>
          <a:noFill/>
        </p:spPr>
        <p:txBody>
          <a:bodyPr wrap="square" lIns="45720" rIns="45720" tIns="18288" bIns="18288" anchor="t">
            <a:spAutoFit/>
          </a:bodyPr>
          <a:lstStyle/>
          <a:p>
            <a:pPr algn="l"/>
            <a:r>
              <a:rPr sz="1050" b="0" i="0">
                <a:solidFill>
                  <a:srgbClr val="111827"/>
                </a:solidFill>
                <a:latin typeface="Poppins"/>
              </a:rPr>
              <a:t>Hire second FTE: Head of Sales (inbound exceeds Rob's capacity)</a:t>
            </a:r>
          </a:p>
        </p:txBody>
      </p:sp>
      <p:sp>
        <p:nvSpPr>
          <p:cNvPr id="50" name="TextBox 49"/>
          <p:cNvSpPr txBox="1"/>
          <p:nvPr/>
        </p:nvSpPr>
        <p:spPr>
          <a:xfrm>
            <a:off x="6400800" y="4846320"/>
            <a:ext cx="182880" cy="274320"/>
          </a:xfrm>
          <a:prstGeom prst="rect">
            <a:avLst/>
          </a:prstGeom>
          <a:noFill/>
        </p:spPr>
        <p:txBody>
          <a:bodyPr wrap="square" lIns="45720" rIns="45720" tIns="18288" bIns="18288" anchor="t">
            <a:spAutoFit/>
          </a:bodyPr>
          <a:lstStyle/>
          <a:p>
            <a:pPr algn="l"/>
            <a:r>
              <a:rPr sz="1100" b="1" i="0">
                <a:solidFill>
                  <a:srgbClr val="22C55E"/>
                </a:solidFill>
                <a:latin typeface="Poppins"/>
              </a:rPr>
              <a:t>▸</a:t>
            </a:r>
          </a:p>
        </p:txBody>
      </p:sp>
      <p:sp>
        <p:nvSpPr>
          <p:cNvPr id="51" name="TextBox 50"/>
          <p:cNvSpPr txBox="1"/>
          <p:nvPr/>
        </p:nvSpPr>
        <p:spPr>
          <a:xfrm>
            <a:off x="6629400" y="4846320"/>
            <a:ext cx="5166360" cy="457200"/>
          </a:xfrm>
          <a:prstGeom prst="rect">
            <a:avLst/>
          </a:prstGeom>
          <a:noFill/>
        </p:spPr>
        <p:txBody>
          <a:bodyPr wrap="square" lIns="45720" rIns="45720" tIns="18288" bIns="18288" anchor="t">
            <a:spAutoFit/>
          </a:bodyPr>
          <a:lstStyle/>
          <a:p>
            <a:pPr algn="l"/>
            <a:r>
              <a:rPr sz="1050" b="0" i="0">
                <a:solidFill>
                  <a:srgbClr val="111827"/>
                </a:solidFill>
                <a:latin typeface="Poppins"/>
              </a:rPr>
              <a:t>Secure 2 tier-1 press hits (Inc., Fast Company, or WSJ Pro)</a:t>
            </a:r>
          </a:p>
        </p:txBody>
      </p:sp>
      <p:sp>
        <p:nvSpPr>
          <p:cNvPr id="52" name="TextBox 51"/>
          <p:cNvSpPr txBox="1"/>
          <p:nvPr/>
        </p:nvSpPr>
        <p:spPr>
          <a:xfrm>
            <a:off x="6400800" y="5321808"/>
            <a:ext cx="182880" cy="274320"/>
          </a:xfrm>
          <a:prstGeom prst="rect">
            <a:avLst/>
          </a:prstGeom>
          <a:noFill/>
        </p:spPr>
        <p:txBody>
          <a:bodyPr wrap="square" lIns="45720" rIns="45720" tIns="18288" bIns="18288" anchor="t">
            <a:spAutoFit/>
          </a:bodyPr>
          <a:lstStyle/>
          <a:p>
            <a:pPr algn="l"/>
            <a:r>
              <a:rPr sz="1100" b="1" i="0">
                <a:solidFill>
                  <a:srgbClr val="22C55E"/>
                </a:solidFill>
                <a:latin typeface="Poppins"/>
              </a:rPr>
              <a:t>▸</a:t>
            </a:r>
          </a:p>
        </p:txBody>
      </p:sp>
      <p:sp>
        <p:nvSpPr>
          <p:cNvPr id="53" name="TextBox 52"/>
          <p:cNvSpPr txBox="1"/>
          <p:nvPr/>
        </p:nvSpPr>
        <p:spPr>
          <a:xfrm>
            <a:off x="6629400" y="5321808"/>
            <a:ext cx="5166360" cy="457200"/>
          </a:xfrm>
          <a:prstGeom prst="rect">
            <a:avLst/>
          </a:prstGeom>
          <a:noFill/>
        </p:spPr>
        <p:txBody>
          <a:bodyPr wrap="square" lIns="45720" rIns="45720" tIns="18288" bIns="18288" anchor="t">
            <a:spAutoFit/>
          </a:bodyPr>
          <a:lstStyle/>
          <a:p>
            <a:pPr algn="l"/>
            <a:r>
              <a:rPr sz="1050" b="0" i="0">
                <a:solidFill>
                  <a:srgbClr val="111827"/>
                </a:solidFill>
                <a:latin typeface="Poppins"/>
              </a:rPr>
              <a:t>Launch CloseClinic Certified Rep program (+$497 one-time per rep)</a:t>
            </a:r>
          </a:p>
        </p:txBody>
      </p:sp>
      <p:sp>
        <p:nvSpPr>
          <p:cNvPr id="54" name="TextBox 53"/>
          <p:cNvSpPr txBox="1"/>
          <p:nvPr/>
        </p:nvSpPr>
        <p:spPr>
          <a:xfrm>
            <a:off x="6400800" y="5797296"/>
            <a:ext cx="182880" cy="274320"/>
          </a:xfrm>
          <a:prstGeom prst="rect">
            <a:avLst/>
          </a:prstGeom>
          <a:noFill/>
        </p:spPr>
        <p:txBody>
          <a:bodyPr wrap="square" lIns="45720" rIns="45720" tIns="18288" bIns="18288" anchor="t">
            <a:spAutoFit/>
          </a:bodyPr>
          <a:lstStyle/>
          <a:p>
            <a:pPr algn="l"/>
            <a:r>
              <a:rPr sz="1100" b="1" i="0">
                <a:solidFill>
                  <a:srgbClr val="22C55E"/>
                </a:solidFill>
                <a:latin typeface="Poppins"/>
              </a:rPr>
              <a:t>▸</a:t>
            </a:r>
          </a:p>
        </p:txBody>
      </p:sp>
      <p:sp>
        <p:nvSpPr>
          <p:cNvPr id="55" name="TextBox 54"/>
          <p:cNvSpPr txBox="1"/>
          <p:nvPr/>
        </p:nvSpPr>
        <p:spPr>
          <a:xfrm>
            <a:off x="6629400" y="5797296"/>
            <a:ext cx="5166360" cy="457200"/>
          </a:xfrm>
          <a:prstGeom prst="rect">
            <a:avLst/>
          </a:prstGeom>
          <a:noFill/>
        </p:spPr>
        <p:txBody>
          <a:bodyPr wrap="square" lIns="45720" rIns="45720" tIns="18288" bIns="18288" anchor="t">
            <a:spAutoFit/>
          </a:bodyPr>
          <a:lstStyle/>
          <a:p>
            <a:pPr algn="l"/>
            <a:r>
              <a:rPr sz="1050" b="0" i="0">
                <a:solidFill>
                  <a:srgbClr val="111827"/>
                </a:solidFill>
                <a:latin typeface="Poppins"/>
              </a:rPr>
              <a:t>Ship AI Rep Scorecard — standalone productized tool ($97/mo)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45720" rIns="45720" tIns="18288" bIns="18288" anchor="t">
            <a:spAutoFit/>
          </a:bodyPr>
          <a:lstStyle/>
          <a:p>
            <a:pPr algn="l"/>
            <a:r>
              <a:rPr sz="1000" b="1" i="0">
                <a:solidFill>
                  <a:srgbClr val="00A3E0"/>
                </a:solidFill>
                <a:latin typeface="Poppins"/>
              </a:rPr>
              <a:t>13 · 3-YEAR FINANCIAL PROJECTION</a:t>
            </a:r>
          </a:p>
        </p:txBody>
      </p:sp>
      <p:sp>
        <p:nvSpPr>
          <p:cNvPr id="4" name="TextBox 3"/>
          <p:cNvSpPr txBox="1"/>
          <p:nvPr/>
        </p:nvSpPr>
        <p:spPr>
          <a:xfrm>
            <a:off x="457200" y="594360"/>
            <a:ext cx="11247120" cy="640080"/>
          </a:xfrm>
          <a:prstGeom prst="rect">
            <a:avLst/>
          </a:prstGeom>
          <a:noFill/>
        </p:spPr>
        <p:txBody>
          <a:bodyPr wrap="square" lIns="45720" rIns="45720" tIns="18288" bIns="18288" anchor="t">
            <a:spAutoFit/>
          </a:bodyPr>
          <a:lstStyle/>
          <a:p>
            <a:pPr algn="l"/>
            <a:r>
              <a:rPr sz="2800" b="1" i="0">
                <a:solidFill>
                  <a:srgbClr val="1F2A44"/>
                </a:solidFill>
                <a:latin typeface="Poppins"/>
              </a:rPr>
              <a:t>$1.76M → $11.2M → $26.5M. EBITDA compounds.</a:t>
            </a:r>
          </a:p>
        </p:txBody>
      </p:sp>
      <p:sp>
        <p:nvSpPr>
          <p:cNvPr id="5" name="Rectangle 4"/>
          <p:cNvSpPr/>
          <p:nvPr/>
        </p:nvSpPr>
        <p:spPr>
          <a:xfrm>
            <a:off x="457200" y="1234440"/>
            <a:ext cx="914400" cy="4572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320040"/>
            <a:ext cx="640080" cy="274320"/>
          </a:xfrm>
          <a:prstGeom prst="rect">
            <a:avLst/>
          </a:prstGeom>
          <a:noFill/>
        </p:spPr>
        <p:txBody>
          <a:bodyPr wrap="square" lIns="45720" rIns="45720" tIns="18288" bIns="18288" anchor="t">
            <a:spAutoFit/>
          </a:bodyPr>
          <a:lstStyle/>
          <a:p>
            <a:pPr algn="r"/>
            <a:r>
              <a:rPr sz="900" b="1" i="0">
                <a:solidFill>
                  <a:srgbClr val="4A5568"/>
                </a:solidFill>
                <a:latin typeface="Poppins"/>
              </a:rPr>
              <a:t>14 / 18</a:t>
            </a:r>
          </a:p>
        </p:txBody>
      </p:sp>
      <p:sp>
        <p:nvSpPr>
          <p:cNvPr id="7" name="Rectangle 6"/>
          <p:cNvSpPr/>
          <p:nvPr/>
        </p:nvSpPr>
        <p:spPr>
          <a:xfrm>
            <a:off x="0" y="6720840"/>
            <a:ext cx="12191695" cy="1371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492240"/>
            <a:ext cx="3657600" cy="274320"/>
          </a:xfrm>
          <a:prstGeom prst="rect">
            <a:avLst/>
          </a:prstGeom>
          <a:noFill/>
        </p:spPr>
        <p:txBody>
          <a:bodyPr wrap="square" lIns="45720" rIns="45720" tIns="18288" bIns="18288" anchor="t">
            <a:spAutoFit/>
          </a:bodyPr>
          <a:lstStyle/>
          <a:p>
            <a:pPr algn="l"/>
            <a:r>
              <a:rPr sz="800" b="1" i="0">
                <a:solidFill>
                  <a:srgbClr val="1F2A44"/>
                </a:solidFill>
                <a:latin typeface="Poppins"/>
              </a:rPr>
              <a:t>CLOSECLINIC</a:t>
            </a:r>
          </a:p>
        </p:txBody>
      </p:sp>
      <p:sp>
        <p:nvSpPr>
          <p:cNvPr id="9" name="TextBox 8"/>
          <p:cNvSpPr txBox="1"/>
          <p:nvPr/>
        </p:nvSpPr>
        <p:spPr>
          <a:xfrm>
            <a:off x="6400800" y="6492240"/>
            <a:ext cx="5486400" cy="274320"/>
          </a:xfrm>
          <a:prstGeom prst="rect">
            <a:avLst/>
          </a:prstGeom>
          <a:noFill/>
        </p:spPr>
        <p:txBody>
          <a:bodyPr wrap="square" lIns="45720" rIns="45720" tIns="18288" bIns="18288" anchor="t">
            <a:spAutoFit/>
          </a:bodyPr>
          <a:lstStyle/>
          <a:p>
            <a:pPr algn="r"/>
            <a:r>
              <a:rPr sz="800" b="0" i="0">
                <a:solidFill>
                  <a:srgbClr val="4A5568"/>
                </a:solidFill>
                <a:latin typeface="Poppins"/>
              </a:rPr>
              <a:t>CloseClinic · Launch Plan · 2026-04-21 · p.14</a:t>
            </a:r>
          </a:p>
        </p:txBody>
      </p:sp>
      <p:sp>
        <p:nvSpPr>
          <p:cNvPr id="10" name="Rectangle 9"/>
          <p:cNvSpPr/>
          <p:nvPr/>
        </p:nvSpPr>
        <p:spPr>
          <a:xfrm>
            <a:off x="457200" y="1463040"/>
            <a:ext cx="3749039" cy="196596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463040"/>
            <a:ext cx="109728" cy="196596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572768"/>
            <a:ext cx="2286000" cy="228600"/>
          </a:xfrm>
          <a:prstGeom prst="rect">
            <a:avLst/>
          </a:prstGeom>
          <a:noFill/>
        </p:spPr>
        <p:txBody>
          <a:bodyPr wrap="square" lIns="45720" rIns="45720" tIns="18288" bIns="18288" anchor="t">
            <a:spAutoFit/>
          </a:bodyPr>
          <a:lstStyle/>
          <a:p>
            <a:pPr algn="l"/>
            <a:r>
              <a:rPr sz="1000" b="1" i="0">
                <a:solidFill>
                  <a:srgbClr val="00A3E0"/>
                </a:solidFill>
                <a:latin typeface="Poppins"/>
              </a:rPr>
              <a:t>YEAR 1  ·  2026</a:t>
            </a:r>
          </a:p>
        </p:txBody>
      </p:sp>
      <p:sp>
        <p:nvSpPr>
          <p:cNvPr id="13" name="TextBox 12"/>
          <p:cNvSpPr txBox="1"/>
          <p:nvPr/>
        </p:nvSpPr>
        <p:spPr>
          <a:xfrm>
            <a:off x="777240" y="1810512"/>
            <a:ext cx="3291839" cy="548640"/>
          </a:xfrm>
          <a:prstGeom prst="rect">
            <a:avLst/>
          </a:prstGeom>
          <a:noFill/>
        </p:spPr>
        <p:txBody>
          <a:bodyPr wrap="square" lIns="45720" rIns="45720" tIns="18288" bIns="18288" anchor="t">
            <a:spAutoFit/>
          </a:bodyPr>
          <a:lstStyle/>
          <a:p>
            <a:pPr algn="l"/>
            <a:r>
              <a:rPr sz="3600" b="1" i="0">
                <a:solidFill>
                  <a:srgbClr val="1F2A44"/>
                </a:solidFill>
                <a:latin typeface="Poppins"/>
              </a:rPr>
              <a:t>$1.76M</a:t>
            </a:r>
          </a:p>
        </p:txBody>
      </p:sp>
      <p:sp>
        <p:nvSpPr>
          <p:cNvPr id="14" name="TextBox 13"/>
          <p:cNvSpPr txBox="1"/>
          <p:nvPr/>
        </p:nvSpPr>
        <p:spPr>
          <a:xfrm>
            <a:off x="777240" y="2423160"/>
            <a:ext cx="3291839" cy="228600"/>
          </a:xfrm>
          <a:prstGeom prst="rect">
            <a:avLst/>
          </a:prstGeom>
          <a:noFill/>
        </p:spPr>
        <p:txBody>
          <a:bodyPr wrap="square" lIns="45720" rIns="45720" tIns="18288" bIns="18288" anchor="t">
            <a:spAutoFit/>
          </a:bodyPr>
          <a:lstStyle/>
          <a:p>
            <a:pPr algn="l"/>
            <a:r>
              <a:rPr sz="800" b="1" i="0">
                <a:solidFill>
                  <a:srgbClr val="4A5568"/>
                </a:solidFill>
                <a:latin typeface="Poppins"/>
              </a:rPr>
              <a:t>ANNUAL REVENUE</a:t>
            </a:r>
          </a:p>
        </p:txBody>
      </p:sp>
      <p:sp>
        <p:nvSpPr>
          <p:cNvPr id="15" name="TextBox 14"/>
          <p:cNvSpPr txBox="1"/>
          <p:nvPr/>
        </p:nvSpPr>
        <p:spPr>
          <a:xfrm>
            <a:off x="777240" y="2743200"/>
            <a:ext cx="1645920" cy="164592"/>
          </a:xfrm>
          <a:prstGeom prst="rect">
            <a:avLst/>
          </a:prstGeom>
          <a:noFill/>
        </p:spPr>
        <p:txBody>
          <a:bodyPr wrap="square" lIns="45720" rIns="45720" tIns="18288" bIns="18288" anchor="t">
            <a:spAutoFit/>
          </a:bodyPr>
          <a:lstStyle/>
          <a:p>
            <a:pPr algn="l"/>
            <a:r>
              <a:rPr sz="700" b="1" i="0">
                <a:solidFill>
                  <a:srgbClr val="4A5568"/>
                </a:solidFill>
                <a:latin typeface="Poppins"/>
              </a:rPr>
              <a:t>CLIENTS</a:t>
            </a:r>
          </a:p>
        </p:txBody>
      </p:sp>
      <p:sp>
        <p:nvSpPr>
          <p:cNvPr id="16" name="TextBox 15"/>
          <p:cNvSpPr txBox="1"/>
          <p:nvPr/>
        </p:nvSpPr>
        <p:spPr>
          <a:xfrm>
            <a:off x="777240" y="2889504"/>
            <a:ext cx="1645920" cy="182880"/>
          </a:xfrm>
          <a:prstGeom prst="rect">
            <a:avLst/>
          </a:prstGeom>
          <a:noFill/>
        </p:spPr>
        <p:txBody>
          <a:bodyPr wrap="square" lIns="45720" rIns="45720" tIns="18288" bIns="18288" anchor="t">
            <a:spAutoFit/>
          </a:bodyPr>
          <a:lstStyle/>
          <a:p>
            <a:pPr algn="l"/>
            <a:r>
              <a:rPr sz="1100" b="1" i="0">
                <a:solidFill>
                  <a:srgbClr val="1F2A44"/>
                </a:solidFill>
                <a:latin typeface="Poppins"/>
              </a:rPr>
              <a:t>82</a:t>
            </a:r>
          </a:p>
        </p:txBody>
      </p:sp>
      <p:sp>
        <p:nvSpPr>
          <p:cNvPr id="17" name="TextBox 16"/>
          <p:cNvSpPr txBox="1"/>
          <p:nvPr/>
        </p:nvSpPr>
        <p:spPr>
          <a:xfrm>
            <a:off x="2468880" y="2743200"/>
            <a:ext cx="1645920" cy="164592"/>
          </a:xfrm>
          <a:prstGeom prst="rect">
            <a:avLst/>
          </a:prstGeom>
          <a:noFill/>
        </p:spPr>
        <p:txBody>
          <a:bodyPr wrap="square" lIns="45720" rIns="45720" tIns="18288" bIns="18288" anchor="t">
            <a:spAutoFit/>
          </a:bodyPr>
          <a:lstStyle/>
          <a:p>
            <a:pPr algn="l"/>
            <a:r>
              <a:rPr sz="700" b="1" i="0">
                <a:solidFill>
                  <a:srgbClr val="4A5568"/>
                </a:solidFill>
                <a:latin typeface="Poppins"/>
              </a:rPr>
              <a:t>EBITDA</a:t>
            </a:r>
          </a:p>
        </p:txBody>
      </p:sp>
      <p:sp>
        <p:nvSpPr>
          <p:cNvPr id="18" name="TextBox 17"/>
          <p:cNvSpPr txBox="1"/>
          <p:nvPr/>
        </p:nvSpPr>
        <p:spPr>
          <a:xfrm>
            <a:off x="2468880" y="2889504"/>
            <a:ext cx="1645920" cy="182880"/>
          </a:xfrm>
          <a:prstGeom prst="rect">
            <a:avLst/>
          </a:prstGeom>
          <a:noFill/>
        </p:spPr>
        <p:txBody>
          <a:bodyPr wrap="square" lIns="45720" rIns="45720" tIns="18288" bIns="18288" anchor="t">
            <a:spAutoFit/>
          </a:bodyPr>
          <a:lstStyle/>
          <a:p>
            <a:pPr algn="l"/>
            <a:r>
              <a:rPr sz="1100" b="1" i="0">
                <a:solidFill>
                  <a:srgbClr val="1F2A44"/>
                </a:solidFill>
                <a:latin typeface="Poppins"/>
              </a:rPr>
              <a:t>$635K</a:t>
            </a:r>
          </a:p>
        </p:txBody>
      </p:sp>
      <p:sp>
        <p:nvSpPr>
          <p:cNvPr id="19" name="TextBox 18"/>
          <p:cNvSpPr txBox="1"/>
          <p:nvPr/>
        </p:nvSpPr>
        <p:spPr>
          <a:xfrm>
            <a:off x="777240" y="3035808"/>
            <a:ext cx="1645920" cy="164592"/>
          </a:xfrm>
          <a:prstGeom prst="rect">
            <a:avLst/>
          </a:prstGeom>
          <a:noFill/>
        </p:spPr>
        <p:txBody>
          <a:bodyPr wrap="square" lIns="45720" rIns="45720" tIns="18288" bIns="18288" anchor="t">
            <a:spAutoFit/>
          </a:bodyPr>
          <a:lstStyle/>
          <a:p>
            <a:pPr algn="l"/>
            <a:r>
              <a:rPr sz="700" b="1" i="0">
                <a:solidFill>
                  <a:srgbClr val="4A5568"/>
                </a:solidFill>
                <a:latin typeface="Poppins"/>
              </a:rPr>
              <a:t>GM</a:t>
            </a:r>
          </a:p>
        </p:txBody>
      </p:sp>
      <p:sp>
        <p:nvSpPr>
          <p:cNvPr id="20" name="TextBox 19"/>
          <p:cNvSpPr txBox="1"/>
          <p:nvPr/>
        </p:nvSpPr>
        <p:spPr>
          <a:xfrm>
            <a:off x="777240" y="3182112"/>
            <a:ext cx="1645920" cy="182880"/>
          </a:xfrm>
          <a:prstGeom prst="rect">
            <a:avLst/>
          </a:prstGeom>
          <a:noFill/>
        </p:spPr>
        <p:txBody>
          <a:bodyPr wrap="square" lIns="45720" rIns="45720" tIns="18288" bIns="18288" anchor="t">
            <a:spAutoFit/>
          </a:bodyPr>
          <a:lstStyle/>
          <a:p>
            <a:pPr algn="l"/>
            <a:r>
              <a:rPr sz="1100" b="1" i="0">
                <a:solidFill>
                  <a:srgbClr val="1F2A44"/>
                </a:solidFill>
                <a:latin typeface="Poppins"/>
              </a:rPr>
              <a:t>68%</a:t>
            </a:r>
          </a:p>
        </p:txBody>
      </p:sp>
      <p:sp>
        <p:nvSpPr>
          <p:cNvPr id="21" name="TextBox 20"/>
          <p:cNvSpPr txBox="1"/>
          <p:nvPr/>
        </p:nvSpPr>
        <p:spPr>
          <a:xfrm>
            <a:off x="2468880" y="3035808"/>
            <a:ext cx="1645920" cy="164592"/>
          </a:xfrm>
          <a:prstGeom prst="rect">
            <a:avLst/>
          </a:prstGeom>
          <a:noFill/>
        </p:spPr>
        <p:txBody>
          <a:bodyPr wrap="square" lIns="45720" rIns="45720" tIns="18288" bIns="18288" anchor="t">
            <a:spAutoFit/>
          </a:bodyPr>
          <a:lstStyle/>
          <a:p>
            <a:pPr algn="l"/>
            <a:r>
              <a:rPr sz="700" b="1" i="0">
                <a:solidFill>
                  <a:srgbClr val="4A5568"/>
                </a:solidFill>
                <a:latin typeface="Poppins"/>
              </a:rPr>
              <a:t>HEADCOUNT</a:t>
            </a:r>
          </a:p>
        </p:txBody>
      </p:sp>
      <p:sp>
        <p:nvSpPr>
          <p:cNvPr id="22" name="TextBox 21"/>
          <p:cNvSpPr txBox="1"/>
          <p:nvPr/>
        </p:nvSpPr>
        <p:spPr>
          <a:xfrm>
            <a:off x="2468880" y="3182112"/>
            <a:ext cx="1645920" cy="182880"/>
          </a:xfrm>
          <a:prstGeom prst="rect">
            <a:avLst/>
          </a:prstGeom>
          <a:noFill/>
        </p:spPr>
        <p:txBody>
          <a:bodyPr wrap="square" lIns="45720" rIns="45720" tIns="18288" bIns="18288" anchor="t">
            <a:spAutoFit/>
          </a:bodyPr>
          <a:lstStyle/>
          <a:p>
            <a:pPr algn="l"/>
            <a:r>
              <a:rPr sz="1100" b="1" i="0">
                <a:solidFill>
                  <a:srgbClr val="1F2A44"/>
                </a:solidFill>
                <a:latin typeface="Poppins"/>
              </a:rPr>
              <a:t>—</a:t>
            </a:r>
          </a:p>
        </p:txBody>
      </p:sp>
      <p:sp>
        <p:nvSpPr>
          <p:cNvPr id="23" name="Rectangle 22"/>
          <p:cNvSpPr/>
          <p:nvPr/>
        </p:nvSpPr>
        <p:spPr>
          <a:xfrm>
            <a:off x="4343399" y="1463040"/>
            <a:ext cx="3749039" cy="196596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43399" y="1463040"/>
            <a:ext cx="109728" cy="19659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3439" y="1572768"/>
            <a:ext cx="2286000" cy="228600"/>
          </a:xfrm>
          <a:prstGeom prst="rect">
            <a:avLst/>
          </a:prstGeom>
          <a:noFill/>
        </p:spPr>
        <p:txBody>
          <a:bodyPr wrap="square" lIns="45720" rIns="45720" tIns="18288" bIns="18288" anchor="t">
            <a:spAutoFit/>
          </a:bodyPr>
          <a:lstStyle/>
          <a:p>
            <a:pPr algn="l"/>
            <a:r>
              <a:rPr sz="1000" b="1" i="0">
                <a:solidFill>
                  <a:srgbClr val="1F2A44"/>
                </a:solidFill>
                <a:latin typeface="Poppins"/>
              </a:rPr>
              <a:t>YEAR 2  ·  2027</a:t>
            </a:r>
          </a:p>
        </p:txBody>
      </p:sp>
      <p:sp>
        <p:nvSpPr>
          <p:cNvPr id="26" name="TextBox 25"/>
          <p:cNvSpPr txBox="1"/>
          <p:nvPr/>
        </p:nvSpPr>
        <p:spPr>
          <a:xfrm>
            <a:off x="4663439" y="1810512"/>
            <a:ext cx="3291839" cy="548640"/>
          </a:xfrm>
          <a:prstGeom prst="rect">
            <a:avLst/>
          </a:prstGeom>
          <a:noFill/>
        </p:spPr>
        <p:txBody>
          <a:bodyPr wrap="square" lIns="45720" rIns="45720" tIns="18288" bIns="18288" anchor="t">
            <a:spAutoFit/>
          </a:bodyPr>
          <a:lstStyle/>
          <a:p>
            <a:pPr algn="l"/>
            <a:r>
              <a:rPr sz="3600" b="1" i="0">
                <a:solidFill>
                  <a:srgbClr val="1F2A44"/>
                </a:solidFill>
                <a:latin typeface="Poppins"/>
              </a:rPr>
              <a:t>$11.2M</a:t>
            </a:r>
          </a:p>
        </p:txBody>
      </p:sp>
      <p:sp>
        <p:nvSpPr>
          <p:cNvPr id="27" name="TextBox 26"/>
          <p:cNvSpPr txBox="1"/>
          <p:nvPr/>
        </p:nvSpPr>
        <p:spPr>
          <a:xfrm>
            <a:off x="4663439" y="2423160"/>
            <a:ext cx="3291839" cy="228600"/>
          </a:xfrm>
          <a:prstGeom prst="rect">
            <a:avLst/>
          </a:prstGeom>
          <a:noFill/>
        </p:spPr>
        <p:txBody>
          <a:bodyPr wrap="square" lIns="45720" rIns="45720" tIns="18288" bIns="18288" anchor="t">
            <a:spAutoFit/>
          </a:bodyPr>
          <a:lstStyle/>
          <a:p>
            <a:pPr algn="l"/>
            <a:r>
              <a:rPr sz="800" b="1" i="0">
                <a:solidFill>
                  <a:srgbClr val="4A5568"/>
                </a:solidFill>
                <a:latin typeface="Poppins"/>
              </a:rPr>
              <a:t>ANNUAL REVENUE</a:t>
            </a:r>
          </a:p>
        </p:txBody>
      </p:sp>
      <p:sp>
        <p:nvSpPr>
          <p:cNvPr id="28" name="TextBox 27"/>
          <p:cNvSpPr txBox="1"/>
          <p:nvPr/>
        </p:nvSpPr>
        <p:spPr>
          <a:xfrm>
            <a:off x="4663439" y="2743200"/>
            <a:ext cx="1645920" cy="164592"/>
          </a:xfrm>
          <a:prstGeom prst="rect">
            <a:avLst/>
          </a:prstGeom>
          <a:noFill/>
        </p:spPr>
        <p:txBody>
          <a:bodyPr wrap="square" lIns="45720" rIns="45720" tIns="18288" bIns="18288" anchor="t">
            <a:spAutoFit/>
          </a:bodyPr>
          <a:lstStyle/>
          <a:p>
            <a:pPr algn="l"/>
            <a:r>
              <a:rPr sz="700" b="1" i="0">
                <a:solidFill>
                  <a:srgbClr val="4A5568"/>
                </a:solidFill>
                <a:latin typeface="Poppins"/>
              </a:rPr>
              <a:t>CLIENTS</a:t>
            </a:r>
          </a:p>
        </p:txBody>
      </p:sp>
      <p:sp>
        <p:nvSpPr>
          <p:cNvPr id="29" name="TextBox 28"/>
          <p:cNvSpPr txBox="1"/>
          <p:nvPr/>
        </p:nvSpPr>
        <p:spPr>
          <a:xfrm>
            <a:off x="4663439" y="2889504"/>
            <a:ext cx="1645920" cy="182880"/>
          </a:xfrm>
          <a:prstGeom prst="rect">
            <a:avLst/>
          </a:prstGeom>
          <a:noFill/>
        </p:spPr>
        <p:txBody>
          <a:bodyPr wrap="square" lIns="45720" rIns="45720" tIns="18288" bIns="18288" anchor="t">
            <a:spAutoFit/>
          </a:bodyPr>
          <a:lstStyle/>
          <a:p>
            <a:pPr algn="l"/>
            <a:r>
              <a:rPr sz="1100" b="1" i="0">
                <a:solidFill>
                  <a:srgbClr val="1F2A44"/>
                </a:solidFill>
                <a:latin typeface="Poppins"/>
              </a:rPr>
              <a:t>220</a:t>
            </a:r>
          </a:p>
        </p:txBody>
      </p:sp>
      <p:sp>
        <p:nvSpPr>
          <p:cNvPr id="30" name="TextBox 29"/>
          <p:cNvSpPr txBox="1"/>
          <p:nvPr/>
        </p:nvSpPr>
        <p:spPr>
          <a:xfrm>
            <a:off x="6355079" y="2743200"/>
            <a:ext cx="1645920" cy="164592"/>
          </a:xfrm>
          <a:prstGeom prst="rect">
            <a:avLst/>
          </a:prstGeom>
          <a:noFill/>
        </p:spPr>
        <p:txBody>
          <a:bodyPr wrap="square" lIns="45720" rIns="45720" tIns="18288" bIns="18288" anchor="t">
            <a:spAutoFit/>
          </a:bodyPr>
          <a:lstStyle/>
          <a:p>
            <a:pPr algn="l"/>
            <a:r>
              <a:rPr sz="700" b="1" i="0">
                <a:solidFill>
                  <a:srgbClr val="4A5568"/>
                </a:solidFill>
                <a:latin typeface="Poppins"/>
              </a:rPr>
              <a:t>EBITDA</a:t>
            </a:r>
          </a:p>
        </p:txBody>
      </p:sp>
      <p:sp>
        <p:nvSpPr>
          <p:cNvPr id="31" name="TextBox 30"/>
          <p:cNvSpPr txBox="1"/>
          <p:nvPr/>
        </p:nvSpPr>
        <p:spPr>
          <a:xfrm>
            <a:off x="6355079" y="2889504"/>
            <a:ext cx="1645920" cy="182880"/>
          </a:xfrm>
          <a:prstGeom prst="rect">
            <a:avLst/>
          </a:prstGeom>
          <a:noFill/>
        </p:spPr>
        <p:txBody>
          <a:bodyPr wrap="square" lIns="45720" rIns="45720" tIns="18288" bIns="18288" anchor="t">
            <a:spAutoFit/>
          </a:bodyPr>
          <a:lstStyle/>
          <a:p>
            <a:pPr algn="l"/>
            <a:r>
              <a:rPr sz="1100" b="1" i="0">
                <a:solidFill>
                  <a:srgbClr val="1F2A44"/>
                </a:solidFill>
                <a:latin typeface="Poppins"/>
              </a:rPr>
              <a:t>$4.1M</a:t>
            </a:r>
          </a:p>
        </p:txBody>
      </p:sp>
      <p:sp>
        <p:nvSpPr>
          <p:cNvPr id="32" name="TextBox 31"/>
          <p:cNvSpPr txBox="1"/>
          <p:nvPr/>
        </p:nvSpPr>
        <p:spPr>
          <a:xfrm>
            <a:off x="4663439" y="3035808"/>
            <a:ext cx="1645920" cy="164592"/>
          </a:xfrm>
          <a:prstGeom prst="rect">
            <a:avLst/>
          </a:prstGeom>
          <a:noFill/>
        </p:spPr>
        <p:txBody>
          <a:bodyPr wrap="square" lIns="45720" rIns="45720" tIns="18288" bIns="18288" anchor="t">
            <a:spAutoFit/>
          </a:bodyPr>
          <a:lstStyle/>
          <a:p>
            <a:pPr algn="l"/>
            <a:r>
              <a:rPr sz="700" b="1" i="0">
                <a:solidFill>
                  <a:srgbClr val="4A5568"/>
                </a:solidFill>
                <a:latin typeface="Poppins"/>
              </a:rPr>
              <a:t>GM</a:t>
            </a:r>
          </a:p>
        </p:txBody>
      </p:sp>
      <p:sp>
        <p:nvSpPr>
          <p:cNvPr id="33" name="TextBox 32"/>
          <p:cNvSpPr txBox="1"/>
          <p:nvPr/>
        </p:nvSpPr>
        <p:spPr>
          <a:xfrm>
            <a:off x="4663439" y="3182112"/>
            <a:ext cx="1645920" cy="182880"/>
          </a:xfrm>
          <a:prstGeom prst="rect">
            <a:avLst/>
          </a:prstGeom>
          <a:noFill/>
        </p:spPr>
        <p:txBody>
          <a:bodyPr wrap="square" lIns="45720" rIns="45720" tIns="18288" bIns="18288" anchor="t">
            <a:spAutoFit/>
          </a:bodyPr>
          <a:lstStyle/>
          <a:p>
            <a:pPr algn="l"/>
            <a:r>
              <a:rPr sz="1100" b="1" i="0">
                <a:solidFill>
                  <a:srgbClr val="1F2A44"/>
                </a:solidFill>
                <a:latin typeface="Poppins"/>
              </a:rPr>
              <a:t>70%</a:t>
            </a:r>
          </a:p>
        </p:txBody>
      </p:sp>
      <p:sp>
        <p:nvSpPr>
          <p:cNvPr id="34" name="TextBox 33"/>
          <p:cNvSpPr txBox="1"/>
          <p:nvPr/>
        </p:nvSpPr>
        <p:spPr>
          <a:xfrm>
            <a:off x="6355079" y="3035808"/>
            <a:ext cx="1645920" cy="164592"/>
          </a:xfrm>
          <a:prstGeom prst="rect">
            <a:avLst/>
          </a:prstGeom>
          <a:noFill/>
        </p:spPr>
        <p:txBody>
          <a:bodyPr wrap="square" lIns="45720" rIns="45720" tIns="18288" bIns="18288" anchor="t">
            <a:spAutoFit/>
          </a:bodyPr>
          <a:lstStyle/>
          <a:p>
            <a:pPr algn="l"/>
            <a:r>
              <a:rPr sz="700" b="1" i="0">
                <a:solidFill>
                  <a:srgbClr val="4A5568"/>
                </a:solidFill>
                <a:latin typeface="Poppins"/>
              </a:rPr>
              <a:t>HEADCOUNT</a:t>
            </a:r>
          </a:p>
        </p:txBody>
      </p:sp>
      <p:sp>
        <p:nvSpPr>
          <p:cNvPr id="35" name="TextBox 34"/>
          <p:cNvSpPr txBox="1"/>
          <p:nvPr/>
        </p:nvSpPr>
        <p:spPr>
          <a:xfrm>
            <a:off x="6355079" y="3182112"/>
            <a:ext cx="1645920" cy="182880"/>
          </a:xfrm>
          <a:prstGeom prst="rect">
            <a:avLst/>
          </a:prstGeom>
          <a:noFill/>
        </p:spPr>
        <p:txBody>
          <a:bodyPr wrap="square" lIns="45720" rIns="45720" tIns="18288" bIns="18288" anchor="t">
            <a:spAutoFit/>
          </a:bodyPr>
          <a:lstStyle/>
          <a:p>
            <a:pPr algn="l"/>
            <a:r>
              <a:rPr sz="1100" b="1" i="0">
                <a:solidFill>
                  <a:srgbClr val="1F2A44"/>
                </a:solidFill>
                <a:latin typeface="Poppins"/>
              </a:rPr>
              <a:t>18</a:t>
            </a:r>
          </a:p>
        </p:txBody>
      </p:sp>
      <p:sp>
        <p:nvSpPr>
          <p:cNvPr id="36" name="Rectangle 35"/>
          <p:cNvSpPr/>
          <p:nvPr/>
        </p:nvSpPr>
        <p:spPr>
          <a:xfrm>
            <a:off x="8229598" y="1463040"/>
            <a:ext cx="3749039" cy="196596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29598" y="1463040"/>
            <a:ext cx="109728" cy="196596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49638" y="1572768"/>
            <a:ext cx="2286000" cy="228600"/>
          </a:xfrm>
          <a:prstGeom prst="rect">
            <a:avLst/>
          </a:prstGeom>
          <a:noFill/>
        </p:spPr>
        <p:txBody>
          <a:bodyPr wrap="square" lIns="45720" rIns="45720" tIns="18288" bIns="18288" anchor="t">
            <a:spAutoFit/>
          </a:bodyPr>
          <a:lstStyle/>
          <a:p>
            <a:pPr algn="l"/>
            <a:r>
              <a:rPr sz="1000" b="1" i="0">
                <a:solidFill>
                  <a:srgbClr val="22C55E"/>
                </a:solidFill>
                <a:latin typeface="Poppins"/>
              </a:rPr>
              <a:t>YEAR 3  ·  2028</a:t>
            </a:r>
          </a:p>
        </p:txBody>
      </p:sp>
      <p:sp>
        <p:nvSpPr>
          <p:cNvPr id="39" name="TextBox 38"/>
          <p:cNvSpPr txBox="1"/>
          <p:nvPr/>
        </p:nvSpPr>
        <p:spPr>
          <a:xfrm>
            <a:off x="8549638" y="1810512"/>
            <a:ext cx="3291839" cy="548640"/>
          </a:xfrm>
          <a:prstGeom prst="rect">
            <a:avLst/>
          </a:prstGeom>
          <a:noFill/>
        </p:spPr>
        <p:txBody>
          <a:bodyPr wrap="square" lIns="45720" rIns="45720" tIns="18288" bIns="18288" anchor="t">
            <a:spAutoFit/>
          </a:bodyPr>
          <a:lstStyle/>
          <a:p>
            <a:pPr algn="l"/>
            <a:r>
              <a:rPr sz="3600" b="1" i="0">
                <a:solidFill>
                  <a:srgbClr val="1F2A44"/>
                </a:solidFill>
                <a:latin typeface="Poppins"/>
              </a:rPr>
              <a:t>$26.5M</a:t>
            </a:r>
          </a:p>
        </p:txBody>
      </p:sp>
      <p:sp>
        <p:nvSpPr>
          <p:cNvPr id="40" name="TextBox 39"/>
          <p:cNvSpPr txBox="1"/>
          <p:nvPr/>
        </p:nvSpPr>
        <p:spPr>
          <a:xfrm>
            <a:off x="8549638" y="2423160"/>
            <a:ext cx="3291839" cy="228600"/>
          </a:xfrm>
          <a:prstGeom prst="rect">
            <a:avLst/>
          </a:prstGeom>
          <a:noFill/>
        </p:spPr>
        <p:txBody>
          <a:bodyPr wrap="square" lIns="45720" rIns="45720" tIns="18288" bIns="18288" anchor="t">
            <a:spAutoFit/>
          </a:bodyPr>
          <a:lstStyle/>
          <a:p>
            <a:pPr algn="l"/>
            <a:r>
              <a:rPr sz="800" b="1" i="0">
                <a:solidFill>
                  <a:srgbClr val="4A5568"/>
                </a:solidFill>
                <a:latin typeface="Poppins"/>
              </a:rPr>
              <a:t>ANNUAL REVENUE</a:t>
            </a:r>
          </a:p>
        </p:txBody>
      </p:sp>
      <p:sp>
        <p:nvSpPr>
          <p:cNvPr id="41" name="TextBox 40"/>
          <p:cNvSpPr txBox="1"/>
          <p:nvPr/>
        </p:nvSpPr>
        <p:spPr>
          <a:xfrm>
            <a:off x="8549638" y="2743200"/>
            <a:ext cx="1645920" cy="164592"/>
          </a:xfrm>
          <a:prstGeom prst="rect">
            <a:avLst/>
          </a:prstGeom>
          <a:noFill/>
        </p:spPr>
        <p:txBody>
          <a:bodyPr wrap="square" lIns="45720" rIns="45720" tIns="18288" bIns="18288" anchor="t">
            <a:spAutoFit/>
          </a:bodyPr>
          <a:lstStyle/>
          <a:p>
            <a:pPr algn="l"/>
            <a:r>
              <a:rPr sz="700" b="1" i="0">
                <a:solidFill>
                  <a:srgbClr val="4A5568"/>
                </a:solidFill>
                <a:latin typeface="Poppins"/>
              </a:rPr>
              <a:t>CLIENTS</a:t>
            </a:r>
          </a:p>
        </p:txBody>
      </p:sp>
      <p:sp>
        <p:nvSpPr>
          <p:cNvPr id="42" name="TextBox 41"/>
          <p:cNvSpPr txBox="1"/>
          <p:nvPr/>
        </p:nvSpPr>
        <p:spPr>
          <a:xfrm>
            <a:off x="8549638" y="2889504"/>
            <a:ext cx="1645920" cy="182880"/>
          </a:xfrm>
          <a:prstGeom prst="rect">
            <a:avLst/>
          </a:prstGeom>
          <a:noFill/>
        </p:spPr>
        <p:txBody>
          <a:bodyPr wrap="square" lIns="45720" rIns="45720" tIns="18288" bIns="18288" anchor="t">
            <a:spAutoFit/>
          </a:bodyPr>
          <a:lstStyle/>
          <a:p>
            <a:pPr algn="l"/>
            <a:r>
              <a:rPr sz="1100" b="1" i="0">
                <a:solidFill>
                  <a:srgbClr val="1F2A44"/>
                </a:solidFill>
                <a:latin typeface="Poppins"/>
              </a:rPr>
              <a:t>450</a:t>
            </a:r>
          </a:p>
        </p:txBody>
      </p:sp>
      <p:sp>
        <p:nvSpPr>
          <p:cNvPr id="43" name="TextBox 42"/>
          <p:cNvSpPr txBox="1"/>
          <p:nvPr/>
        </p:nvSpPr>
        <p:spPr>
          <a:xfrm>
            <a:off x="10241278" y="2743200"/>
            <a:ext cx="1645920" cy="164592"/>
          </a:xfrm>
          <a:prstGeom prst="rect">
            <a:avLst/>
          </a:prstGeom>
          <a:noFill/>
        </p:spPr>
        <p:txBody>
          <a:bodyPr wrap="square" lIns="45720" rIns="45720" tIns="18288" bIns="18288" anchor="t">
            <a:spAutoFit/>
          </a:bodyPr>
          <a:lstStyle/>
          <a:p>
            <a:pPr algn="l"/>
            <a:r>
              <a:rPr sz="700" b="1" i="0">
                <a:solidFill>
                  <a:srgbClr val="4A5568"/>
                </a:solidFill>
                <a:latin typeface="Poppins"/>
              </a:rPr>
              <a:t>EBITDA</a:t>
            </a:r>
          </a:p>
        </p:txBody>
      </p:sp>
      <p:sp>
        <p:nvSpPr>
          <p:cNvPr id="44" name="TextBox 43"/>
          <p:cNvSpPr txBox="1"/>
          <p:nvPr/>
        </p:nvSpPr>
        <p:spPr>
          <a:xfrm>
            <a:off x="10241278" y="2889504"/>
            <a:ext cx="1645920" cy="182880"/>
          </a:xfrm>
          <a:prstGeom prst="rect">
            <a:avLst/>
          </a:prstGeom>
          <a:noFill/>
        </p:spPr>
        <p:txBody>
          <a:bodyPr wrap="square" lIns="45720" rIns="45720" tIns="18288" bIns="18288" anchor="t">
            <a:spAutoFit/>
          </a:bodyPr>
          <a:lstStyle/>
          <a:p>
            <a:pPr algn="l"/>
            <a:r>
              <a:rPr sz="1100" b="1" i="0">
                <a:solidFill>
                  <a:srgbClr val="1F2A44"/>
                </a:solidFill>
                <a:latin typeface="Poppins"/>
              </a:rPr>
              <a:t>$11.8M</a:t>
            </a:r>
          </a:p>
        </p:txBody>
      </p:sp>
      <p:sp>
        <p:nvSpPr>
          <p:cNvPr id="45" name="TextBox 44"/>
          <p:cNvSpPr txBox="1"/>
          <p:nvPr/>
        </p:nvSpPr>
        <p:spPr>
          <a:xfrm>
            <a:off x="8549638" y="3035808"/>
            <a:ext cx="1645920" cy="164592"/>
          </a:xfrm>
          <a:prstGeom prst="rect">
            <a:avLst/>
          </a:prstGeom>
          <a:noFill/>
        </p:spPr>
        <p:txBody>
          <a:bodyPr wrap="square" lIns="45720" rIns="45720" tIns="18288" bIns="18288" anchor="t">
            <a:spAutoFit/>
          </a:bodyPr>
          <a:lstStyle/>
          <a:p>
            <a:pPr algn="l"/>
            <a:r>
              <a:rPr sz="700" b="1" i="0">
                <a:solidFill>
                  <a:srgbClr val="4A5568"/>
                </a:solidFill>
                <a:latin typeface="Poppins"/>
              </a:rPr>
              <a:t>GM</a:t>
            </a:r>
          </a:p>
        </p:txBody>
      </p:sp>
      <p:sp>
        <p:nvSpPr>
          <p:cNvPr id="46" name="TextBox 45"/>
          <p:cNvSpPr txBox="1"/>
          <p:nvPr/>
        </p:nvSpPr>
        <p:spPr>
          <a:xfrm>
            <a:off x="8549638" y="3182112"/>
            <a:ext cx="1645920" cy="182880"/>
          </a:xfrm>
          <a:prstGeom prst="rect">
            <a:avLst/>
          </a:prstGeom>
          <a:noFill/>
        </p:spPr>
        <p:txBody>
          <a:bodyPr wrap="square" lIns="45720" rIns="45720" tIns="18288" bIns="18288" anchor="t">
            <a:spAutoFit/>
          </a:bodyPr>
          <a:lstStyle/>
          <a:p>
            <a:pPr algn="l"/>
            <a:r>
              <a:rPr sz="1100" b="1" i="0">
                <a:solidFill>
                  <a:srgbClr val="1F2A44"/>
                </a:solidFill>
                <a:latin typeface="Poppins"/>
              </a:rPr>
              <a:t>72%</a:t>
            </a:r>
          </a:p>
        </p:txBody>
      </p:sp>
      <p:sp>
        <p:nvSpPr>
          <p:cNvPr id="47" name="TextBox 46"/>
          <p:cNvSpPr txBox="1"/>
          <p:nvPr/>
        </p:nvSpPr>
        <p:spPr>
          <a:xfrm>
            <a:off x="10241278" y="3035808"/>
            <a:ext cx="1645920" cy="164592"/>
          </a:xfrm>
          <a:prstGeom prst="rect">
            <a:avLst/>
          </a:prstGeom>
          <a:noFill/>
        </p:spPr>
        <p:txBody>
          <a:bodyPr wrap="square" lIns="45720" rIns="45720" tIns="18288" bIns="18288" anchor="t">
            <a:spAutoFit/>
          </a:bodyPr>
          <a:lstStyle/>
          <a:p>
            <a:pPr algn="l"/>
            <a:r>
              <a:rPr sz="700" b="1" i="0">
                <a:solidFill>
                  <a:srgbClr val="4A5568"/>
                </a:solidFill>
                <a:latin typeface="Poppins"/>
              </a:rPr>
              <a:t>HEADCOUNT</a:t>
            </a:r>
          </a:p>
        </p:txBody>
      </p:sp>
      <p:sp>
        <p:nvSpPr>
          <p:cNvPr id="48" name="TextBox 47"/>
          <p:cNvSpPr txBox="1"/>
          <p:nvPr/>
        </p:nvSpPr>
        <p:spPr>
          <a:xfrm>
            <a:off x="10241278" y="3182112"/>
            <a:ext cx="1645920" cy="182880"/>
          </a:xfrm>
          <a:prstGeom prst="rect">
            <a:avLst/>
          </a:prstGeom>
          <a:noFill/>
        </p:spPr>
        <p:txBody>
          <a:bodyPr wrap="square" lIns="45720" rIns="45720" tIns="18288" bIns="18288" anchor="t">
            <a:spAutoFit/>
          </a:bodyPr>
          <a:lstStyle/>
          <a:p>
            <a:pPr algn="l"/>
            <a:r>
              <a:rPr sz="1100" b="1" i="0">
                <a:solidFill>
                  <a:srgbClr val="1F2A44"/>
                </a:solidFill>
                <a:latin typeface="Poppins"/>
              </a:rPr>
              <a:t>42</a:t>
            </a:r>
          </a:p>
        </p:txBody>
      </p:sp>
      <p:sp>
        <p:nvSpPr>
          <p:cNvPr id="49" name="TextBox 48"/>
          <p:cNvSpPr txBox="1"/>
          <p:nvPr/>
        </p:nvSpPr>
        <p:spPr>
          <a:xfrm>
            <a:off x="457200" y="3611880"/>
            <a:ext cx="7315200" cy="274320"/>
          </a:xfrm>
          <a:prstGeom prst="rect">
            <a:avLst/>
          </a:prstGeom>
          <a:noFill/>
        </p:spPr>
        <p:txBody>
          <a:bodyPr wrap="square" lIns="45720" rIns="45720" tIns="18288" bIns="18288" anchor="t">
            <a:spAutoFit/>
          </a:bodyPr>
          <a:lstStyle/>
          <a:p>
            <a:pPr algn="l"/>
            <a:r>
              <a:rPr sz="1000" b="1" i="0">
                <a:solidFill>
                  <a:srgbClr val="4A5568"/>
                </a:solidFill>
                <a:latin typeface="Poppins"/>
              </a:rPr>
              <a:t>YEAR 1 QUARTERLY  //  2026 build to $435K MRR</a:t>
            </a:r>
          </a:p>
        </p:txBody>
      </p:sp>
      <p:graphicFrame>
        <p:nvGraphicFramePr>
          <p:cNvPr id="50" name="Table 49"/>
          <p:cNvGraphicFramePr>
            <a:graphicFrameLocks noGrp="1"/>
          </p:cNvGraphicFramePr>
          <p:nvPr/>
        </p:nvGraphicFramePr>
        <p:xfrm>
          <a:off x="457200" y="3931920"/>
          <a:ext cx="7315200" cy="2468880"/>
        </p:xfrm>
        <a:graphic>
          <a:graphicData uri="http://schemas.openxmlformats.org/drawingml/2006/table">
            <a:tbl>
              <a:tblPr firstRow="1" bandRow="1">
                <a:tableStyleId>{5C22544A-7EE6-4342-B048-85BDC9FD1C3A}</a:tableStyleId>
              </a:tblPr>
              <a:tblGrid>
                <a:gridCol w="1828800"/>
                <a:gridCol w="914400"/>
                <a:gridCol w="914400"/>
                <a:gridCol w="914400"/>
                <a:gridCol w="914400"/>
                <a:gridCol w="1828800"/>
              </a:tblGrid>
              <a:tr h="274320">
                <a:tc>
                  <a:txBody>
                    <a:bodyPr anchor="ctr"/>
                    <a:lstStyle/>
                    <a:p>
                      <a:pPr algn="l"/>
                      <a:r>
                        <a:rPr sz="1000" b="1">
                          <a:solidFill>
                            <a:srgbClr val="FFFFFF"/>
                          </a:solidFill>
                          <a:latin typeface="Poppins"/>
                        </a:rPr>
                        <a:t>Quarter</a:t>
                      </a:r>
                    </a:p>
                  </a:txBody>
                  <a:tcPr>
                    <a:solidFill>
                      <a:srgbClr val="1F2A44"/>
                    </a:solidFill>
                  </a:tcPr>
                </a:tc>
                <a:tc>
                  <a:txBody>
                    <a:bodyPr anchor="ctr"/>
                    <a:lstStyle/>
                    <a:p>
                      <a:pPr algn="ctr"/>
                      <a:r>
                        <a:rPr sz="1000" b="1">
                          <a:solidFill>
                            <a:srgbClr val="FFFFFF"/>
                          </a:solidFill>
                          <a:latin typeface="Poppins"/>
                        </a:rPr>
                        <a:t>Q1</a:t>
                      </a:r>
                    </a:p>
                  </a:txBody>
                  <a:tcPr>
                    <a:solidFill>
                      <a:srgbClr val="1F2A44"/>
                    </a:solidFill>
                  </a:tcPr>
                </a:tc>
                <a:tc>
                  <a:txBody>
                    <a:bodyPr anchor="ctr"/>
                    <a:lstStyle/>
                    <a:p>
                      <a:pPr algn="ctr"/>
                      <a:r>
                        <a:rPr sz="1000" b="1">
                          <a:solidFill>
                            <a:srgbClr val="FFFFFF"/>
                          </a:solidFill>
                          <a:latin typeface="Poppins"/>
                        </a:rPr>
                        <a:t>Q2</a:t>
                      </a:r>
                    </a:p>
                  </a:txBody>
                  <a:tcPr>
                    <a:solidFill>
                      <a:srgbClr val="1F2A44"/>
                    </a:solidFill>
                  </a:tcPr>
                </a:tc>
                <a:tc>
                  <a:txBody>
                    <a:bodyPr anchor="ctr"/>
                    <a:lstStyle/>
                    <a:p>
                      <a:pPr algn="ctr"/>
                      <a:r>
                        <a:rPr sz="1000" b="1">
                          <a:solidFill>
                            <a:srgbClr val="FFFFFF"/>
                          </a:solidFill>
                          <a:latin typeface="Poppins"/>
                        </a:rPr>
                        <a:t>Q3</a:t>
                      </a:r>
                    </a:p>
                  </a:txBody>
                  <a:tcPr>
                    <a:solidFill>
                      <a:srgbClr val="1F2A44"/>
                    </a:solidFill>
                  </a:tcPr>
                </a:tc>
                <a:tc>
                  <a:txBody>
                    <a:bodyPr anchor="ctr"/>
                    <a:lstStyle/>
                    <a:p>
                      <a:pPr algn="ctr"/>
                      <a:r>
                        <a:rPr sz="1000" b="1">
                          <a:solidFill>
                            <a:srgbClr val="FFFFFF"/>
                          </a:solidFill>
                          <a:latin typeface="Poppins"/>
                        </a:rPr>
                        <a:t>Q4</a:t>
                      </a:r>
                    </a:p>
                  </a:txBody>
                  <a:tcPr>
                    <a:solidFill>
                      <a:srgbClr val="1F2A44"/>
                    </a:solidFill>
                  </a:tcPr>
                </a:tc>
                <a:tc>
                  <a:txBody>
                    <a:bodyPr anchor="ctr"/>
                    <a:lstStyle/>
                    <a:p>
                      <a:pPr algn="ctr"/>
                      <a:r>
                        <a:rPr sz="1000" b="1">
                          <a:solidFill>
                            <a:srgbClr val="FFFFFF"/>
                          </a:solidFill>
                          <a:latin typeface="Poppins"/>
                        </a:rPr>
                        <a:t>TOTAL</a:t>
                      </a:r>
                    </a:p>
                  </a:txBody>
                  <a:tcPr>
                    <a:solidFill>
                      <a:srgbClr val="1F2A44"/>
                    </a:solidFill>
                  </a:tcPr>
                </a:tc>
              </a:tr>
              <a:tr h="274320">
                <a:tc>
                  <a:txBody>
                    <a:bodyPr anchor="ctr"/>
                    <a:lstStyle/>
                    <a:p>
                      <a:pPr algn="l"/>
                      <a:r>
                        <a:rPr sz="950" b="1">
                          <a:solidFill>
                            <a:srgbClr val="111827"/>
                          </a:solidFill>
                          <a:latin typeface="Poppins"/>
                        </a:rPr>
                        <a:t>Net new clients</a:t>
                      </a:r>
                    </a:p>
                  </a:txBody>
                  <a:tcPr>
                    <a:solidFill>
                      <a:srgbClr val="FFFFFF"/>
                    </a:solidFill>
                  </a:tcPr>
                </a:tc>
                <a:tc>
                  <a:txBody>
                    <a:bodyPr anchor="ctr"/>
                    <a:lstStyle/>
                    <a:p>
                      <a:pPr algn="ctr"/>
                      <a:r>
                        <a:rPr sz="950" b="0">
                          <a:solidFill>
                            <a:srgbClr val="111827"/>
                          </a:solidFill>
                          <a:latin typeface="Poppins"/>
                        </a:rPr>
                        <a:t>5</a:t>
                      </a:r>
                    </a:p>
                  </a:txBody>
                  <a:tcPr>
                    <a:solidFill>
                      <a:srgbClr val="FFFFFF"/>
                    </a:solidFill>
                  </a:tcPr>
                </a:tc>
                <a:tc>
                  <a:txBody>
                    <a:bodyPr anchor="ctr"/>
                    <a:lstStyle/>
                    <a:p>
                      <a:pPr algn="ctr"/>
                      <a:r>
                        <a:rPr sz="950" b="0">
                          <a:solidFill>
                            <a:srgbClr val="111827"/>
                          </a:solidFill>
                          <a:latin typeface="Poppins"/>
                        </a:rPr>
                        <a:t>15</a:t>
                      </a:r>
                    </a:p>
                  </a:txBody>
                  <a:tcPr>
                    <a:solidFill>
                      <a:srgbClr val="FFFFFF"/>
                    </a:solidFill>
                  </a:tcPr>
                </a:tc>
                <a:tc>
                  <a:txBody>
                    <a:bodyPr anchor="ctr"/>
                    <a:lstStyle/>
                    <a:p>
                      <a:pPr algn="ctr"/>
                      <a:r>
                        <a:rPr sz="950" b="0">
                          <a:solidFill>
                            <a:srgbClr val="111827"/>
                          </a:solidFill>
                          <a:latin typeface="Poppins"/>
                        </a:rPr>
                        <a:t>30</a:t>
                      </a:r>
                    </a:p>
                  </a:txBody>
                  <a:tcPr>
                    <a:solidFill>
                      <a:srgbClr val="FFFFFF"/>
                    </a:solidFill>
                  </a:tcPr>
                </a:tc>
                <a:tc>
                  <a:txBody>
                    <a:bodyPr anchor="ctr"/>
                    <a:lstStyle/>
                    <a:p>
                      <a:pPr algn="ctr"/>
                      <a:r>
                        <a:rPr sz="950" b="0">
                          <a:solidFill>
                            <a:srgbClr val="111827"/>
                          </a:solidFill>
                          <a:latin typeface="Poppins"/>
                        </a:rPr>
                        <a:t>50</a:t>
                      </a:r>
                    </a:p>
                  </a:txBody>
                  <a:tcPr>
                    <a:solidFill>
                      <a:srgbClr val="FFFFFF"/>
                    </a:solidFill>
                  </a:tcPr>
                </a:tc>
                <a:tc>
                  <a:txBody>
                    <a:bodyPr anchor="ctr"/>
                    <a:lstStyle/>
                    <a:p>
                      <a:pPr algn="ctr"/>
                      <a:r>
                        <a:rPr sz="950" b="1">
                          <a:solidFill>
                            <a:srgbClr val="1F2A44"/>
                          </a:solidFill>
                          <a:latin typeface="Poppins"/>
                        </a:rPr>
                        <a:t>50</a:t>
                      </a:r>
                    </a:p>
                  </a:txBody>
                  <a:tcPr>
                    <a:solidFill>
                      <a:srgbClr val="F3F5F9"/>
                    </a:solidFill>
                  </a:tcPr>
                </a:tc>
              </a:tr>
              <a:tr h="274320">
                <a:tc>
                  <a:txBody>
                    <a:bodyPr anchor="ctr"/>
                    <a:lstStyle/>
                    <a:p>
                      <a:pPr algn="l"/>
                      <a:r>
                        <a:rPr sz="950" b="1">
                          <a:solidFill>
                            <a:srgbClr val="111827"/>
                          </a:solidFill>
                          <a:latin typeface="Poppins"/>
                        </a:rPr>
                        <a:t>Active (ending)</a:t>
                      </a:r>
                    </a:p>
                  </a:txBody>
                  <a:tcPr>
                    <a:solidFill>
                      <a:srgbClr val="F3F5F9"/>
                    </a:solidFill>
                  </a:tcPr>
                </a:tc>
                <a:tc>
                  <a:txBody>
                    <a:bodyPr anchor="ctr"/>
                    <a:lstStyle/>
                    <a:p>
                      <a:pPr algn="ctr"/>
                      <a:r>
                        <a:rPr sz="950" b="0">
                          <a:solidFill>
                            <a:srgbClr val="111827"/>
                          </a:solidFill>
                          <a:latin typeface="Poppins"/>
                        </a:rPr>
                        <a:t>5</a:t>
                      </a:r>
                    </a:p>
                  </a:txBody>
                  <a:tcPr>
                    <a:solidFill>
                      <a:srgbClr val="F3F5F9"/>
                    </a:solidFill>
                  </a:tcPr>
                </a:tc>
                <a:tc>
                  <a:txBody>
                    <a:bodyPr anchor="ctr"/>
                    <a:lstStyle/>
                    <a:p>
                      <a:pPr algn="ctr"/>
                      <a:r>
                        <a:rPr sz="950" b="0">
                          <a:solidFill>
                            <a:srgbClr val="111827"/>
                          </a:solidFill>
                          <a:latin typeface="Poppins"/>
                        </a:rPr>
                        <a:t>18</a:t>
                      </a:r>
                    </a:p>
                  </a:txBody>
                  <a:tcPr>
                    <a:solidFill>
                      <a:srgbClr val="F3F5F9"/>
                    </a:solidFill>
                  </a:tcPr>
                </a:tc>
                <a:tc>
                  <a:txBody>
                    <a:bodyPr anchor="ctr"/>
                    <a:lstStyle/>
                    <a:p>
                      <a:pPr algn="ctr"/>
                      <a:r>
                        <a:rPr sz="950" b="0">
                          <a:solidFill>
                            <a:srgbClr val="111827"/>
                          </a:solidFill>
                          <a:latin typeface="Poppins"/>
                        </a:rPr>
                        <a:t>42</a:t>
                      </a:r>
                    </a:p>
                  </a:txBody>
                  <a:tcPr>
                    <a:solidFill>
                      <a:srgbClr val="F3F5F9"/>
                    </a:solidFill>
                  </a:tcPr>
                </a:tc>
                <a:tc>
                  <a:txBody>
                    <a:bodyPr anchor="ctr"/>
                    <a:lstStyle/>
                    <a:p>
                      <a:pPr algn="ctr"/>
                      <a:r>
                        <a:rPr sz="950" b="0">
                          <a:solidFill>
                            <a:srgbClr val="111827"/>
                          </a:solidFill>
                          <a:latin typeface="Poppins"/>
                        </a:rPr>
                        <a:t>82</a:t>
                      </a:r>
                    </a:p>
                  </a:txBody>
                  <a:tcPr>
                    <a:solidFill>
                      <a:srgbClr val="F3F5F9"/>
                    </a:solidFill>
                  </a:tcPr>
                </a:tc>
                <a:tc>
                  <a:txBody>
                    <a:bodyPr anchor="ctr"/>
                    <a:lstStyle/>
                    <a:p>
                      <a:pPr algn="ctr"/>
                      <a:r>
                        <a:rPr sz="950" b="1">
                          <a:solidFill>
                            <a:srgbClr val="1F2A44"/>
                          </a:solidFill>
                          <a:latin typeface="Poppins"/>
                        </a:rPr>
                        <a:t>82</a:t>
                      </a:r>
                    </a:p>
                  </a:txBody>
                  <a:tcPr>
                    <a:solidFill>
                      <a:srgbClr val="F3F5F9"/>
                    </a:solidFill>
                  </a:tcPr>
                </a:tc>
              </a:tr>
              <a:tr h="274320">
                <a:tc>
                  <a:txBody>
                    <a:bodyPr anchor="ctr"/>
                    <a:lstStyle/>
                    <a:p>
                      <a:pPr algn="l"/>
                      <a:r>
                        <a:rPr sz="950" b="1">
                          <a:solidFill>
                            <a:srgbClr val="111827"/>
                          </a:solidFill>
                          <a:latin typeface="Poppins"/>
                        </a:rPr>
                        <a:t>MRR (ending)</a:t>
                      </a:r>
                    </a:p>
                  </a:txBody>
                  <a:tcPr>
                    <a:solidFill>
                      <a:srgbClr val="FFFFFF"/>
                    </a:solidFill>
                  </a:tcPr>
                </a:tc>
                <a:tc>
                  <a:txBody>
                    <a:bodyPr anchor="ctr"/>
                    <a:lstStyle/>
                    <a:p>
                      <a:pPr algn="ctr"/>
                      <a:r>
                        <a:rPr sz="950" b="0">
                          <a:solidFill>
                            <a:srgbClr val="111827"/>
                          </a:solidFill>
                          <a:latin typeface="Poppins"/>
                        </a:rPr>
                        <a:t>$17K</a:t>
                      </a:r>
                    </a:p>
                  </a:txBody>
                  <a:tcPr>
                    <a:solidFill>
                      <a:srgbClr val="FFFFFF"/>
                    </a:solidFill>
                  </a:tcPr>
                </a:tc>
                <a:tc>
                  <a:txBody>
                    <a:bodyPr anchor="ctr"/>
                    <a:lstStyle/>
                    <a:p>
                      <a:pPr algn="ctr"/>
                      <a:r>
                        <a:rPr sz="950" b="0">
                          <a:solidFill>
                            <a:srgbClr val="111827"/>
                          </a:solidFill>
                          <a:latin typeface="Poppins"/>
                        </a:rPr>
                        <a:t>$88K</a:t>
                      </a:r>
                    </a:p>
                  </a:txBody>
                  <a:tcPr>
                    <a:solidFill>
                      <a:srgbClr val="FFFFFF"/>
                    </a:solidFill>
                  </a:tcPr>
                </a:tc>
                <a:tc>
                  <a:txBody>
                    <a:bodyPr anchor="ctr"/>
                    <a:lstStyle/>
                    <a:p>
                      <a:pPr algn="ctr"/>
                      <a:r>
                        <a:rPr sz="950" b="0">
                          <a:solidFill>
                            <a:srgbClr val="111827"/>
                          </a:solidFill>
                          <a:latin typeface="Poppins"/>
                        </a:rPr>
                        <a:t>$220K</a:t>
                      </a:r>
                    </a:p>
                  </a:txBody>
                  <a:tcPr>
                    <a:solidFill>
                      <a:srgbClr val="FFFFFF"/>
                    </a:solidFill>
                  </a:tcPr>
                </a:tc>
                <a:tc>
                  <a:txBody>
                    <a:bodyPr anchor="ctr"/>
                    <a:lstStyle/>
                    <a:p>
                      <a:pPr algn="ctr"/>
                      <a:r>
                        <a:rPr sz="950" b="0">
                          <a:solidFill>
                            <a:srgbClr val="111827"/>
                          </a:solidFill>
                          <a:latin typeface="Poppins"/>
                        </a:rPr>
                        <a:t>$435K</a:t>
                      </a:r>
                    </a:p>
                  </a:txBody>
                  <a:tcPr>
                    <a:solidFill>
                      <a:srgbClr val="FFFFFF"/>
                    </a:solidFill>
                  </a:tcPr>
                </a:tc>
                <a:tc>
                  <a:txBody>
                    <a:bodyPr anchor="ctr"/>
                    <a:lstStyle/>
                    <a:p>
                      <a:pPr algn="ctr"/>
                      <a:r>
                        <a:rPr sz="950" b="1">
                          <a:solidFill>
                            <a:srgbClr val="1F2A44"/>
                          </a:solidFill>
                          <a:latin typeface="Poppins"/>
                        </a:rPr>
                        <a:t>—</a:t>
                      </a:r>
                    </a:p>
                  </a:txBody>
                  <a:tcPr>
                    <a:solidFill>
                      <a:srgbClr val="F3F5F9"/>
                    </a:solidFill>
                  </a:tcPr>
                </a:tc>
              </a:tr>
              <a:tr h="274320">
                <a:tc>
                  <a:txBody>
                    <a:bodyPr anchor="ctr"/>
                    <a:lstStyle/>
                    <a:p>
                      <a:pPr algn="l"/>
                      <a:r>
                        <a:rPr sz="950" b="1">
                          <a:solidFill>
                            <a:srgbClr val="111827"/>
                          </a:solidFill>
                          <a:latin typeface="Poppins"/>
                        </a:rPr>
                        <a:t>Revenue</a:t>
                      </a:r>
                    </a:p>
                  </a:txBody>
                  <a:tcPr>
                    <a:solidFill>
                      <a:srgbClr val="F3F5F9"/>
                    </a:solidFill>
                  </a:tcPr>
                </a:tc>
                <a:tc>
                  <a:txBody>
                    <a:bodyPr anchor="ctr"/>
                    <a:lstStyle/>
                    <a:p>
                      <a:pPr algn="ctr"/>
                      <a:r>
                        <a:rPr sz="950" b="0">
                          <a:solidFill>
                            <a:srgbClr val="111827"/>
                          </a:solidFill>
                          <a:latin typeface="Poppins"/>
                        </a:rPr>
                        <a:t>$30K</a:t>
                      </a:r>
                    </a:p>
                  </a:txBody>
                  <a:tcPr>
                    <a:solidFill>
                      <a:srgbClr val="F3F5F9"/>
                    </a:solidFill>
                  </a:tcPr>
                </a:tc>
                <a:tc>
                  <a:txBody>
                    <a:bodyPr anchor="ctr"/>
                    <a:lstStyle/>
                    <a:p>
                      <a:pPr algn="ctr"/>
                      <a:r>
                        <a:rPr sz="950" b="0">
                          <a:solidFill>
                            <a:srgbClr val="111827"/>
                          </a:solidFill>
                          <a:latin typeface="Poppins"/>
                        </a:rPr>
                        <a:t>$210K</a:t>
                      </a:r>
                    </a:p>
                  </a:txBody>
                  <a:tcPr>
                    <a:solidFill>
                      <a:srgbClr val="F3F5F9"/>
                    </a:solidFill>
                  </a:tcPr>
                </a:tc>
                <a:tc>
                  <a:txBody>
                    <a:bodyPr anchor="ctr"/>
                    <a:lstStyle/>
                    <a:p>
                      <a:pPr algn="ctr"/>
                      <a:r>
                        <a:rPr sz="950" b="0">
                          <a:solidFill>
                            <a:srgbClr val="111827"/>
                          </a:solidFill>
                          <a:latin typeface="Poppins"/>
                        </a:rPr>
                        <a:t>$540K</a:t>
                      </a:r>
                    </a:p>
                  </a:txBody>
                  <a:tcPr>
                    <a:solidFill>
                      <a:srgbClr val="F3F5F9"/>
                    </a:solidFill>
                  </a:tcPr>
                </a:tc>
                <a:tc>
                  <a:txBody>
                    <a:bodyPr anchor="ctr"/>
                    <a:lstStyle/>
                    <a:p>
                      <a:pPr algn="ctr"/>
                      <a:r>
                        <a:rPr sz="950" b="0">
                          <a:solidFill>
                            <a:srgbClr val="111827"/>
                          </a:solidFill>
                          <a:latin typeface="Poppins"/>
                        </a:rPr>
                        <a:t>$975K</a:t>
                      </a:r>
                    </a:p>
                  </a:txBody>
                  <a:tcPr>
                    <a:solidFill>
                      <a:srgbClr val="F3F5F9"/>
                    </a:solidFill>
                  </a:tcPr>
                </a:tc>
                <a:tc>
                  <a:txBody>
                    <a:bodyPr anchor="ctr"/>
                    <a:lstStyle/>
                    <a:p>
                      <a:pPr algn="ctr"/>
                      <a:r>
                        <a:rPr sz="950" b="1">
                          <a:solidFill>
                            <a:srgbClr val="1F2A44"/>
                          </a:solidFill>
                          <a:latin typeface="Poppins"/>
                        </a:rPr>
                        <a:t>$1.76M</a:t>
                      </a:r>
                    </a:p>
                  </a:txBody>
                  <a:tcPr>
                    <a:solidFill>
                      <a:srgbClr val="F3F5F9"/>
                    </a:solidFill>
                  </a:tcPr>
                </a:tc>
              </a:tr>
              <a:tr h="274320">
                <a:tc>
                  <a:txBody>
                    <a:bodyPr anchor="ctr"/>
                    <a:lstStyle/>
                    <a:p>
                      <a:pPr algn="l"/>
                      <a:r>
                        <a:rPr sz="950" b="1">
                          <a:solidFill>
                            <a:srgbClr val="111827"/>
                          </a:solidFill>
                          <a:latin typeface="Poppins"/>
                        </a:rPr>
                        <a:t>COGS</a:t>
                      </a:r>
                    </a:p>
                  </a:txBody>
                  <a:tcPr>
                    <a:solidFill>
                      <a:srgbClr val="FFFFFF"/>
                    </a:solidFill>
                  </a:tcPr>
                </a:tc>
                <a:tc>
                  <a:txBody>
                    <a:bodyPr anchor="ctr"/>
                    <a:lstStyle/>
                    <a:p>
                      <a:pPr algn="ctr"/>
                      <a:r>
                        <a:rPr sz="950" b="0">
                          <a:solidFill>
                            <a:srgbClr val="111827"/>
                          </a:solidFill>
                          <a:latin typeface="Poppins"/>
                        </a:rPr>
                        <a:t>$10K</a:t>
                      </a:r>
                    </a:p>
                  </a:txBody>
                  <a:tcPr>
                    <a:solidFill>
                      <a:srgbClr val="FFFFFF"/>
                    </a:solidFill>
                  </a:tcPr>
                </a:tc>
                <a:tc>
                  <a:txBody>
                    <a:bodyPr anchor="ctr"/>
                    <a:lstStyle/>
                    <a:p>
                      <a:pPr algn="ctr"/>
                      <a:r>
                        <a:rPr sz="950" b="0">
                          <a:solidFill>
                            <a:srgbClr val="111827"/>
                          </a:solidFill>
                          <a:latin typeface="Poppins"/>
                        </a:rPr>
                        <a:t>$65K</a:t>
                      </a:r>
                    </a:p>
                  </a:txBody>
                  <a:tcPr>
                    <a:solidFill>
                      <a:srgbClr val="FFFFFF"/>
                    </a:solidFill>
                  </a:tcPr>
                </a:tc>
                <a:tc>
                  <a:txBody>
                    <a:bodyPr anchor="ctr"/>
                    <a:lstStyle/>
                    <a:p>
                      <a:pPr algn="ctr"/>
                      <a:r>
                        <a:rPr sz="950" b="0">
                          <a:solidFill>
                            <a:srgbClr val="111827"/>
                          </a:solidFill>
                          <a:latin typeface="Poppins"/>
                        </a:rPr>
                        <a:t>$170K</a:t>
                      </a:r>
                    </a:p>
                  </a:txBody>
                  <a:tcPr>
                    <a:solidFill>
                      <a:srgbClr val="FFFFFF"/>
                    </a:solidFill>
                  </a:tcPr>
                </a:tc>
                <a:tc>
                  <a:txBody>
                    <a:bodyPr anchor="ctr"/>
                    <a:lstStyle/>
                    <a:p>
                      <a:pPr algn="ctr"/>
                      <a:r>
                        <a:rPr sz="950" b="0">
                          <a:solidFill>
                            <a:srgbClr val="111827"/>
                          </a:solidFill>
                          <a:latin typeface="Poppins"/>
                        </a:rPr>
                        <a:t>$310K</a:t>
                      </a:r>
                    </a:p>
                  </a:txBody>
                  <a:tcPr>
                    <a:solidFill>
                      <a:srgbClr val="FFFFFF"/>
                    </a:solidFill>
                  </a:tcPr>
                </a:tc>
                <a:tc>
                  <a:txBody>
                    <a:bodyPr anchor="ctr"/>
                    <a:lstStyle/>
                    <a:p>
                      <a:pPr algn="ctr"/>
                      <a:r>
                        <a:rPr sz="950" b="1">
                          <a:solidFill>
                            <a:srgbClr val="1F2A44"/>
                          </a:solidFill>
                          <a:latin typeface="Poppins"/>
                        </a:rPr>
                        <a:t>$555K</a:t>
                      </a:r>
                    </a:p>
                  </a:txBody>
                  <a:tcPr>
                    <a:solidFill>
                      <a:srgbClr val="F3F5F9"/>
                    </a:solidFill>
                  </a:tcPr>
                </a:tc>
              </a:tr>
              <a:tr h="274320">
                <a:tc>
                  <a:txBody>
                    <a:bodyPr anchor="ctr"/>
                    <a:lstStyle/>
                    <a:p>
                      <a:pPr algn="l"/>
                      <a:r>
                        <a:rPr sz="950" b="1">
                          <a:solidFill>
                            <a:srgbClr val="111827"/>
                          </a:solidFill>
                          <a:latin typeface="Poppins"/>
                        </a:rPr>
                        <a:t>Gross profit</a:t>
                      </a:r>
                    </a:p>
                  </a:txBody>
                  <a:tcPr>
                    <a:solidFill>
                      <a:srgbClr val="F3F5F9"/>
                    </a:solidFill>
                  </a:tcPr>
                </a:tc>
                <a:tc>
                  <a:txBody>
                    <a:bodyPr anchor="ctr"/>
                    <a:lstStyle/>
                    <a:p>
                      <a:pPr algn="ctr"/>
                      <a:r>
                        <a:rPr sz="950" b="0">
                          <a:solidFill>
                            <a:srgbClr val="111827"/>
                          </a:solidFill>
                          <a:latin typeface="Poppins"/>
                        </a:rPr>
                        <a:t>$20K</a:t>
                      </a:r>
                    </a:p>
                  </a:txBody>
                  <a:tcPr>
                    <a:solidFill>
                      <a:srgbClr val="F3F5F9"/>
                    </a:solidFill>
                  </a:tcPr>
                </a:tc>
                <a:tc>
                  <a:txBody>
                    <a:bodyPr anchor="ctr"/>
                    <a:lstStyle/>
                    <a:p>
                      <a:pPr algn="ctr"/>
                      <a:r>
                        <a:rPr sz="950" b="0">
                          <a:solidFill>
                            <a:srgbClr val="111827"/>
                          </a:solidFill>
                          <a:latin typeface="Poppins"/>
                        </a:rPr>
                        <a:t>$145K</a:t>
                      </a:r>
                    </a:p>
                  </a:txBody>
                  <a:tcPr>
                    <a:solidFill>
                      <a:srgbClr val="F3F5F9"/>
                    </a:solidFill>
                  </a:tcPr>
                </a:tc>
                <a:tc>
                  <a:txBody>
                    <a:bodyPr anchor="ctr"/>
                    <a:lstStyle/>
                    <a:p>
                      <a:pPr algn="ctr"/>
                      <a:r>
                        <a:rPr sz="950" b="0">
                          <a:solidFill>
                            <a:srgbClr val="111827"/>
                          </a:solidFill>
                          <a:latin typeface="Poppins"/>
                        </a:rPr>
                        <a:t>$370K</a:t>
                      </a:r>
                    </a:p>
                  </a:txBody>
                  <a:tcPr>
                    <a:solidFill>
                      <a:srgbClr val="F3F5F9"/>
                    </a:solidFill>
                  </a:tcPr>
                </a:tc>
                <a:tc>
                  <a:txBody>
                    <a:bodyPr anchor="ctr"/>
                    <a:lstStyle/>
                    <a:p>
                      <a:pPr algn="ctr"/>
                      <a:r>
                        <a:rPr sz="950" b="0">
                          <a:solidFill>
                            <a:srgbClr val="111827"/>
                          </a:solidFill>
                          <a:latin typeface="Poppins"/>
                        </a:rPr>
                        <a:t>$665K</a:t>
                      </a:r>
                    </a:p>
                  </a:txBody>
                  <a:tcPr>
                    <a:solidFill>
                      <a:srgbClr val="F3F5F9"/>
                    </a:solidFill>
                  </a:tcPr>
                </a:tc>
                <a:tc>
                  <a:txBody>
                    <a:bodyPr anchor="ctr"/>
                    <a:lstStyle/>
                    <a:p>
                      <a:pPr algn="ctr"/>
                      <a:r>
                        <a:rPr sz="950" b="1">
                          <a:solidFill>
                            <a:srgbClr val="1F2A44"/>
                          </a:solidFill>
                          <a:latin typeface="Poppins"/>
                        </a:rPr>
                        <a:t>$1.20M</a:t>
                      </a:r>
                    </a:p>
                  </a:txBody>
                  <a:tcPr>
                    <a:solidFill>
                      <a:srgbClr val="F3F5F9"/>
                    </a:solidFill>
                  </a:tcPr>
                </a:tc>
              </a:tr>
              <a:tr h="274320">
                <a:tc>
                  <a:txBody>
                    <a:bodyPr anchor="ctr"/>
                    <a:lstStyle/>
                    <a:p>
                      <a:pPr algn="l"/>
                      <a:r>
                        <a:rPr sz="950" b="1">
                          <a:solidFill>
                            <a:srgbClr val="111827"/>
                          </a:solidFill>
                          <a:latin typeface="Poppins"/>
                        </a:rPr>
                        <a:t>OpEx</a:t>
                      </a:r>
                    </a:p>
                  </a:txBody>
                  <a:tcPr>
                    <a:solidFill>
                      <a:srgbClr val="FFFFFF"/>
                    </a:solidFill>
                  </a:tcPr>
                </a:tc>
                <a:tc>
                  <a:txBody>
                    <a:bodyPr anchor="ctr"/>
                    <a:lstStyle/>
                    <a:p>
                      <a:pPr algn="ctr"/>
                      <a:r>
                        <a:rPr sz="950" b="0">
                          <a:solidFill>
                            <a:srgbClr val="111827"/>
                          </a:solidFill>
                          <a:latin typeface="Poppins"/>
                        </a:rPr>
                        <a:t>$25K</a:t>
                      </a:r>
                    </a:p>
                  </a:txBody>
                  <a:tcPr>
                    <a:solidFill>
                      <a:srgbClr val="FFFFFF"/>
                    </a:solidFill>
                  </a:tcPr>
                </a:tc>
                <a:tc>
                  <a:txBody>
                    <a:bodyPr anchor="ctr"/>
                    <a:lstStyle/>
                    <a:p>
                      <a:pPr algn="ctr"/>
                      <a:r>
                        <a:rPr sz="950" b="0">
                          <a:solidFill>
                            <a:srgbClr val="111827"/>
                          </a:solidFill>
                          <a:latin typeface="Poppins"/>
                        </a:rPr>
                        <a:t>$80K</a:t>
                      </a:r>
                    </a:p>
                  </a:txBody>
                  <a:tcPr>
                    <a:solidFill>
                      <a:srgbClr val="FFFFFF"/>
                    </a:solidFill>
                  </a:tcPr>
                </a:tc>
                <a:tc>
                  <a:txBody>
                    <a:bodyPr anchor="ctr"/>
                    <a:lstStyle/>
                    <a:p>
                      <a:pPr algn="ctr"/>
                      <a:r>
                        <a:rPr sz="950" b="0">
                          <a:solidFill>
                            <a:srgbClr val="111827"/>
                          </a:solidFill>
                          <a:latin typeface="Poppins"/>
                        </a:rPr>
                        <a:t>$175K</a:t>
                      </a:r>
                    </a:p>
                  </a:txBody>
                  <a:tcPr>
                    <a:solidFill>
                      <a:srgbClr val="FFFFFF"/>
                    </a:solidFill>
                  </a:tcPr>
                </a:tc>
                <a:tc>
                  <a:txBody>
                    <a:bodyPr anchor="ctr"/>
                    <a:lstStyle/>
                    <a:p>
                      <a:pPr algn="ctr"/>
                      <a:r>
                        <a:rPr sz="950" b="0">
                          <a:solidFill>
                            <a:srgbClr val="111827"/>
                          </a:solidFill>
                          <a:latin typeface="Poppins"/>
                        </a:rPr>
                        <a:t>$285K</a:t>
                      </a:r>
                    </a:p>
                  </a:txBody>
                  <a:tcPr>
                    <a:solidFill>
                      <a:srgbClr val="FFFFFF"/>
                    </a:solidFill>
                  </a:tcPr>
                </a:tc>
                <a:tc>
                  <a:txBody>
                    <a:bodyPr anchor="ctr"/>
                    <a:lstStyle/>
                    <a:p>
                      <a:pPr algn="ctr"/>
                      <a:r>
                        <a:rPr sz="950" b="1">
                          <a:solidFill>
                            <a:srgbClr val="1F2A44"/>
                          </a:solidFill>
                          <a:latin typeface="Poppins"/>
                        </a:rPr>
                        <a:t>$565K</a:t>
                      </a:r>
                    </a:p>
                  </a:txBody>
                  <a:tcPr>
                    <a:solidFill>
                      <a:srgbClr val="F3F5F9"/>
                    </a:solidFill>
                  </a:tcPr>
                </a:tc>
              </a:tr>
              <a:tr h="274320">
                <a:tc>
                  <a:txBody>
                    <a:bodyPr anchor="ctr"/>
                    <a:lstStyle/>
                    <a:p>
                      <a:pPr algn="l"/>
                      <a:r>
                        <a:rPr sz="950" b="1">
                          <a:solidFill>
                            <a:srgbClr val="FFFFFF"/>
                          </a:solidFill>
                          <a:latin typeface="Poppins"/>
                        </a:rPr>
                        <a:t>EBITDA</a:t>
                      </a:r>
                    </a:p>
                  </a:txBody>
                  <a:tcPr>
                    <a:solidFill>
                      <a:srgbClr val="1F2A44"/>
                    </a:solidFill>
                  </a:tcPr>
                </a:tc>
                <a:tc>
                  <a:txBody>
                    <a:bodyPr anchor="ctr"/>
                    <a:lstStyle/>
                    <a:p>
                      <a:pPr algn="ctr"/>
                      <a:r>
                        <a:rPr sz="950" b="1">
                          <a:solidFill>
                            <a:srgbClr val="FFFFFF"/>
                          </a:solidFill>
                          <a:latin typeface="Poppins"/>
                        </a:rPr>
                        <a:t>-$5K</a:t>
                      </a:r>
                    </a:p>
                  </a:txBody>
                  <a:tcPr>
                    <a:solidFill>
                      <a:srgbClr val="1F2A44"/>
                    </a:solidFill>
                  </a:tcPr>
                </a:tc>
                <a:tc>
                  <a:txBody>
                    <a:bodyPr anchor="ctr"/>
                    <a:lstStyle/>
                    <a:p>
                      <a:pPr algn="ctr"/>
                      <a:r>
                        <a:rPr sz="950" b="1">
                          <a:solidFill>
                            <a:srgbClr val="FFFFFF"/>
                          </a:solidFill>
                          <a:latin typeface="Poppins"/>
                        </a:rPr>
                        <a:t>$65K</a:t>
                      </a:r>
                    </a:p>
                  </a:txBody>
                  <a:tcPr>
                    <a:solidFill>
                      <a:srgbClr val="1F2A44"/>
                    </a:solidFill>
                  </a:tcPr>
                </a:tc>
                <a:tc>
                  <a:txBody>
                    <a:bodyPr anchor="ctr"/>
                    <a:lstStyle/>
                    <a:p>
                      <a:pPr algn="ctr"/>
                      <a:r>
                        <a:rPr sz="950" b="1">
                          <a:solidFill>
                            <a:srgbClr val="FFFFFF"/>
                          </a:solidFill>
                          <a:latin typeface="Poppins"/>
                        </a:rPr>
                        <a:t>$195K</a:t>
                      </a:r>
                    </a:p>
                  </a:txBody>
                  <a:tcPr>
                    <a:solidFill>
                      <a:srgbClr val="1F2A44"/>
                    </a:solidFill>
                  </a:tcPr>
                </a:tc>
                <a:tc>
                  <a:txBody>
                    <a:bodyPr anchor="ctr"/>
                    <a:lstStyle/>
                    <a:p>
                      <a:pPr algn="ctr"/>
                      <a:r>
                        <a:rPr sz="950" b="1">
                          <a:solidFill>
                            <a:srgbClr val="FFFFFF"/>
                          </a:solidFill>
                          <a:latin typeface="Poppins"/>
                        </a:rPr>
                        <a:t>$380K</a:t>
                      </a:r>
                    </a:p>
                  </a:txBody>
                  <a:tcPr>
                    <a:solidFill>
                      <a:srgbClr val="1F2A44"/>
                    </a:solidFill>
                  </a:tcPr>
                </a:tc>
                <a:tc>
                  <a:txBody>
                    <a:bodyPr anchor="ctr"/>
                    <a:lstStyle/>
                    <a:p>
                      <a:pPr algn="ctr"/>
                      <a:r>
                        <a:rPr sz="950" b="1">
                          <a:solidFill>
                            <a:srgbClr val="FFFFFF"/>
                          </a:solidFill>
                          <a:latin typeface="Poppins"/>
                        </a:rPr>
                        <a:t>$635K</a:t>
                      </a:r>
                    </a:p>
                  </a:txBody>
                  <a:tcPr>
                    <a:solidFill>
                      <a:srgbClr val="1F2A44"/>
                    </a:solidFill>
                  </a:tcPr>
                </a:tc>
              </a:tr>
            </a:tbl>
          </a:graphicData>
        </a:graphic>
      </p:graphicFrame>
      <p:sp>
        <p:nvSpPr>
          <p:cNvPr id="51" name="Rectangle 50"/>
          <p:cNvSpPr/>
          <p:nvPr/>
        </p:nvSpPr>
        <p:spPr>
          <a:xfrm>
            <a:off x="8046720" y="3611880"/>
            <a:ext cx="3794760" cy="283464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29600" y="3749039"/>
            <a:ext cx="3566160" cy="2651760"/>
          </a:xfrm>
          <a:prstGeom prst="rect">
            <a:avLst/>
          </a:prstGeom>
          <a:noFill/>
        </p:spPr>
        <p:txBody>
          <a:bodyPr wrap="square" lIns="45720" rIns="45720" tIns="18288" bIns="18288" anchor="t">
            <a:spAutoFit/>
          </a:bodyPr>
          <a:lstStyle/>
          <a:p>
            <a:pPr algn="l">
              <a:spcAft>
                <a:spcPts val="800"/>
              </a:spcAft>
            </a:pPr>
            <a:r>
              <a:rPr sz="1000" b="1" i="0">
                <a:solidFill>
                  <a:srgbClr val="00A3E0"/>
                </a:solidFill>
                <a:latin typeface="Poppins"/>
              </a:rPr>
              <a:t>WHAT COMPOUNDS THE MODEL</a:t>
            </a:r>
          </a:p>
          <a:p>
            <a:pPr algn="l">
              <a:spcAft>
                <a:spcPts val="200"/>
              </a:spcAft>
            </a:pPr>
            <a:r>
              <a:rPr sz="1200" b="1" i="0">
                <a:solidFill>
                  <a:srgbClr val="FFFFFF"/>
                </a:solidFill>
                <a:latin typeface="Poppins"/>
              </a:rPr>
              <a:t>Tier mix shifts up</a:t>
            </a:r>
          </a:p>
          <a:p>
            <a:pPr algn="l">
              <a:spcAft>
                <a:spcPts val="800"/>
              </a:spcAft>
            </a:pPr>
            <a:r>
              <a:rPr sz="1000" b="0" i="0">
                <a:solidFill>
                  <a:srgbClr val="CBD2DC"/>
                </a:solidFill>
                <a:latin typeface="Poppins"/>
              </a:rPr>
              <a:t>T3 grows from 0% → 15% of clients by Y2. ARPU rises from $4.2K → $5.8K.</a:t>
            </a:r>
          </a:p>
          <a:p>
            <a:pPr algn="l">
              <a:spcAft>
                <a:spcPts val="200"/>
              </a:spcAft>
            </a:pPr>
            <a:r>
              <a:rPr sz="1200" b="1" i="0">
                <a:solidFill>
                  <a:srgbClr val="FFFFFF"/>
                </a:solidFill>
                <a:latin typeface="Poppins"/>
              </a:rPr>
              <a:t>COGS stays flat</a:t>
            </a:r>
          </a:p>
          <a:p>
            <a:pPr algn="l">
              <a:spcAft>
                <a:spcPts val="800"/>
              </a:spcAft>
            </a:pPr>
            <a:r>
              <a:rPr sz="1000" b="0" i="0">
                <a:solidFill>
                  <a:srgbClr val="CBD2DC"/>
                </a:solidFill>
                <a:latin typeface="Poppins"/>
              </a:rPr>
              <a:t>Agency plans + GHL fixed. Every incremental client boosts blended GM.</a:t>
            </a:r>
          </a:p>
          <a:p>
            <a:pPr algn="l">
              <a:spcAft>
                <a:spcPts val="200"/>
              </a:spcAft>
            </a:pPr>
            <a:r>
              <a:rPr sz="1200" b="1" i="0">
                <a:solidFill>
                  <a:srgbClr val="FFFFFF"/>
                </a:solidFill>
                <a:latin typeface="Poppins"/>
              </a:rPr>
              <a:t>NRR &gt; 110%</a:t>
            </a:r>
          </a:p>
          <a:p>
            <a:pPr algn="l"/>
            <a:r>
              <a:rPr sz="1000" b="0" i="0">
                <a:solidFill>
                  <a:srgbClr val="CBD2DC"/>
                </a:solidFill>
                <a:latin typeface="Poppins"/>
              </a:rPr>
              <a:t>T1 upgrades to T2, T2 upgrades to T3. Expansion &gt; churn.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45720" rIns="45720" tIns="18288" bIns="18288" anchor="t">
            <a:spAutoFit/>
          </a:bodyPr>
          <a:lstStyle/>
          <a:p>
            <a:pPr algn="l"/>
            <a:r>
              <a:rPr sz="1000" b="1" i="0">
                <a:solidFill>
                  <a:srgbClr val="00A3E0"/>
                </a:solidFill>
                <a:latin typeface="Poppins"/>
              </a:rPr>
              <a:t>14 · KPI DASHBOARD</a:t>
            </a:r>
          </a:p>
        </p:txBody>
      </p:sp>
      <p:sp>
        <p:nvSpPr>
          <p:cNvPr id="4" name="TextBox 3"/>
          <p:cNvSpPr txBox="1"/>
          <p:nvPr/>
        </p:nvSpPr>
        <p:spPr>
          <a:xfrm>
            <a:off x="457200" y="594360"/>
            <a:ext cx="11247120" cy="640080"/>
          </a:xfrm>
          <a:prstGeom prst="rect">
            <a:avLst/>
          </a:prstGeom>
          <a:noFill/>
        </p:spPr>
        <p:txBody>
          <a:bodyPr wrap="square" lIns="45720" rIns="45720" tIns="18288" bIns="18288" anchor="t">
            <a:spAutoFit/>
          </a:bodyPr>
          <a:lstStyle/>
          <a:p>
            <a:pPr algn="l"/>
            <a:r>
              <a:rPr sz="2800" b="1" i="0">
                <a:solidFill>
                  <a:srgbClr val="1F2A44"/>
                </a:solidFill>
                <a:latin typeface="Poppins"/>
              </a:rPr>
              <a:t>Commercial + Product/Delivery + GEO visibility.</a:t>
            </a:r>
          </a:p>
        </p:txBody>
      </p:sp>
      <p:sp>
        <p:nvSpPr>
          <p:cNvPr id="5" name="Rectangle 4"/>
          <p:cNvSpPr/>
          <p:nvPr/>
        </p:nvSpPr>
        <p:spPr>
          <a:xfrm>
            <a:off x="457200" y="1234440"/>
            <a:ext cx="914400" cy="4572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320040"/>
            <a:ext cx="640080" cy="274320"/>
          </a:xfrm>
          <a:prstGeom prst="rect">
            <a:avLst/>
          </a:prstGeom>
          <a:noFill/>
        </p:spPr>
        <p:txBody>
          <a:bodyPr wrap="square" lIns="45720" rIns="45720" tIns="18288" bIns="18288" anchor="t">
            <a:spAutoFit/>
          </a:bodyPr>
          <a:lstStyle/>
          <a:p>
            <a:pPr algn="r"/>
            <a:r>
              <a:rPr sz="900" b="1" i="0">
                <a:solidFill>
                  <a:srgbClr val="4A5568"/>
                </a:solidFill>
                <a:latin typeface="Poppins"/>
              </a:rPr>
              <a:t>15 / 18</a:t>
            </a:r>
          </a:p>
        </p:txBody>
      </p:sp>
      <p:sp>
        <p:nvSpPr>
          <p:cNvPr id="7" name="Rectangle 6"/>
          <p:cNvSpPr/>
          <p:nvPr/>
        </p:nvSpPr>
        <p:spPr>
          <a:xfrm>
            <a:off x="0" y="6720840"/>
            <a:ext cx="12191695" cy="1371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492240"/>
            <a:ext cx="3657600" cy="274320"/>
          </a:xfrm>
          <a:prstGeom prst="rect">
            <a:avLst/>
          </a:prstGeom>
          <a:noFill/>
        </p:spPr>
        <p:txBody>
          <a:bodyPr wrap="square" lIns="45720" rIns="45720" tIns="18288" bIns="18288" anchor="t">
            <a:spAutoFit/>
          </a:bodyPr>
          <a:lstStyle/>
          <a:p>
            <a:pPr algn="l"/>
            <a:r>
              <a:rPr sz="800" b="1" i="0">
                <a:solidFill>
                  <a:srgbClr val="1F2A44"/>
                </a:solidFill>
                <a:latin typeface="Poppins"/>
              </a:rPr>
              <a:t>CLOSECLINIC</a:t>
            </a:r>
          </a:p>
        </p:txBody>
      </p:sp>
      <p:sp>
        <p:nvSpPr>
          <p:cNvPr id="9" name="TextBox 8"/>
          <p:cNvSpPr txBox="1"/>
          <p:nvPr/>
        </p:nvSpPr>
        <p:spPr>
          <a:xfrm>
            <a:off x="6400800" y="6492240"/>
            <a:ext cx="5486400" cy="274320"/>
          </a:xfrm>
          <a:prstGeom prst="rect">
            <a:avLst/>
          </a:prstGeom>
          <a:noFill/>
        </p:spPr>
        <p:txBody>
          <a:bodyPr wrap="square" lIns="45720" rIns="45720" tIns="18288" bIns="18288" anchor="t">
            <a:spAutoFit/>
          </a:bodyPr>
          <a:lstStyle/>
          <a:p>
            <a:pPr algn="r"/>
            <a:r>
              <a:rPr sz="800" b="0" i="0">
                <a:solidFill>
                  <a:srgbClr val="4A5568"/>
                </a:solidFill>
                <a:latin typeface="Poppins"/>
              </a:rPr>
              <a:t>CloseClinic · Launch Plan · 2026-04-21 · p.15</a:t>
            </a:r>
          </a:p>
        </p:txBody>
      </p:sp>
      <p:sp>
        <p:nvSpPr>
          <p:cNvPr id="10" name="Rectangle 9"/>
          <p:cNvSpPr/>
          <p:nvPr/>
        </p:nvSpPr>
        <p:spPr>
          <a:xfrm>
            <a:off x="457200" y="1463040"/>
            <a:ext cx="3749039" cy="68580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148840"/>
            <a:ext cx="3749039" cy="41605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664208"/>
            <a:ext cx="3291839" cy="365760"/>
          </a:xfrm>
          <a:prstGeom prst="rect">
            <a:avLst/>
          </a:prstGeom>
          <a:noFill/>
        </p:spPr>
        <p:txBody>
          <a:bodyPr wrap="square" lIns="45720" rIns="45720" tIns="18288" bIns="18288" anchor="t">
            <a:spAutoFit/>
          </a:bodyPr>
          <a:lstStyle/>
          <a:p>
            <a:pPr algn="l"/>
            <a:r>
              <a:rPr sz="1400" b="1" i="0">
                <a:solidFill>
                  <a:srgbClr val="FFFFFF"/>
                </a:solidFill>
                <a:latin typeface="Poppins"/>
              </a:rPr>
              <a:t>COMMERCIAL</a:t>
            </a:r>
          </a:p>
        </p:txBody>
      </p:sp>
      <p:sp>
        <p:nvSpPr>
          <p:cNvPr id="13" name="Rectangle 12"/>
          <p:cNvSpPr/>
          <p:nvPr/>
        </p:nvSpPr>
        <p:spPr>
          <a:xfrm>
            <a:off x="685800" y="2377440"/>
            <a:ext cx="3291839"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2377440"/>
            <a:ext cx="54864" cy="713232"/>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450592"/>
            <a:ext cx="3108959" cy="256032"/>
          </a:xfrm>
          <a:prstGeom prst="rect">
            <a:avLst/>
          </a:prstGeom>
          <a:noFill/>
        </p:spPr>
        <p:txBody>
          <a:bodyPr wrap="square" lIns="45720" rIns="45720" tIns="18288" bIns="18288" anchor="t">
            <a:spAutoFit/>
          </a:bodyPr>
          <a:lstStyle/>
          <a:p>
            <a:pPr algn="l"/>
            <a:r>
              <a:rPr sz="1000" b="1" i="0">
                <a:solidFill>
                  <a:srgbClr val="1F2A44"/>
                </a:solidFill>
                <a:latin typeface="Poppins"/>
              </a:rPr>
              <a:t>MRR · ARR · Net new MRR</a:t>
            </a:r>
          </a:p>
        </p:txBody>
      </p:sp>
      <p:sp>
        <p:nvSpPr>
          <p:cNvPr id="16" name="TextBox 15"/>
          <p:cNvSpPr txBox="1"/>
          <p:nvPr/>
        </p:nvSpPr>
        <p:spPr>
          <a:xfrm>
            <a:off x="822960" y="2697480"/>
            <a:ext cx="1828800" cy="228600"/>
          </a:xfrm>
          <a:prstGeom prst="rect">
            <a:avLst/>
          </a:prstGeom>
          <a:noFill/>
        </p:spPr>
        <p:txBody>
          <a:bodyPr wrap="square" lIns="45720" rIns="45720" tIns="18288" bIns="18288" anchor="t">
            <a:spAutoFit/>
          </a:bodyPr>
          <a:lstStyle/>
          <a:p>
            <a:pPr algn="l"/>
            <a:r>
              <a:rPr sz="700" b="1" i="0">
                <a:solidFill>
                  <a:srgbClr val="4A5568"/>
                </a:solidFill>
                <a:latin typeface="Poppins"/>
              </a:rPr>
              <a:t>TARGET</a:t>
            </a:r>
          </a:p>
        </p:txBody>
      </p:sp>
      <p:sp>
        <p:nvSpPr>
          <p:cNvPr id="17" name="TextBox 16"/>
          <p:cNvSpPr txBox="1"/>
          <p:nvPr/>
        </p:nvSpPr>
        <p:spPr>
          <a:xfrm>
            <a:off x="822960" y="2852928"/>
            <a:ext cx="3108959" cy="228600"/>
          </a:xfrm>
          <a:prstGeom prst="rect">
            <a:avLst/>
          </a:prstGeom>
          <a:noFill/>
        </p:spPr>
        <p:txBody>
          <a:bodyPr wrap="square" lIns="45720" rIns="45720" tIns="18288" bIns="18288" anchor="t">
            <a:spAutoFit/>
          </a:bodyPr>
          <a:lstStyle/>
          <a:p>
            <a:pPr algn="l"/>
            <a:r>
              <a:rPr sz="1000" b="1" i="0">
                <a:solidFill>
                  <a:srgbClr val="00A3E0"/>
                </a:solidFill>
                <a:latin typeface="Poppins"/>
              </a:rPr>
              <a:t>$435K by Dec'26</a:t>
            </a:r>
          </a:p>
        </p:txBody>
      </p:sp>
      <p:sp>
        <p:nvSpPr>
          <p:cNvPr id="18" name="Rectangle 17"/>
          <p:cNvSpPr/>
          <p:nvPr/>
        </p:nvSpPr>
        <p:spPr>
          <a:xfrm>
            <a:off x="685800" y="3182112"/>
            <a:ext cx="3291839"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3182112"/>
            <a:ext cx="54864" cy="713232"/>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255264"/>
            <a:ext cx="3108959" cy="256032"/>
          </a:xfrm>
          <a:prstGeom prst="rect">
            <a:avLst/>
          </a:prstGeom>
          <a:noFill/>
        </p:spPr>
        <p:txBody>
          <a:bodyPr wrap="square" lIns="45720" rIns="45720" tIns="18288" bIns="18288" anchor="t">
            <a:spAutoFit/>
          </a:bodyPr>
          <a:lstStyle/>
          <a:p>
            <a:pPr algn="l"/>
            <a:r>
              <a:rPr sz="1000" b="1" i="0">
                <a:solidFill>
                  <a:srgbClr val="1F2A44"/>
                </a:solidFill>
                <a:latin typeface="Poppins"/>
              </a:rPr>
              <a:t>Logo churn / GDR / NDR</a:t>
            </a:r>
          </a:p>
        </p:txBody>
      </p:sp>
      <p:sp>
        <p:nvSpPr>
          <p:cNvPr id="21" name="TextBox 20"/>
          <p:cNvSpPr txBox="1"/>
          <p:nvPr/>
        </p:nvSpPr>
        <p:spPr>
          <a:xfrm>
            <a:off x="822960" y="3502152"/>
            <a:ext cx="1828800" cy="228600"/>
          </a:xfrm>
          <a:prstGeom prst="rect">
            <a:avLst/>
          </a:prstGeom>
          <a:noFill/>
        </p:spPr>
        <p:txBody>
          <a:bodyPr wrap="square" lIns="45720" rIns="45720" tIns="18288" bIns="18288" anchor="t">
            <a:spAutoFit/>
          </a:bodyPr>
          <a:lstStyle/>
          <a:p>
            <a:pPr algn="l"/>
            <a:r>
              <a:rPr sz="700" b="1" i="0">
                <a:solidFill>
                  <a:srgbClr val="4A5568"/>
                </a:solidFill>
                <a:latin typeface="Poppins"/>
              </a:rPr>
              <a:t>TARGET</a:t>
            </a:r>
          </a:p>
        </p:txBody>
      </p:sp>
      <p:sp>
        <p:nvSpPr>
          <p:cNvPr id="22" name="TextBox 21"/>
          <p:cNvSpPr txBox="1"/>
          <p:nvPr/>
        </p:nvSpPr>
        <p:spPr>
          <a:xfrm>
            <a:off x="822960" y="3657600"/>
            <a:ext cx="3108959" cy="228600"/>
          </a:xfrm>
          <a:prstGeom prst="rect">
            <a:avLst/>
          </a:prstGeom>
          <a:noFill/>
        </p:spPr>
        <p:txBody>
          <a:bodyPr wrap="square" lIns="45720" rIns="45720" tIns="18288" bIns="18288" anchor="t">
            <a:spAutoFit/>
          </a:bodyPr>
          <a:lstStyle/>
          <a:p>
            <a:pPr algn="l"/>
            <a:r>
              <a:rPr sz="1000" b="1" i="0">
                <a:solidFill>
                  <a:srgbClr val="00A3E0"/>
                </a:solidFill>
                <a:latin typeface="Poppins"/>
              </a:rPr>
              <a:t>&lt;3% monthly / &gt;95% / &gt;110%</a:t>
            </a:r>
          </a:p>
        </p:txBody>
      </p:sp>
      <p:sp>
        <p:nvSpPr>
          <p:cNvPr id="23" name="Rectangle 22"/>
          <p:cNvSpPr/>
          <p:nvPr/>
        </p:nvSpPr>
        <p:spPr>
          <a:xfrm>
            <a:off x="685800" y="3986784"/>
            <a:ext cx="3291839"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 y="3986784"/>
            <a:ext cx="54864" cy="713232"/>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059936"/>
            <a:ext cx="3108959" cy="256032"/>
          </a:xfrm>
          <a:prstGeom prst="rect">
            <a:avLst/>
          </a:prstGeom>
          <a:noFill/>
        </p:spPr>
        <p:txBody>
          <a:bodyPr wrap="square" lIns="45720" rIns="45720" tIns="18288" bIns="18288" anchor="t">
            <a:spAutoFit/>
          </a:bodyPr>
          <a:lstStyle/>
          <a:p>
            <a:pPr algn="l"/>
            <a:r>
              <a:rPr sz="1000" b="1" i="0">
                <a:solidFill>
                  <a:srgbClr val="1F2A44"/>
                </a:solidFill>
                <a:latin typeface="Poppins"/>
              </a:rPr>
              <a:t>CAC · Payback · LTV:CAC</a:t>
            </a:r>
          </a:p>
        </p:txBody>
      </p:sp>
      <p:sp>
        <p:nvSpPr>
          <p:cNvPr id="26" name="TextBox 25"/>
          <p:cNvSpPr txBox="1"/>
          <p:nvPr/>
        </p:nvSpPr>
        <p:spPr>
          <a:xfrm>
            <a:off x="822960" y="4306824"/>
            <a:ext cx="1828800" cy="228600"/>
          </a:xfrm>
          <a:prstGeom prst="rect">
            <a:avLst/>
          </a:prstGeom>
          <a:noFill/>
        </p:spPr>
        <p:txBody>
          <a:bodyPr wrap="square" lIns="45720" rIns="45720" tIns="18288" bIns="18288" anchor="t">
            <a:spAutoFit/>
          </a:bodyPr>
          <a:lstStyle/>
          <a:p>
            <a:pPr algn="l"/>
            <a:r>
              <a:rPr sz="700" b="1" i="0">
                <a:solidFill>
                  <a:srgbClr val="4A5568"/>
                </a:solidFill>
                <a:latin typeface="Poppins"/>
              </a:rPr>
              <a:t>TARGET</a:t>
            </a:r>
          </a:p>
        </p:txBody>
      </p:sp>
      <p:sp>
        <p:nvSpPr>
          <p:cNvPr id="27" name="TextBox 26"/>
          <p:cNvSpPr txBox="1"/>
          <p:nvPr/>
        </p:nvSpPr>
        <p:spPr>
          <a:xfrm>
            <a:off x="822960" y="4462272"/>
            <a:ext cx="3108959" cy="228600"/>
          </a:xfrm>
          <a:prstGeom prst="rect">
            <a:avLst/>
          </a:prstGeom>
          <a:noFill/>
        </p:spPr>
        <p:txBody>
          <a:bodyPr wrap="square" lIns="45720" rIns="45720" tIns="18288" bIns="18288" anchor="t">
            <a:spAutoFit/>
          </a:bodyPr>
          <a:lstStyle/>
          <a:p>
            <a:pPr algn="l"/>
            <a:r>
              <a:rPr sz="1000" b="1" i="0">
                <a:solidFill>
                  <a:srgbClr val="00A3E0"/>
                </a:solidFill>
                <a:latin typeface="Poppins"/>
              </a:rPr>
              <a:t>&lt;$5K / &lt;6mo / 4:1+</a:t>
            </a:r>
          </a:p>
        </p:txBody>
      </p:sp>
      <p:sp>
        <p:nvSpPr>
          <p:cNvPr id="28" name="Rectangle 27"/>
          <p:cNvSpPr/>
          <p:nvPr/>
        </p:nvSpPr>
        <p:spPr>
          <a:xfrm>
            <a:off x="685800" y="4791456"/>
            <a:ext cx="3291839"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 y="4791456"/>
            <a:ext cx="54864" cy="713232"/>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864608"/>
            <a:ext cx="3108959" cy="256032"/>
          </a:xfrm>
          <a:prstGeom prst="rect">
            <a:avLst/>
          </a:prstGeom>
          <a:noFill/>
        </p:spPr>
        <p:txBody>
          <a:bodyPr wrap="square" lIns="45720" rIns="45720" tIns="18288" bIns="18288" anchor="t">
            <a:spAutoFit/>
          </a:bodyPr>
          <a:lstStyle/>
          <a:p>
            <a:pPr algn="l"/>
            <a:r>
              <a:rPr sz="1000" b="1" i="0">
                <a:solidFill>
                  <a:srgbClr val="1F2A44"/>
                </a:solidFill>
                <a:latin typeface="Poppins"/>
              </a:rPr>
              <a:t>Win rate · Sales cycle</a:t>
            </a:r>
          </a:p>
        </p:txBody>
      </p:sp>
      <p:sp>
        <p:nvSpPr>
          <p:cNvPr id="31" name="TextBox 30"/>
          <p:cNvSpPr txBox="1"/>
          <p:nvPr/>
        </p:nvSpPr>
        <p:spPr>
          <a:xfrm>
            <a:off x="822960" y="5111496"/>
            <a:ext cx="1828800" cy="228600"/>
          </a:xfrm>
          <a:prstGeom prst="rect">
            <a:avLst/>
          </a:prstGeom>
          <a:noFill/>
        </p:spPr>
        <p:txBody>
          <a:bodyPr wrap="square" lIns="45720" rIns="45720" tIns="18288" bIns="18288" anchor="t">
            <a:spAutoFit/>
          </a:bodyPr>
          <a:lstStyle/>
          <a:p>
            <a:pPr algn="l"/>
            <a:r>
              <a:rPr sz="700" b="1" i="0">
                <a:solidFill>
                  <a:srgbClr val="4A5568"/>
                </a:solidFill>
                <a:latin typeface="Poppins"/>
              </a:rPr>
              <a:t>TARGET</a:t>
            </a:r>
          </a:p>
        </p:txBody>
      </p:sp>
      <p:sp>
        <p:nvSpPr>
          <p:cNvPr id="32" name="TextBox 31"/>
          <p:cNvSpPr txBox="1"/>
          <p:nvPr/>
        </p:nvSpPr>
        <p:spPr>
          <a:xfrm>
            <a:off x="822960" y="5266944"/>
            <a:ext cx="3108959" cy="228600"/>
          </a:xfrm>
          <a:prstGeom prst="rect">
            <a:avLst/>
          </a:prstGeom>
          <a:noFill/>
        </p:spPr>
        <p:txBody>
          <a:bodyPr wrap="square" lIns="45720" rIns="45720" tIns="18288" bIns="18288" anchor="t">
            <a:spAutoFit/>
          </a:bodyPr>
          <a:lstStyle/>
          <a:p>
            <a:pPr algn="l"/>
            <a:r>
              <a:rPr sz="1000" b="1" i="0">
                <a:solidFill>
                  <a:srgbClr val="00A3E0"/>
                </a:solidFill>
                <a:latin typeface="Poppins"/>
              </a:rPr>
              <a:t>&gt;35% / &lt;21 days</a:t>
            </a:r>
          </a:p>
        </p:txBody>
      </p:sp>
      <p:sp>
        <p:nvSpPr>
          <p:cNvPr id="33" name="Rectangle 32"/>
          <p:cNvSpPr/>
          <p:nvPr/>
        </p:nvSpPr>
        <p:spPr>
          <a:xfrm>
            <a:off x="685800" y="5596128"/>
            <a:ext cx="3291839"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85800" y="5596128"/>
            <a:ext cx="54864" cy="713232"/>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5669280"/>
            <a:ext cx="3108959" cy="256032"/>
          </a:xfrm>
          <a:prstGeom prst="rect">
            <a:avLst/>
          </a:prstGeom>
          <a:noFill/>
        </p:spPr>
        <p:txBody>
          <a:bodyPr wrap="square" lIns="45720" rIns="45720" tIns="18288" bIns="18288" anchor="t">
            <a:spAutoFit/>
          </a:bodyPr>
          <a:lstStyle/>
          <a:p>
            <a:pPr algn="l"/>
            <a:r>
              <a:rPr sz="1000" b="1" i="0">
                <a:solidFill>
                  <a:srgbClr val="1F2A44"/>
                </a:solidFill>
                <a:latin typeface="Poppins"/>
              </a:rPr>
              <a:t>Upsell rate T1→T2→T3</a:t>
            </a:r>
          </a:p>
        </p:txBody>
      </p:sp>
      <p:sp>
        <p:nvSpPr>
          <p:cNvPr id="36" name="TextBox 35"/>
          <p:cNvSpPr txBox="1"/>
          <p:nvPr/>
        </p:nvSpPr>
        <p:spPr>
          <a:xfrm>
            <a:off x="822960" y="5916168"/>
            <a:ext cx="1828800" cy="228600"/>
          </a:xfrm>
          <a:prstGeom prst="rect">
            <a:avLst/>
          </a:prstGeom>
          <a:noFill/>
        </p:spPr>
        <p:txBody>
          <a:bodyPr wrap="square" lIns="45720" rIns="45720" tIns="18288" bIns="18288" anchor="t">
            <a:spAutoFit/>
          </a:bodyPr>
          <a:lstStyle/>
          <a:p>
            <a:pPr algn="l"/>
            <a:r>
              <a:rPr sz="700" b="1" i="0">
                <a:solidFill>
                  <a:srgbClr val="4A5568"/>
                </a:solidFill>
                <a:latin typeface="Poppins"/>
              </a:rPr>
              <a:t>TARGET</a:t>
            </a:r>
          </a:p>
        </p:txBody>
      </p:sp>
      <p:sp>
        <p:nvSpPr>
          <p:cNvPr id="37" name="TextBox 36"/>
          <p:cNvSpPr txBox="1"/>
          <p:nvPr/>
        </p:nvSpPr>
        <p:spPr>
          <a:xfrm>
            <a:off x="822960" y="6071616"/>
            <a:ext cx="3108959" cy="228600"/>
          </a:xfrm>
          <a:prstGeom prst="rect">
            <a:avLst/>
          </a:prstGeom>
          <a:noFill/>
        </p:spPr>
        <p:txBody>
          <a:bodyPr wrap="square" lIns="45720" rIns="45720" tIns="18288" bIns="18288" anchor="t">
            <a:spAutoFit/>
          </a:bodyPr>
          <a:lstStyle/>
          <a:p>
            <a:pPr algn="l"/>
            <a:r>
              <a:rPr sz="1000" b="1" i="0">
                <a:solidFill>
                  <a:srgbClr val="00A3E0"/>
                </a:solidFill>
                <a:latin typeface="Poppins"/>
              </a:rPr>
              <a:t>20% quarterly</a:t>
            </a:r>
          </a:p>
        </p:txBody>
      </p:sp>
      <p:sp>
        <p:nvSpPr>
          <p:cNvPr id="38" name="Rectangle 37"/>
          <p:cNvSpPr/>
          <p:nvPr/>
        </p:nvSpPr>
        <p:spPr>
          <a:xfrm>
            <a:off x="4343399" y="1463040"/>
            <a:ext cx="3749039" cy="6858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343399" y="2148840"/>
            <a:ext cx="3749039" cy="41605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1999" y="1664208"/>
            <a:ext cx="3291839" cy="365760"/>
          </a:xfrm>
          <a:prstGeom prst="rect">
            <a:avLst/>
          </a:prstGeom>
          <a:noFill/>
        </p:spPr>
        <p:txBody>
          <a:bodyPr wrap="square" lIns="45720" rIns="45720" tIns="18288" bIns="18288" anchor="t">
            <a:spAutoFit/>
          </a:bodyPr>
          <a:lstStyle/>
          <a:p>
            <a:pPr algn="l"/>
            <a:r>
              <a:rPr sz="1400" b="1" i="0">
                <a:solidFill>
                  <a:srgbClr val="FFFFFF"/>
                </a:solidFill>
                <a:latin typeface="Poppins"/>
              </a:rPr>
              <a:t>PRODUCT / DELIVERY</a:t>
            </a:r>
          </a:p>
        </p:txBody>
      </p:sp>
      <p:sp>
        <p:nvSpPr>
          <p:cNvPr id="41" name="Rectangle 40"/>
          <p:cNvSpPr/>
          <p:nvPr/>
        </p:nvSpPr>
        <p:spPr>
          <a:xfrm>
            <a:off x="4571999" y="2377440"/>
            <a:ext cx="3291839"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571999" y="2377440"/>
            <a:ext cx="54864" cy="713232"/>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09159" y="2450592"/>
            <a:ext cx="3108959" cy="256032"/>
          </a:xfrm>
          <a:prstGeom prst="rect">
            <a:avLst/>
          </a:prstGeom>
          <a:noFill/>
        </p:spPr>
        <p:txBody>
          <a:bodyPr wrap="square" lIns="45720" rIns="45720" tIns="18288" bIns="18288" anchor="t">
            <a:spAutoFit/>
          </a:bodyPr>
          <a:lstStyle/>
          <a:p>
            <a:pPr algn="l"/>
            <a:r>
              <a:rPr sz="1000" b="1" i="0">
                <a:solidFill>
                  <a:srgbClr val="1F2A44"/>
                </a:solidFill>
                <a:latin typeface="Poppins"/>
              </a:rPr>
              <a:t>Client NPS</a:t>
            </a:r>
          </a:p>
        </p:txBody>
      </p:sp>
      <p:sp>
        <p:nvSpPr>
          <p:cNvPr id="44" name="TextBox 43"/>
          <p:cNvSpPr txBox="1"/>
          <p:nvPr/>
        </p:nvSpPr>
        <p:spPr>
          <a:xfrm>
            <a:off x="4709159" y="2697480"/>
            <a:ext cx="1828800" cy="228600"/>
          </a:xfrm>
          <a:prstGeom prst="rect">
            <a:avLst/>
          </a:prstGeom>
          <a:noFill/>
        </p:spPr>
        <p:txBody>
          <a:bodyPr wrap="square" lIns="45720" rIns="45720" tIns="18288" bIns="18288" anchor="t">
            <a:spAutoFit/>
          </a:bodyPr>
          <a:lstStyle/>
          <a:p>
            <a:pPr algn="l"/>
            <a:r>
              <a:rPr sz="700" b="1" i="0">
                <a:solidFill>
                  <a:srgbClr val="4A5568"/>
                </a:solidFill>
                <a:latin typeface="Poppins"/>
              </a:rPr>
              <a:t>TARGET</a:t>
            </a:r>
          </a:p>
        </p:txBody>
      </p:sp>
      <p:sp>
        <p:nvSpPr>
          <p:cNvPr id="45" name="TextBox 44"/>
          <p:cNvSpPr txBox="1"/>
          <p:nvPr/>
        </p:nvSpPr>
        <p:spPr>
          <a:xfrm>
            <a:off x="4709159" y="2852928"/>
            <a:ext cx="3108959" cy="228600"/>
          </a:xfrm>
          <a:prstGeom prst="rect">
            <a:avLst/>
          </a:prstGeom>
          <a:noFill/>
        </p:spPr>
        <p:txBody>
          <a:bodyPr wrap="square" lIns="45720" rIns="45720" tIns="18288" bIns="18288" anchor="t">
            <a:spAutoFit/>
          </a:bodyPr>
          <a:lstStyle/>
          <a:p>
            <a:pPr algn="l"/>
            <a:r>
              <a:rPr sz="1000" b="1" i="0">
                <a:solidFill>
                  <a:srgbClr val="1F2A44"/>
                </a:solidFill>
                <a:latin typeface="Poppins"/>
              </a:rPr>
              <a:t>70+</a:t>
            </a:r>
          </a:p>
        </p:txBody>
      </p:sp>
      <p:sp>
        <p:nvSpPr>
          <p:cNvPr id="46" name="Rectangle 45"/>
          <p:cNvSpPr/>
          <p:nvPr/>
        </p:nvSpPr>
        <p:spPr>
          <a:xfrm>
            <a:off x="4571999" y="3182112"/>
            <a:ext cx="3291839"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571999" y="3182112"/>
            <a:ext cx="54864" cy="713232"/>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709159" y="3255264"/>
            <a:ext cx="3108959" cy="256032"/>
          </a:xfrm>
          <a:prstGeom prst="rect">
            <a:avLst/>
          </a:prstGeom>
          <a:noFill/>
        </p:spPr>
        <p:txBody>
          <a:bodyPr wrap="square" lIns="45720" rIns="45720" tIns="18288" bIns="18288" anchor="t">
            <a:spAutoFit/>
          </a:bodyPr>
          <a:lstStyle/>
          <a:p>
            <a:pPr algn="l"/>
            <a:r>
              <a:rPr sz="1000" b="1" i="0">
                <a:solidFill>
                  <a:srgbClr val="1F2A44"/>
                </a:solidFill>
                <a:latin typeface="Poppins"/>
              </a:rPr>
              <a:t>Time to first value</a:t>
            </a:r>
          </a:p>
        </p:txBody>
      </p:sp>
      <p:sp>
        <p:nvSpPr>
          <p:cNvPr id="49" name="TextBox 48"/>
          <p:cNvSpPr txBox="1"/>
          <p:nvPr/>
        </p:nvSpPr>
        <p:spPr>
          <a:xfrm>
            <a:off x="4709159" y="3502152"/>
            <a:ext cx="1828800" cy="228600"/>
          </a:xfrm>
          <a:prstGeom prst="rect">
            <a:avLst/>
          </a:prstGeom>
          <a:noFill/>
        </p:spPr>
        <p:txBody>
          <a:bodyPr wrap="square" lIns="45720" rIns="45720" tIns="18288" bIns="18288" anchor="t">
            <a:spAutoFit/>
          </a:bodyPr>
          <a:lstStyle/>
          <a:p>
            <a:pPr algn="l"/>
            <a:r>
              <a:rPr sz="700" b="1" i="0">
                <a:solidFill>
                  <a:srgbClr val="4A5568"/>
                </a:solidFill>
                <a:latin typeface="Poppins"/>
              </a:rPr>
              <a:t>TARGET</a:t>
            </a:r>
          </a:p>
        </p:txBody>
      </p:sp>
      <p:sp>
        <p:nvSpPr>
          <p:cNvPr id="50" name="TextBox 49"/>
          <p:cNvSpPr txBox="1"/>
          <p:nvPr/>
        </p:nvSpPr>
        <p:spPr>
          <a:xfrm>
            <a:off x="4709159" y="3657600"/>
            <a:ext cx="3108959" cy="228600"/>
          </a:xfrm>
          <a:prstGeom prst="rect">
            <a:avLst/>
          </a:prstGeom>
          <a:noFill/>
        </p:spPr>
        <p:txBody>
          <a:bodyPr wrap="square" lIns="45720" rIns="45720" tIns="18288" bIns="18288" anchor="t">
            <a:spAutoFit/>
          </a:bodyPr>
          <a:lstStyle/>
          <a:p>
            <a:pPr algn="l"/>
            <a:r>
              <a:rPr sz="1000" b="1" i="0">
                <a:solidFill>
                  <a:srgbClr val="1F2A44"/>
                </a:solidFill>
                <a:latin typeface="Poppins"/>
              </a:rPr>
              <a:t>&lt;14 days</a:t>
            </a:r>
          </a:p>
        </p:txBody>
      </p:sp>
      <p:sp>
        <p:nvSpPr>
          <p:cNvPr id="51" name="Rectangle 50"/>
          <p:cNvSpPr/>
          <p:nvPr/>
        </p:nvSpPr>
        <p:spPr>
          <a:xfrm>
            <a:off x="4571999" y="3986784"/>
            <a:ext cx="3291839"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571999" y="3986784"/>
            <a:ext cx="54864" cy="713232"/>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709159" y="4059936"/>
            <a:ext cx="3108959" cy="256032"/>
          </a:xfrm>
          <a:prstGeom prst="rect">
            <a:avLst/>
          </a:prstGeom>
          <a:noFill/>
        </p:spPr>
        <p:txBody>
          <a:bodyPr wrap="square" lIns="45720" rIns="45720" tIns="18288" bIns="18288" anchor="t">
            <a:spAutoFit/>
          </a:bodyPr>
          <a:lstStyle/>
          <a:p>
            <a:pPr algn="l"/>
            <a:r>
              <a:rPr sz="1000" b="1" i="0">
                <a:solidFill>
                  <a:srgbClr val="1F2A44"/>
                </a:solidFill>
                <a:latin typeface="Poppins"/>
              </a:rPr>
              <a:t>AI receptionist answer rate</a:t>
            </a:r>
          </a:p>
        </p:txBody>
      </p:sp>
      <p:sp>
        <p:nvSpPr>
          <p:cNvPr id="54" name="TextBox 53"/>
          <p:cNvSpPr txBox="1"/>
          <p:nvPr/>
        </p:nvSpPr>
        <p:spPr>
          <a:xfrm>
            <a:off x="4709159" y="4306824"/>
            <a:ext cx="1828800" cy="228600"/>
          </a:xfrm>
          <a:prstGeom prst="rect">
            <a:avLst/>
          </a:prstGeom>
          <a:noFill/>
        </p:spPr>
        <p:txBody>
          <a:bodyPr wrap="square" lIns="45720" rIns="45720" tIns="18288" bIns="18288" anchor="t">
            <a:spAutoFit/>
          </a:bodyPr>
          <a:lstStyle/>
          <a:p>
            <a:pPr algn="l"/>
            <a:r>
              <a:rPr sz="700" b="1" i="0">
                <a:solidFill>
                  <a:srgbClr val="4A5568"/>
                </a:solidFill>
                <a:latin typeface="Poppins"/>
              </a:rPr>
              <a:t>TARGET</a:t>
            </a:r>
          </a:p>
        </p:txBody>
      </p:sp>
      <p:sp>
        <p:nvSpPr>
          <p:cNvPr id="55" name="TextBox 54"/>
          <p:cNvSpPr txBox="1"/>
          <p:nvPr/>
        </p:nvSpPr>
        <p:spPr>
          <a:xfrm>
            <a:off x="4709159" y="4462272"/>
            <a:ext cx="3108959" cy="228600"/>
          </a:xfrm>
          <a:prstGeom prst="rect">
            <a:avLst/>
          </a:prstGeom>
          <a:noFill/>
        </p:spPr>
        <p:txBody>
          <a:bodyPr wrap="square" lIns="45720" rIns="45720" tIns="18288" bIns="18288" anchor="t">
            <a:spAutoFit/>
          </a:bodyPr>
          <a:lstStyle/>
          <a:p>
            <a:pPr algn="l"/>
            <a:r>
              <a:rPr sz="1000" b="1" i="0">
                <a:solidFill>
                  <a:srgbClr val="1F2A44"/>
                </a:solidFill>
                <a:latin typeface="Poppins"/>
              </a:rPr>
              <a:t>95%+</a:t>
            </a:r>
          </a:p>
        </p:txBody>
      </p:sp>
      <p:sp>
        <p:nvSpPr>
          <p:cNvPr id="56" name="Rectangle 55"/>
          <p:cNvSpPr/>
          <p:nvPr/>
        </p:nvSpPr>
        <p:spPr>
          <a:xfrm>
            <a:off x="4571999" y="4791456"/>
            <a:ext cx="3291839"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571999" y="4791456"/>
            <a:ext cx="54864" cy="713232"/>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709159" y="4864608"/>
            <a:ext cx="3108959" cy="256032"/>
          </a:xfrm>
          <a:prstGeom prst="rect">
            <a:avLst/>
          </a:prstGeom>
          <a:noFill/>
        </p:spPr>
        <p:txBody>
          <a:bodyPr wrap="square" lIns="45720" rIns="45720" tIns="18288" bIns="18288" anchor="t">
            <a:spAutoFit/>
          </a:bodyPr>
          <a:lstStyle/>
          <a:p>
            <a:pPr algn="l"/>
            <a:r>
              <a:rPr sz="1000" b="1" i="0">
                <a:solidFill>
                  <a:srgbClr val="1F2A44"/>
                </a:solidFill>
                <a:latin typeface="Poppins"/>
              </a:rPr>
              <a:t>AI-to-appointment conversion</a:t>
            </a:r>
          </a:p>
        </p:txBody>
      </p:sp>
      <p:sp>
        <p:nvSpPr>
          <p:cNvPr id="59" name="TextBox 58"/>
          <p:cNvSpPr txBox="1"/>
          <p:nvPr/>
        </p:nvSpPr>
        <p:spPr>
          <a:xfrm>
            <a:off x="4709159" y="5111496"/>
            <a:ext cx="1828800" cy="228600"/>
          </a:xfrm>
          <a:prstGeom prst="rect">
            <a:avLst/>
          </a:prstGeom>
          <a:noFill/>
        </p:spPr>
        <p:txBody>
          <a:bodyPr wrap="square" lIns="45720" rIns="45720" tIns="18288" bIns="18288" anchor="t">
            <a:spAutoFit/>
          </a:bodyPr>
          <a:lstStyle/>
          <a:p>
            <a:pPr algn="l"/>
            <a:r>
              <a:rPr sz="700" b="1" i="0">
                <a:solidFill>
                  <a:srgbClr val="4A5568"/>
                </a:solidFill>
                <a:latin typeface="Poppins"/>
              </a:rPr>
              <a:t>TARGET</a:t>
            </a:r>
          </a:p>
        </p:txBody>
      </p:sp>
      <p:sp>
        <p:nvSpPr>
          <p:cNvPr id="60" name="TextBox 59"/>
          <p:cNvSpPr txBox="1"/>
          <p:nvPr/>
        </p:nvSpPr>
        <p:spPr>
          <a:xfrm>
            <a:off x="4709159" y="5266944"/>
            <a:ext cx="3108959" cy="228600"/>
          </a:xfrm>
          <a:prstGeom prst="rect">
            <a:avLst/>
          </a:prstGeom>
          <a:noFill/>
        </p:spPr>
        <p:txBody>
          <a:bodyPr wrap="square" lIns="45720" rIns="45720" tIns="18288" bIns="18288" anchor="t">
            <a:spAutoFit/>
          </a:bodyPr>
          <a:lstStyle/>
          <a:p>
            <a:pPr algn="l"/>
            <a:r>
              <a:rPr sz="1000" b="1" i="0">
                <a:solidFill>
                  <a:srgbClr val="1F2A44"/>
                </a:solidFill>
                <a:latin typeface="Poppins"/>
              </a:rPr>
              <a:t>28%+</a:t>
            </a:r>
          </a:p>
        </p:txBody>
      </p:sp>
      <p:sp>
        <p:nvSpPr>
          <p:cNvPr id="61" name="Rectangle 60"/>
          <p:cNvSpPr/>
          <p:nvPr/>
        </p:nvSpPr>
        <p:spPr>
          <a:xfrm>
            <a:off x="4571999" y="5596128"/>
            <a:ext cx="3291839"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4571999" y="5596128"/>
            <a:ext cx="54864" cy="713232"/>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709159" y="5669280"/>
            <a:ext cx="3108959" cy="256032"/>
          </a:xfrm>
          <a:prstGeom prst="rect">
            <a:avLst/>
          </a:prstGeom>
          <a:noFill/>
        </p:spPr>
        <p:txBody>
          <a:bodyPr wrap="square" lIns="45720" rIns="45720" tIns="18288" bIns="18288" anchor="t">
            <a:spAutoFit/>
          </a:bodyPr>
          <a:lstStyle/>
          <a:p>
            <a:pPr algn="l"/>
            <a:r>
              <a:rPr sz="1000" b="1" i="0">
                <a:solidFill>
                  <a:srgbClr val="1F2A44"/>
                </a:solidFill>
                <a:latin typeface="Poppins"/>
              </a:rPr>
              <a:t>Case studies shipped</a:t>
            </a:r>
          </a:p>
        </p:txBody>
      </p:sp>
      <p:sp>
        <p:nvSpPr>
          <p:cNvPr id="64" name="TextBox 63"/>
          <p:cNvSpPr txBox="1"/>
          <p:nvPr/>
        </p:nvSpPr>
        <p:spPr>
          <a:xfrm>
            <a:off x="4709159" y="5916168"/>
            <a:ext cx="1828800" cy="228600"/>
          </a:xfrm>
          <a:prstGeom prst="rect">
            <a:avLst/>
          </a:prstGeom>
          <a:noFill/>
        </p:spPr>
        <p:txBody>
          <a:bodyPr wrap="square" lIns="45720" rIns="45720" tIns="18288" bIns="18288" anchor="t">
            <a:spAutoFit/>
          </a:bodyPr>
          <a:lstStyle/>
          <a:p>
            <a:pPr algn="l"/>
            <a:r>
              <a:rPr sz="700" b="1" i="0">
                <a:solidFill>
                  <a:srgbClr val="4A5568"/>
                </a:solidFill>
                <a:latin typeface="Poppins"/>
              </a:rPr>
              <a:t>TARGET</a:t>
            </a:r>
          </a:p>
        </p:txBody>
      </p:sp>
      <p:sp>
        <p:nvSpPr>
          <p:cNvPr id="65" name="TextBox 64"/>
          <p:cNvSpPr txBox="1"/>
          <p:nvPr/>
        </p:nvSpPr>
        <p:spPr>
          <a:xfrm>
            <a:off x="4709159" y="6071616"/>
            <a:ext cx="3108959" cy="228600"/>
          </a:xfrm>
          <a:prstGeom prst="rect">
            <a:avLst/>
          </a:prstGeom>
          <a:noFill/>
        </p:spPr>
        <p:txBody>
          <a:bodyPr wrap="square" lIns="45720" rIns="45720" tIns="18288" bIns="18288" anchor="t">
            <a:spAutoFit/>
          </a:bodyPr>
          <a:lstStyle/>
          <a:p>
            <a:pPr algn="l"/>
            <a:r>
              <a:rPr sz="1000" b="1" i="0">
                <a:solidFill>
                  <a:srgbClr val="1F2A44"/>
                </a:solidFill>
                <a:latin typeface="Poppins"/>
              </a:rPr>
              <a:t>3+ per quarter</a:t>
            </a:r>
          </a:p>
        </p:txBody>
      </p:sp>
      <p:sp>
        <p:nvSpPr>
          <p:cNvPr id="66" name="Rectangle 65"/>
          <p:cNvSpPr/>
          <p:nvPr/>
        </p:nvSpPr>
        <p:spPr>
          <a:xfrm>
            <a:off x="8229598" y="1463040"/>
            <a:ext cx="3749039" cy="68580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8229598" y="2148840"/>
            <a:ext cx="3749039" cy="41605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458198" y="1664208"/>
            <a:ext cx="3291839" cy="365760"/>
          </a:xfrm>
          <a:prstGeom prst="rect">
            <a:avLst/>
          </a:prstGeom>
          <a:noFill/>
        </p:spPr>
        <p:txBody>
          <a:bodyPr wrap="square" lIns="45720" rIns="45720" tIns="18288" bIns="18288" anchor="t">
            <a:spAutoFit/>
          </a:bodyPr>
          <a:lstStyle/>
          <a:p>
            <a:pPr algn="l"/>
            <a:r>
              <a:rPr sz="1400" b="1" i="0">
                <a:solidFill>
                  <a:srgbClr val="FFFFFF"/>
                </a:solidFill>
                <a:latin typeface="Poppins"/>
              </a:rPr>
              <a:t>GEO / AI VISIBILITY</a:t>
            </a:r>
          </a:p>
        </p:txBody>
      </p:sp>
      <p:sp>
        <p:nvSpPr>
          <p:cNvPr id="69" name="Rectangle 68"/>
          <p:cNvSpPr/>
          <p:nvPr/>
        </p:nvSpPr>
        <p:spPr>
          <a:xfrm>
            <a:off x="8458198" y="2377440"/>
            <a:ext cx="3291839"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458198" y="2377440"/>
            <a:ext cx="54864" cy="713232"/>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595358" y="2450592"/>
            <a:ext cx="3108959" cy="256032"/>
          </a:xfrm>
          <a:prstGeom prst="rect">
            <a:avLst/>
          </a:prstGeom>
          <a:noFill/>
        </p:spPr>
        <p:txBody>
          <a:bodyPr wrap="square" lIns="45720" rIns="45720" tIns="18288" bIns="18288" anchor="t">
            <a:spAutoFit/>
          </a:bodyPr>
          <a:lstStyle/>
          <a:p>
            <a:pPr algn="l"/>
            <a:r>
              <a:rPr sz="1000" b="1" i="0">
                <a:solidFill>
                  <a:srgbClr val="1F2A44"/>
                </a:solidFill>
                <a:latin typeface="Poppins"/>
              </a:rPr>
              <a:t>AI citations per month</a:t>
            </a:r>
          </a:p>
        </p:txBody>
      </p:sp>
      <p:sp>
        <p:nvSpPr>
          <p:cNvPr id="72" name="TextBox 71"/>
          <p:cNvSpPr txBox="1"/>
          <p:nvPr/>
        </p:nvSpPr>
        <p:spPr>
          <a:xfrm>
            <a:off x="8595358" y="2697480"/>
            <a:ext cx="1828800" cy="228600"/>
          </a:xfrm>
          <a:prstGeom prst="rect">
            <a:avLst/>
          </a:prstGeom>
          <a:noFill/>
        </p:spPr>
        <p:txBody>
          <a:bodyPr wrap="square" lIns="45720" rIns="45720" tIns="18288" bIns="18288" anchor="t">
            <a:spAutoFit/>
          </a:bodyPr>
          <a:lstStyle/>
          <a:p>
            <a:pPr algn="l"/>
            <a:r>
              <a:rPr sz="700" b="1" i="0">
                <a:solidFill>
                  <a:srgbClr val="4A5568"/>
                </a:solidFill>
                <a:latin typeface="Poppins"/>
              </a:rPr>
              <a:t>TARGET</a:t>
            </a:r>
          </a:p>
        </p:txBody>
      </p:sp>
      <p:sp>
        <p:nvSpPr>
          <p:cNvPr id="73" name="TextBox 72"/>
          <p:cNvSpPr txBox="1"/>
          <p:nvPr/>
        </p:nvSpPr>
        <p:spPr>
          <a:xfrm>
            <a:off x="8595358" y="2852928"/>
            <a:ext cx="3108959" cy="228600"/>
          </a:xfrm>
          <a:prstGeom prst="rect">
            <a:avLst/>
          </a:prstGeom>
          <a:noFill/>
        </p:spPr>
        <p:txBody>
          <a:bodyPr wrap="square" lIns="45720" rIns="45720" tIns="18288" bIns="18288" anchor="t">
            <a:spAutoFit/>
          </a:bodyPr>
          <a:lstStyle/>
          <a:p>
            <a:pPr algn="l"/>
            <a:r>
              <a:rPr sz="1000" b="1" i="0">
                <a:solidFill>
                  <a:srgbClr val="22C55E"/>
                </a:solidFill>
                <a:latin typeface="Poppins"/>
              </a:rPr>
              <a:t>Track via BrandIndex / Rankify</a:t>
            </a:r>
          </a:p>
        </p:txBody>
      </p:sp>
      <p:sp>
        <p:nvSpPr>
          <p:cNvPr id="74" name="Rectangle 73"/>
          <p:cNvSpPr/>
          <p:nvPr/>
        </p:nvSpPr>
        <p:spPr>
          <a:xfrm>
            <a:off x="8458198" y="3182112"/>
            <a:ext cx="3291839"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458198" y="3182112"/>
            <a:ext cx="54864" cy="713232"/>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595358" y="3255264"/>
            <a:ext cx="3108959" cy="256032"/>
          </a:xfrm>
          <a:prstGeom prst="rect">
            <a:avLst/>
          </a:prstGeom>
          <a:noFill/>
        </p:spPr>
        <p:txBody>
          <a:bodyPr wrap="square" lIns="45720" rIns="45720" tIns="18288" bIns="18288" anchor="t">
            <a:spAutoFit/>
          </a:bodyPr>
          <a:lstStyle/>
          <a:p>
            <a:pPr algn="l"/>
            <a:r>
              <a:rPr sz="1000" b="1" i="0">
                <a:solidFill>
                  <a:srgbClr val="1F2A44"/>
                </a:solidFill>
                <a:latin typeface="Poppins"/>
              </a:rPr>
              <a:t>Wikipedia citation basket</a:t>
            </a:r>
          </a:p>
        </p:txBody>
      </p:sp>
      <p:sp>
        <p:nvSpPr>
          <p:cNvPr id="77" name="TextBox 76"/>
          <p:cNvSpPr txBox="1"/>
          <p:nvPr/>
        </p:nvSpPr>
        <p:spPr>
          <a:xfrm>
            <a:off x="8595358" y="3502152"/>
            <a:ext cx="1828800" cy="228600"/>
          </a:xfrm>
          <a:prstGeom prst="rect">
            <a:avLst/>
          </a:prstGeom>
          <a:noFill/>
        </p:spPr>
        <p:txBody>
          <a:bodyPr wrap="square" lIns="45720" rIns="45720" tIns="18288" bIns="18288" anchor="t">
            <a:spAutoFit/>
          </a:bodyPr>
          <a:lstStyle/>
          <a:p>
            <a:pPr algn="l"/>
            <a:r>
              <a:rPr sz="700" b="1" i="0">
                <a:solidFill>
                  <a:srgbClr val="4A5568"/>
                </a:solidFill>
                <a:latin typeface="Poppins"/>
              </a:rPr>
              <a:t>TARGET</a:t>
            </a:r>
          </a:p>
        </p:txBody>
      </p:sp>
      <p:sp>
        <p:nvSpPr>
          <p:cNvPr id="78" name="TextBox 77"/>
          <p:cNvSpPr txBox="1"/>
          <p:nvPr/>
        </p:nvSpPr>
        <p:spPr>
          <a:xfrm>
            <a:off x="8595358" y="3657600"/>
            <a:ext cx="3108959" cy="228600"/>
          </a:xfrm>
          <a:prstGeom prst="rect">
            <a:avLst/>
          </a:prstGeom>
          <a:noFill/>
        </p:spPr>
        <p:txBody>
          <a:bodyPr wrap="square" lIns="45720" rIns="45720" tIns="18288" bIns="18288" anchor="t">
            <a:spAutoFit/>
          </a:bodyPr>
          <a:lstStyle/>
          <a:p>
            <a:pPr algn="l"/>
            <a:r>
              <a:rPr sz="1000" b="1" i="0">
                <a:solidFill>
                  <a:srgbClr val="22C55E"/>
                </a:solidFill>
                <a:latin typeface="Poppins"/>
              </a:rPr>
              <a:t>15+ sources by Month 6</a:t>
            </a:r>
          </a:p>
        </p:txBody>
      </p:sp>
      <p:sp>
        <p:nvSpPr>
          <p:cNvPr id="79" name="Rectangle 78"/>
          <p:cNvSpPr/>
          <p:nvPr/>
        </p:nvSpPr>
        <p:spPr>
          <a:xfrm>
            <a:off x="8458198" y="3986784"/>
            <a:ext cx="3291839"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8458198" y="3986784"/>
            <a:ext cx="54864" cy="713232"/>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595358" y="4059936"/>
            <a:ext cx="3108959" cy="256032"/>
          </a:xfrm>
          <a:prstGeom prst="rect">
            <a:avLst/>
          </a:prstGeom>
          <a:noFill/>
        </p:spPr>
        <p:txBody>
          <a:bodyPr wrap="square" lIns="45720" rIns="45720" tIns="18288" bIns="18288" anchor="t">
            <a:spAutoFit/>
          </a:bodyPr>
          <a:lstStyle/>
          <a:p>
            <a:pPr algn="l"/>
            <a:r>
              <a:rPr sz="1000" b="1" i="0">
                <a:solidFill>
                  <a:srgbClr val="1F2A44"/>
                </a:solidFill>
                <a:latin typeface="Poppins"/>
              </a:rPr>
              <a:t>Schema coverage</a:t>
            </a:r>
          </a:p>
        </p:txBody>
      </p:sp>
      <p:sp>
        <p:nvSpPr>
          <p:cNvPr id="82" name="TextBox 81"/>
          <p:cNvSpPr txBox="1"/>
          <p:nvPr/>
        </p:nvSpPr>
        <p:spPr>
          <a:xfrm>
            <a:off x="8595358" y="4306824"/>
            <a:ext cx="1828800" cy="228600"/>
          </a:xfrm>
          <a:prstGeom prst="rect">
            <a:avLst/>
          </a:prstGeom>
          <a:noFill/>
        </p:spPr>
        <p:txBody>
          <a:bodyPr wrap="square" lIns="45720" rIns="45720" tIns="18288" bIns="18288" anchor="t">
            <a:spAutoFit/>
          </a:bodyPr>
          <a:lstStyle/>
          <a:p>
            <a:pPr algn="l"/>
            <a:r>
              <a:rPr sz="700" b="1" i="0">
                <a:solidFill>
                  <a:srgbClr val="4A5568"/>
                </a:solidFill>
                <a:latin typeface="Poppins"/>
              </a:rPr>
              <a:t>TARGET</a:t>
            </a:r>
          </a:p>
        </p:txBody>
      </p:sp>
      <p:sp>
        <p:nvSpPr>
          <p:cNvPr id="83" name="TextBox 82"/>
          <p:cNvSpPr txBox="1"/>
          <p:nvPr/>
        </p:nvSpPr>
        <p:spPr>
          <a:xfrm>
            <a:off x="8595358" y="4462272"/>
            <a:ext cx="3108959" cy="228600"/>
          </a:xfrm>
          <a:prstGeom prst="rect">
            <a:avLst/>
          </a:prstGeom>
          <a:noFill/>
        </p:spPr>
        <p:txBody>
          <a:bodyPr wrap="square" lIns="45720" rIns="45720" tIns="18288" bIns="18288" anchor="t">
            <a:spAutoFit/>
          </a:bodyPr>
          <a:lstStyle/>
          <a:p>
            <a:pPr algn="l"/>
            <a:r>
              <a:rPr sz="1000" b="1" i="0">
                <a:solidFill>
                  <a:srgbClr val="22C55E"/>
                </a:solidFill>
                <a:latin typeface="Poppins"/>
              </a:rPr>
              <a:t>100% of indexable pages</a:t>
            </a:r>
          </a:p>
        </p:txBody>
      </p:sp>
      <p:sp>
        <p:nvSpPr>
          <p:cNvPr id="84" name="Rectangle 83"/>
          <p:cNvSpPr/>
          <p:nvPr/>
        </p:nvSpPr>
        <p:spPr>
          <a:xfrm>
            <a:off x="8458198" y="4791456"/>
            <a:ext cx="3291839"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8458198" y="4791456"/>
            <a:ext cx="54864" cy="713232"/>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595358" y="4864608"/>
            <a:ext cx="3108959" cy="256032"/>
          </a:xfrm>
          <a:prstGeom prst="rect">
            <a:avLst/>
          </a:prstGeom>
          <a:noFill/>
        </p:spPr>
        <p:txBody>
          <a:bodyPr wrap="square" lIns="45720" rIns="45720" tIns="18288" bIns="18288" anchor="t">
            <a:spAutoFit/>
          </a:bodyPr>
          <a:lstStyle/>
          <a:p>
            <a:pPr algn="l"/>
            <a:r>
              <a:rPr sz="1000" b="1" i="0">
                <a:solidFill>
                  <a:srgbClr val="1F2A44"/>
                </a:solidFill>
                <a:latin typeface="Poppins"/>
              </a:rPr>
              <a:t>llms.txt completeness score</a:t>
            </a:r>
          </a:p>
        </p:txBody>
      </p:sp>
      <p:sp>
        <p:nvSpPr>
          <p:cNvPr id="87" name="TextBox 86"/>
          <p:cNvSpPr txBox="1"/>
          <p:nvPr/>
        </p:nvSpPr>
        <p:spPr>
          <a:xfrm>
            <a:off x="8595358" y="5111496"/>
            <a:ext cx="1828800" cy="228600"/>
          </a:xfrm>
          <a:prstGeom prst="rect">
            <a:avLst/>
          </a:prstGeom>
          <a:noFill/>
        </p:spPr>
        <p:txBody>
          <a:bodyPr wrap="square" lIns="45720" rIns="45720" tIns="18288" bIns="18288" anchor="t">
            <a:spAutoFit/>
          </a:bodyPr>
          <a:lstStyle/>
          <a:p>
            <a:pPr algn="l"/>
            <a:r>
              <a:rPr sz="700" b="1" i="0">
                <a:solidFill>
                  <a:srgbClr val="4A5568"/>
                </a:solidFill>
                <a:latin typeface="Poppins"/>
              </a:rPr>
              <a:t>TARGET</a:t>
            </a:r>
          </a:p>
        </p:txBody>
      </p:sp>
      <p:sp>
        <p:nvSpPr>
          <p:cNvPr id="88" name="TextBox 87"/>
          <p:cNvSpPr txBox="1"/>
          <p:nvPr/>
        </p:nvSpPr>
        <p:spPr>
          <a:xfrm>
            <a:off x="8595358" y="5266944"/>
            <a:ext cx="3108959" cy="228600"/>
          </a:xfrm>
          <a:prstGeom prst="rect">
            <a:avLst/>
          </a:prstGeom>
          <a:noFill/>
        </p:spPr>
        <p:txBody>
          <a:bodyPr wrap="square" lIns="45720" rIns="45720" tIns="18288" bIns="18288" anchor="t">
            <a:spAutoFit/>
          </a:bodyPr>
          <a:lstStyle/>
          <a:p>
            <a:pPr algn="l"/>
            <a:r>
              <a:rPr sz="1000" b="1" i="0">
                <a:solidFill>
                  <a:srgbClr val="22C55E"/>
                </a:solidFill>
                <a:latin typeface="Poppins"/>
              </a:rPr>
              <a:t>90+</a:t>
            </a:r>
          </a:p>
        </p:txBody>
      </p:sp>
      <p:sp>
        <p:nvSpPr>
          <p:cNvPr id="89" name="Rectangle 88"/>
          <p:cNvSpPr/>
          <p:nvPr/>
        </p:nvSpPr>
        <p:spPr>
          <a:xfrm>
            <a:off x="8458198" y="5596128"/>
            <a:ext cx="3291839"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8458198" y="5596128"/>
            <a:ext cx="54864" cy="713232"/>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595358" y="5669280"/>
            <a:ext cx="3108959" cy="256032"/>
          </a:xfrm>
          <a:prstGeom prst="rect">
            <a:avLst/>
          </a:prstGeom>
          <a:noFill/>
        </p:spPr>
        <p:txBody>
          <a:bodyPr wrap="square" lIns="45720" rIns="45720" tIns="18288" bIns="18288" anchor="t">
            <a:spAutoFit/>
          </a:bodyPr>
          <a:lstStyle/>
          <a:p>
            <a:pPr algn="l"/>
            <a:r>
              <a:rPr sz="1000" b="1" i="0">
                <a:solidFill>
                  <a:srgbClr val="1F2A44"/>
                </a:solidFill>
                <a:latin typeface="Poppins"/>
              </a:rPr>
              <a:t>Reddit mentions / Press hits</a:t>
            </a:r>
          </a:p>
        </p:txBody>
      </p:sp>
      <p:sp>
        <p:nvSpPr>
          <p:cNvPr id="92" name="TextBox 91"/>
          <p:cNvSpPr txBox="1"/>
          <p:nvPr/>
        </p:nvSpPr>
        <p:spPr>
          <a:xfrm>
            <a:off x="8595358" y="5916168"/>
            <a:ext cx="1828800" cy="228600"/>
          </a:xfrm>
          <a:prstGeom prst="rect">
            <a:avLst/>
          </a:prstGeom>
          <a:noFill/>
        </p:spPr>
        <p:txBody>
          <a:bodyPr wrap="square" lIns="45720" rIns="45720" tIns="18288" bIns="18288" anchor="t">
            <a:spAutoFit/>
          </a:bodyPr>
          <a:lstStyle/>
          <a:p>
            <a:pPr algn="l"/>
            <a:r>
              <a:rPr sz="700" b="1" i="0">
                <a:solidFill>
                  <a:srgbClr val="4A5568"/>
                </a:solidFill>
                <a:latin typeface="Poppins"/>
              </a:rPr>
              <a:t>TARGET</a:t>
            </a:r>
          </a:p>
        </p:txBody>
      </p:sp>
      <p:sp>
        <p:nvSpPr>
          <p:cNvPr id="93" name="TextBox 92"/>
          <p:cNvSpPr txBox="1"/>
          <p:nvPr/>
        </p:nvSpPr>
        <p:spPr>
          <a:xfrm>
            <a:off x="8595358" y="6071616"/>
            <a:ext cx="3108959" cy="228600"/>
          </a:xfrm>
          <a:prstGeom prst="rect">
            <a:avLst/>
          </a:prstGeom>
          <a:noFill/>
        </p:spPr>
        <p:txBody>
          <a:bodyPr wrap="square" lIns="45720" rIns="45720" tIns="18288" bIns="18288" anchor="t">
            <a:spAutoFit/>
          </a:bodyPr>
          <a:lstStyle/>
          <a:p>
            <a:pPr algn="l"/>
            <a:r>
              <a:rPr sz="1000" b="1" i="0">
                <a:solidFill>
                  <a:srgbClr val="22C55E"/>
                </a:solidFill>
                <a:latin typeface="Poppins"/>
              </a:rPr>
              <a:t>10+ / 2 tier-1</a:t>
            </a:r>
          </a:p>
        </p:txBody>
      </p:sp>
      <p:sp>
        <p:nvSpPr>
          <p:cNvPr id="94" name="Rectangle 93"/>
          <p:cNvSpPr/>
          <p:nvPr/>
        </p:nvSpPr>
        <p:spPr>
          <a:xfrm>
            <a:off x="457200" y="6355080"/>
            <a:ext cx="11247120" cy="32004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40080" y="6364224"/>
            <a:ext cx="10972800" cy="320040"/>
          </a:xfrm>
          <a:prstGeom prst="rect">
            <a:avLst/>
          </a:prstGeom>
          <a:noFill/>
        </p:spPr>
        <p:txBody>
          <a:bodyPr wrap="square" lIns="45720" rIns="45720" tIns="18288" bIns="18288" anchor="ctr">
            <a:spAutoFit/>
          </a:bodyPr>
          <a:lstStyle/>
          <a:p>
            <a:pPr algn="l"/>
            <a:r>
              <a:rPr sz="1000" b="1" i="1">
                <a:solidFill>
                  <a:srgbClr val="FFFFFF"/>
                </a:solidFill>
                <a:latin typeface="Poppins"/>
              </a:rPr>
              <a:t>Weekly review cadence: Mondays 8am CT. Owner: Rob (Q1) → Head of Ops (Q2+). Dashboard: GHL + PostHog + Notion.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45720" rIns="45720" tIns="18288" bIns="18288" anchor="t">
            <a:spAutoFit/>
          </a:bodyPr>
          <a:lstStyle/>
          <a:p>
            <a:pPr algn="l"/>
            <a:r>
              <a:rPr sz="1000" b="1" i="0">
                <a:solidFill>
                  <a:srgbClr val="00A3E0"/>
                </a:solidFill>
                <a:latin typeface="Poppins"/>
              </a:rPr>
              <a:t>15 · RISK REGISTER</a:t>
            </a:r>
          </a:p>
        </p:txBody>
      </p:sp>
      <p:sp>
        <p:nvSpPr>
          <p:cNvPr id="4" name="TextBox 3"/>
          <p:cNvSpPr txBox="1"/>
          <p:nvPr/>
        </p:nvSpPr>
        <p:spPr>
          <a:xfrm>
            <a:off x="457200" y="594360"/>
            <a:ext cx="11247120" cy="640080"/>
          </a:xfrm>
          <a:prstGeom prst="rect">
            <a:avLst/>
          </a:prstGeom>
          <a:noFill/>
        </p:spPr>
        <p:txBody>
          <a:bodyPr wrap="square" lIns="45720" rIns="45720" tIns="18288" bIns="18288" anchor="t">
            <a:spAutoFit/>
          </a:bodyPr>
          <a:lstStyle/>
          <a:p>
            <a:pPr algn="l"/>
            <a:r>
              <a:rPr sz="2800" b="1" i="0">
                <a:solidFill>
                  <a:srgbClr val="1F2A44"/>
                </a:solidFill>
                <a:latin typeface="Poppins"/>
              </a:rPr>
              <a:t>Top 5 risks. All have mitigations. None are dealbreakers.</a:t>
            </a:r>
          </a:p>
        </p:txBody>
      </p:sp>
      <p:sp>
        <p:nvSpPr>
          <p:cNvPr id="5" name="Rectangle 4"/>
          <p:cNvSpPr/>
          <p:nvPr/>
        </p:nvSpPr>
        <p:spPr>
          <a:xfrm>
            <a:off x="457200" y="1234440"/>
            <a:ext cx="914400" cy="4572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320040"/>
            <a:ext cx="640080" cy="274320"/>
          </a:xfrm>
          <a:prstGeom prst="rect">
            <a:avLst/>
          </a:prstGeom>
          <a:noFill/>
        </p:spPr>
        <p:txBody>
          <a:bodyPr wrap="square" lIns="45720" rIns="45720" tIns="18288" bIns="18288" anchor="t">
            <a:spAutoFit/>
          </a:bodyPr>
          <a:lstStyle/>
          <a:p>
            <a:pPr algn="r"/>
            <a:r>
              <a:rPr sz="900" b="1" i="0">
                <a:solidFill>
                  <a:srgbClr val="4A5568"/>
                </a:solidFill>
                <a:latin typeface="Poppins"/>
              </a:rPr>
              <a:t>16 / 18</a:t>
            </a:r>
          </a:p>
        </p:txBody>
      </p:sp>
      <p:sp>
        <p:nvSpPr>
          <p:cNvPr id="7" name="Rectangle 6"/>
          <p:cNvSpPr/>
          <p:nvPr/>
        </p:nvSpPr>
        <p:spPr>
          <a:xfrm>
            <a:off x="0" y="6720840"/>
            <a:ext cx="12191695" cy="1371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492240"/>
            <a:ext cx="3657600" cy="274320"/>
          </a:xfrm>
          <a:prstGeom prst="rect">
            <a:avLst/>
          </a:prstGeom>
          <a:noFill/>
        </p:spPr>
        <p:txBody>
          <a:bodyPr wrap="square" lIns="45720" rIns="45720" tIns="18288" bIns="18288" anchor="t">
            <a:spAutoFit/>
          </a:bodyPr>
          <a:lstStyle/>
          <a:p>
            <a:pPr algn="l"/>
            <a:r>
              <a:rPr sz="800" b="1" i="0">
                <a:solidFill>
                  <a:srgbClr val="1F2A44"/>
                </a:solidFill>
                <a:latin typeface="Poppins"/>
              </a:rPr>
              <a:t>CLOSECLINIC</a:t>
            </a:r>
          </a:p>
        </p:txBody>
      </p:sp>
      <p:sp>
        <p:nvSpPr>
          <p:cNvPr id="9" name="TextBox 8"/>
          <p:cNvSpPr txBox="1"/>
          <p:nvPr/>
        </p:nvSpPr>
        <p:spPr>
          <a:xfrm>
            <a:off x="6400800" y="6492240"/>
            <a:ext cx="5486400" cy="274320"/>
          </a:xfrm>
          <a:prstGeom prst="rect">
            <a:avLst/>
          </a:prstGeom>
          <a:noFill/>
        </p:spPr>
        <p:txBody>
          <a:bodyPr wrap="square" lIns="45720" rIns="45720" tIns="18288" bIns="18288" anchor="t">
            <a:spAutoFit/>
          </a:bodyPr>
          <a:lstStyle/>
          <a:p>
            <a:pPr algn="r"/>
            <a:r>
              <a:rPr sz="800" b="0" i="0">
                <a:solidFill>
                  <a:srgbClr val="4A5568"/>
                </a:solidFill>
                <a:latin typeface="Poppins"/>
              </a:rPr>
              <a:t>CloseClinic · Launch Plan · 2026-04-21 · p.16</a:t>
            </a:r>
          </a:p>
        </p:txBody>
      </p:sp>
      <p:graphicFrame>
        <p:nvGraphicFramePr>
          <p:cNvPr id="10" name="Table 9"/>
          <p:cNvGraphicFramePr>
            <a:graphicFrameLocks noGrp="1"/>
          </p:cNvGraphicFramePr>
          <p:nvPr/>
        </p:nvGraphicFramePr>
        <p:xfrm>
          <a:off x="365760" y="1508760"/>
          <a:ext cx="11475720" cy="4114800"/>
        </p:xfrm>
        <a:graphic>
          <a:graphicData uri="http://schemas.openxmlformats.org/drawingml/2006/table">
            <a:tbl>
              <a:tblPr firstRow="1" bandRow="1">
                <a:tableStyleId>{5C22544A-7EE6-4342-B048-85BDC9FD1C3A}</a:tableStyleId>
              </a:tblPr>
              <a:tblGrid>
                <a:gridCol w="411480"/>
                <a:gridCol w="3931920"/>
                <a:gridCol w="914400"/>
                <a:gridCol w="914400"/>
                <a:gridCol w="5303520"/>
              </a:tblGrid>
              <a:tr h="365760">
                <a:tc>
                  <a:txBody>
                    <a:bodyPr anchor="ctr"/>
                    <a:lstStyle/>
                    <a:p>
                      <a:pPr algn="ctr"/>
                      <a:r>
                        <a:rPr sz="1100" b="1">
                          <a:solidFill>
                            <a:srgbClr val="FFFFFF"/>
                          </a:solidFill>
                          <a:latin typeface="Poppins"/>
                        </a:rPr>
                        <a:t>#</a:t>
                      </a:r>
                    </a:p>
                  </a:txBody>
                  <a:tcPr>
                    <a:solidFill>
                      <a:srgbClr val="1F2A44"/>
                    </a:solidFill>
                  </a:tcPr>
                </a:tc>
                <a:tc>
                  <a:txBody>
                    <a:bodyPr anchor="ctr"/>
                    <a:lstStyle/>
                    <a:p>
                      <a:pPr algn="l"/>
                      <a:r>
                        <a:rPr sz="1100" b="1">
                          <a:solidFill>
                            <a:srgbClr val="FFFFFF"/>
                          </a:solidFill>
                          <a:latin typeface="Poppins"/>
                        </a:rPr>
                        <a:t>Risk</a:t>
                      </a:r>
                    </a:p>
                  </a:txBody>
                  <a:tcPr>
                    <a:solidFill>
                      <a:srgbClr val="1F2A44"/>
                    </a:solidFill>
                  </a:tcPr>
                </a:tc>
                <a:tc>
                  <a:txBody>
                    <a:bodyPr anchor="ctr"/>
                    <a:lstStyle/>
                    <a:p>
                      <a:pPr algn="ctr"/>
                      <a:r>
                        <a:rPr sz="1100" b="1">
                          <a:solidFill>
                            <a:srgbClr val="FFFFFF"/>
                          </a:solidFill>
                          <a:latin typeface="Poppins"/>
                        </a:rPr>
                        <a:t>Prob.</a:t>
                      </a:r>
                    </a:p>
                  </a:txBody>
                  <a:tcPr>
                    <a:solidFill>
                      <a:srgbClr val="1F2A44"/>
                    </a:solidFill>
                  </a:tcPr>
                </a:tc>
                <a:tc>
                  <a:txBody>
                    <a:bodyPr anchor="ctr"/>
                    <a:lstStyle/>
                    <a:p>
                      <a:pPr algn="ctr"/>
                      <a:r>
                        <a:rPr sz="1100" b="1">
                          <a:solidFill>
                            <a:srgbClr val="FFFFFF"/>
                          </a:solidFill>
                          <a:latin typeface="Poppins"/>
                        </a:rPr>
                        <a:t>Impact</a:t>
                      </a:r>
                    </a:p>
                  </a:txBody>
                  <a:tcPr>
                    <a:solidFill>
                      <a:srgbClr val="1F2A44"/>
                    </a:solidFill>
                  </a:tcPr>
                </a:tc>
                <a:tc>
                  <a:txBody>
                    <a:bodyPr anchor="ctr"/>
                    <a:lstStyle/>
                    <a:p>
                      <a:pPr algn="l"/>
                      <a:r>
                        <a:rPr sz="1100" b="1">
                          <a:solidFill>
                            <a:srgbClr val="FFFFFF"/>
                          </a:solidFill>
                          <a:latin typeface="Poppins"/>
                        </a:rPr>
                        <a:t>Mitigation</a:t>
                      </a:r>
                    </a:p>
                  </a:txBody>
                  <a:tcPr>
                    <a:solidFill>
                      <a:srgbClr val="1F2A44"/>
                    </a:solidFill>
                  </a:tcPr>
                </a:tc>
              </a:tr>
              <a:tr h="749808">
                <a:tc>
                  <a:txBody>
                    <a:bodyPr anchor="ctr"/>
                    <a:lstStyle/>
                    <a:p>
                      <a:pPr algn="ctr"/>
                      <a:r>
                        <a:rPr sz="1300" b="1">
                          <a:solidFill>
                            <a:srgbClr val="00A3E0"/>
                          </a:solidFill>
                          <a:latin typeface="Poppins"/>
                        </a:rPr>
                        <a:t>1</a:t>
                      </a:r>
                    </a:p>
                  </a:txBody>
                  <a:tcPr>
                    <a:solidFill>
                      <a:srgbClr val="FFFFFF"/>
                    </a:solidFill>
                  </a:tcPr>
                </a:tc>
                <a:tc>
                  <a:txBody>
                    <a:bodyPr anchor="ctr"/>
                    <a:lstStyle/>
                    <a:p>
                      <a:pPr algn="l"/>
                      <a:r>
                        <a:rPr sz="1100" b="1">
                          <a:solidFill>
                            <a:srgbClr val="1F2A44"/>
                          </a:solidFill>
                          <a:latin typeface="Poppins"/>
                        </a:rPr>
                        <a:t>STG claims non-compete or trade-secret violation</a:t>
                      </a:r>
                    </a:p>
                  </a:txBody>
                  <a:tcPr>
                    <a:solidFill>
                      <a:srgbClr val="FFFFFF"/>
                    </a:solidFill>
                  </a:tcPr>
                </a:tc>
                <a:tc>
                  <a:txBody>
                    <a:bodyPr anchor="ctr"/>
                    <a:lstStyle/>
                    <a:p>
                      <a:pPr algn="ctr"/>
                      <a:r>
                        <a:rPr sz="1000" b="1">
                          <a:solidFill>
                            <a:srgbClr val="FFFFFF"/>
                          </a:solidFill>
                          <a:latin typeface="Poppins"/>
                        </a:rPr>
                        <a:t>LOW</a:t>
                      </a:r>
                    </a:p>
                  </a:txBody>
                  <a:tcPr>
                    <a:solidFill>
                      <a:srgbClr val="22C55E"/>
                    </a:solidFill>
                  </a:tcPr>
                </a:tc>
                <a:tc>
                  <a:txBody>
                    <a:bodyPr anchor="ctr"/>
                    <a:lstStyle/>
                    <a:p>
                      <a:pPr algn="ctr"/>
                      <a:r>
                        <a:rPr sz="1000" b="1">
                          <a:solidFill>
                            <a:srgbClr val="FFFFFF"/>
                          </a:solidFill>
                          <a:latin typeface="Poppins"/>
                        </a:rPr>
                        <a:t>HIGH</a:t>
                      </a:r>
                    </a:p>
                  </a:txBody>
                  <a:tcPr>
                    <a:solidFill>
                      <a:srgbClr val="EF4444"/>
                    </a:solidFill>
                  </a:tcPr>
                </a:tc>
                <a:tc>
                  <a:txBody>
                    <a:bodyPr anchor="ctr"/>
                    <a:lstStyle/>
                    <a:p>
                      <a:pPr algn="l"/>
                      <a:r>
                        <a:rPr sz="1000" b="0">
                          <a:solidFill>
                            <a:srgbClr val="111827"/>
                          </a:solidFill>
                          <a:latin typeface="Poppins"/>
                        </a:rPr>
                        <a:t>Retain employment attorney Week 1. Document clean exit. 90-day STG-client firewall.</a:t>
                      </a:r>
                    </a:p>
                  </a:txBody>
                  <a:tcPr>
                    <a:solidFill>
                      <a:srgbClr val="FFFFFF"/>
                    </a:solidFill>
                  </a:tcPr>
                </a:tc>
              </a:tr>
              <a:tr h="749808">
                <a:tc>
                  <a:txBody>
                    <a:bodyPr anchor="ctr"/>
                    <a:lstStyle/>
                    <a:p>
                      <a:pPr algn="ctr"/>
                      <a:r>
                        <a:rPr sz="1300" b="1">
                          <a:solidFill>
                            <a:srgbClr val="00A3E0"/>
                          </a:solidFill>
                          <a:latin typeface="Poppins"/>
                        </a:rPr>
                        <a:t>2</a:t>
                      </a:r>
                    </a:p>
                  </a:txBody>
                  <a:tcPr>
                    <a:solidFill>
                      <a:srgbClr val="F3F5F9"/>
                    </a:solidFill>
                  </a:tcPr>
                </a:tc>
                <a:tc>
                  <a:txBody>
                    <a:bodyPr anchor="ctr"/>
                    <a:lstStyle/>
                    <a:p>
                      <a:pPr algn="l"/>
                      <a:r>
                        <a:rPr sz="1100" b="1">
                          <a:solidFill>
                            <a:srgbClr val="1F2A44"/>
                          </a:solidFill>
                          <a:latin typeface="Poppins"/>
                        </a:rPr>
                        <a:t>Synthflow outage brings down client receptionists</a:t>
                      </a:r>
                    </a:p>
                  </a:txBody>
                  <a:tcPr>
                    <a:solidFill>
                      <a:srgbClr val="F3F5F9"/>
                    </a:solidFill>
                  </a:tcPr>
                </a:tc>
                <a:tc>
                  <a:txBody>
                    <a:bodyPr anchor="ctr"/>
                    <a:lstStyle/>
                    <a:p>
                      <a:pPr algn="ctr"/>
                      <a:r>
                        <a:rPr sz="1000" b="1">
                          <a:solidFill>
                            <a:srgbClr val="FFFFFF"/>
                          </a:solidFill>
                          <a:latin typeface="Poppins"/>
                        </a:rPr>
                        <a:t>MED</a:t>
                      </a:r>
                    </a:p>
                  </a:txBody>
                  <a:tcPr>
                    <a:solidFill>
                      <a:srgbClr val="F59E0B"/>
                    </a:solidFill>
                  </a:tcPr>
                </a:tc>
                <a:tc>
                  <a:txBody>
                    <a:bodyPr anchor="ctr"/>
                    <a:lstStyle/>
                    <a:p>
                      <a:pPr algn="ctr"/>
                      <a:r>
                        <a:rPr sz="1000" b="1">
                          <a:solidFill>
                            <a:srgbClr val="FFFFFF"/>
                          </a:solidFill>
                          <a:latin typeface="Poppins"/>
                        </a:rPr>
                        <a:t>HIGH</a:t>
                      </a:r>
                    </a:p>
                  </a:txBody>
                  <a:tcPr>
                    <a:solidFill>
                      <a:srgbClr val="EF4444"/>
                    </a:solidFill>
                  </a:tcPr>
                </a:tc>
                <a:tc>
                  <a:txBody>
                    <a:bodyPr anchor="ctr"/>
                    <a:lstStyle/>
                    <a:p>
                      <a:pPr algn="l"/>
                      <a:r>
                        <a:rPr sz="1000" b="0">
                          <a:solidFill>
                            <a:srgbClr val="111827"/>
                          </a:solidFill>
                          <a:latin typeface="Poppins"/>
                        </a:rPr>
                        <a:t>Retell AI secondary failover. SLA credit policy. 24/7 on-call during Y1.</a:t>
                      </a:r>
                    </a:p>
                  </a:txBody>
                  <a:tcPr>
                    <a:solidFill>
                      <a:srgbClr val="F3F5F9"/>
                    </a:solidFill>
                  </a:tcPr>
                </a:tc>
              </a:tr>
              <a:tr h="749808">
                <a:tc>
                  <a:txBody>
                    <a:bodyPr anchor="ctr"/>
                    <a:lstStyle/>
                    <a:p>
                      <a:pPr algn="ctr"/>
                      <a:r>
                        <a:rPr sz="1300" b="1">
                          <a:solidFill>
                            <a:srgbClr val="00A3E0"/>
                          </a:solidFill>
                          <a:latin typeface="Poppins"/>
                        </a:rPr>
                        <a:t>3</a:t>
                      </a:r>
                    </a:p>
                  </a:txBody>
                  <a:tcPr>
                    <a:solidFill>
                      <a:srgbClr val="FFFFFF"/>
                    </a:solidFill>
                  </a:tcPr>
                </a:tc>
                <a:tc>
                  <a:txBody>
                    <a:bodyPr anchor="ctr"/>
                    <a:lstStyle/>
                    <a:p>
                      <a:pPr algn="l"/>
                      <a:r>
                        <a:rPr sz="1100" b="1">
                          <a:solidFill>
                            <a:srgbClr val="1F2A44"/>
                          </a:solidFill>
                          <a:latin typeface="Poppins"/>
                        </a:rPr>
                        <a:t>AI voice regulation shifts (CA, CO, TX disclosures)</a:t>
                      </a:r>
                    </a:p>
                  </a:txBody>
                  <a:tcPr>
                    <a:solidFill>
                      <a:srgbClr val="FFFFFF"/>
                    </a:solidFill>
                  </a:tcPr>
                </a:tc>
                <a:tc>
                  <a:txBody>
                    <a:bodyPr anchor="ctr"/>
                    <a:lstStyle/>
                    <a:p>
                      <a:pPr algn="ctr"/>
                      <a:r>
                        <a:rPr sz="1000" b="1">
                          <a:solidFill>
                            <a:srgbClr val="FFFFFF"/>
                          </a:solidFill>
                          <a:latin typeface="Poppins"/>
                        </a:rPr>
                        <a:t>HIGH</a:t>
                      </a:r>
                    </a:p>
                  </a:txBody>
                  <a:tcPr>
                    <a:solidFill>
                      <a:srgbClr val="EF4444"/>
                    </a:solidFill>
                  </a:tcPr>
                </a:tc>
                <a:tc>
                  <a:txBody>
                    <a:bodyPr anchor="ctr"/>
                    <a:lstStyle/>
                    <a:p>
                      <a:pPr algn="ctr"/>
                      <a:r>
                        <a:rPr sz="1000" b="1">
                          <a:solidFill>
                            <a:srgbClr val="FFFFFF"/>
                          </a:solidFill>
                          <a:latin typeface="Poppins"/>
                        </a:rPr>
                        <a:t>MED</a:t>
                      </a:r>
                    </a:p>
                  </a:txBody>
                  <a:tcPr>
                    <a:solidFill>
                      <a:srgbClr val="F59E0B"/>
                    </a:solidFill>
                  </a:tcPr>
                </a:tc>
                <a:tc>
                  <a:txBody>
                    <a:bodyPr anchor="ctr"/>
                    <a:lstStyle/>
                    <a:p>
                      <a:pPr algn="l"/>
                      <a:r>
                        <a:rPr sz="1000" b="0">
                          <a:solidFill>
                            <a:srgbClr val="111827"/>
                          </a:solidFill>
                          <a:latin typeface="Poppins"/>
                        </a:rPr>
                        <a:t>Disclosure prompts baked into every agent template. Legal newsletter monitoring. Quarterly review.</a:t>
                      </a:r>
                    </a:p>
                  </a:txBody>
                  <a:tcPr>
                    <a:solidFill>
                      <a:srgbClr val="FFFFFF"/>
                    </a:solidFill>
                  </a:tcPr>
                </a:tc>
              </a:tr>
              <a:tr h="749808">
                <a:tc>
                  <a:txBody>
                    <a:bodyPr anchor="ctr"/>
                    <a:lstStyle/>
                    <a:p>
                      <a:pPr algn="ctr"/>
                      <a:r>
                        <a:rPr sz="1300" b="1">
                          <a:solidFill>
                            <a:srgbClr val="00A3E0"/>
                          </a:solidFill>
                          <a:latin typeface="Poppins"/>
                        </a:rPr>
                        <a:t>4</a:t>
                      </a:r>
                    </a:p>
                  </a:txBody>
                  <a:tcPr>
                    <a:solidFill>
                      <a:srgbClr val="F3F5F9"/>
                    </a:solidFill>
                  </a:tcPr>
                </a:tc>
                <a:tc>
                  <a:txBody>
                    <a:bodyPr anchor="ctr"/>
                    <a:lstStyle/>
                    <a:p>
                      <a:pPr algn="l"/>
                      <a:r>
                        <a:rPr sz="1100" b="1">
                          <a:solidFill>
                            <a:srgbClr val="1F2A44"/>
                          </a:solidFill>
                          <a:latin typeface="Poppins"/>
                        </a:rPr>
                        <a:t>Early client churn kills momentum</a:t>
                      </a:r>
                    </a:p>
                  </a:txBody>
                  <a:tcPr>
                    <a:solidFill>
                      <a:srgbClr val="F3F5F9"/>
                    </a:solidFill>
                  </a:tcPr>
                </a:tc>
                <a:tc>
                  <a:txBody>
                    <a:bodyPr anchor="ctr"/>
                    <a:lstStyle/>
                    <a:p>
                      <a:pPr algn="ctr"/>
                      <a:r>
                        <a:rPr sz="1000" b="1">
                          <a:solidFill>
                            <a:srgbClr val="FFFFFF"/>
                          </a:solidFill>
                          <a:latin typeface="Poppins"/>
                        </a:rPr>
                        <a:t>MED</a:t>
                      </a:r>
                    </a:p>
                  </a:txBody>
                  <a:tcPr>
                    <a:solidFill>
                      <a:srgbClr val="F59E0B"/>
                    </a:solidFill>
                  </a:tcPr>
                </a:tc>
                <a:tc>
                  <a:txBody>
                    <a:bodyPr anchor="ctr"/>
                    <a:lstStyle/>
                    <a:p>
                      <a:pPr algn="ctr"/>
                      <a:r>
                        <a:rPr sz="1000" b="1">
                          <a:solidFill>
                            <a:srgbClr val="FFFFFF"/>
                          </a:solidFill>
                          <a:latin typeface="Poppins"/>
                        </a:rPr>
                        <a:t>HIGH</a:t>
                      </a:r>
                    </a:p>
                  </a:txBody>
                  <a:tcPr>
                    <a:solidFill>
                      <a:srgbClr val="EF4444"/>
                    </a:solidFill>
                  </a:tcPr>
                </a:tc>
                <a:tc>
                  <a:txBody>
                    <a:bodyPr anchor="ctr"/>
                    <a:lstStyle/>
                    <a:p>
                      <a:pPr algn="l"/>
                      <a:r>
                        <a:rPr sz="1000" b="0">
                          <a:solidFill>
                            <a:srgbClr val="111827"/>
                          </a:solidFill>
                          <a:latin typeface="Poppins"/>
                        </a:rPr>
                        <a:t>Monthly NPS + escalation protocol. Overdeliver for first 10 clients. Weekly health reviews.</a:t>
                      </a:r>
                    </a:p>
                  </a:txBody>
                  <a:tcPr>
                    <a:solidFill>
                      <a:srgbClr val="F3F5F9"/>
                    </a:solidFill>
                  </a:tcPr>
                </a:tc>
              </a:tr>
              <a:tr h="749808">
                <a:tc>
                  <a:txBody>
                    <a:bodyPr anchor="ctr"/>
                    <a:lstStyle/>
                    <a:p>
                      <a:pPr algn="ctr"/>
                      <a:r>
                        <a:rPr sz="1300" b="1">
                          <a:solidFill>
                            <a:srgbClr val="00A3E0"/>
                          </a:solidFill>
                          <a:latin typeface="Poppins"/>
                        </a:rPr>
                        <a:t>5</a:t>
                      </a:r>
                    </a:p>
                  </a:txBody>
                  <a:tcPr>
                    <a:solidFill>
                      <a:srgbClr val="FFFFFF"/>
                    </a:solidFill>
                  </a:tcPr>
                </a:tc>
                <a:tc>
                  <a:txBody>
                    <a:bodyPr anchor="ctr"/>
                    <a:lstStyle/>
                    <a:p>
                      <a:pPr algn="l"/>
                      <a:r>
                        <a:rPr sz="1100" b="1">
                          <a:solidFill>
                            <a:srgbClr val="1F2A44"/>
                          </a:solidFill>
                          <a:latin typeface="Poppins"/>
                        </a:rPr>
                        <a:t>Cash crunch before profitability</a:t>
                      </a:r>
                    </a:p>
                  </a:txBody>
                  <a:tcPr>
                    <a:solidFill>
                      <a:srgbClr val="FFFFFF"/>
                    </a:solidFill>
                  </a:tcPr>
                </a:tc>
                <a:tc>
                  <a:txBody>
                    <a:bodyPr anchor="ctr"/>
                    <a:lstStyle/>
                    <a:p>
                      <a:pPr algn="ctr"/>
                      <a:r>
                        <a:rPr sz="1000" b="1">
                          <a:solidFill>
                            <a:srgbClr val="FFFFFF"/>
                          </a:solidFill>
                          <a:latin typeface="Poppins"/>
                        </a:rPr>
                        <a:t>LOW</a:t>
                      </a:r>
                    </a:p>
                  </a:txBody>
                  <a:tcPr>
                    <a:solidFill>
                      <a:srgbClr val="22C55E"/>
                    </a:solidFill>
                  </a:tcPr>
                </a:tc>
                <a:tc>
                  <a:txBody>
                    <a:bodyPr anchor="ctr"/>
                    <a:lstStyle/>
                    <a:p>
                      <a:pPr algn="ctr"/>
                      <a:r>
                        <a:rPr sz="1000" b="1">
                          <a:solidFill>
                            <a:srgbClr val="FFFFFF"/>
                          </a:solidFill>
                          <a:latin typeface="Poppins"/>
                        </a:rPr>
                        <a:t>HIGH</a:t>
                      </a:r>
                    </a:p>
                  </a:txBody>
                  <a:tcPr>
                    <a:solidFill>
                      <a:srgbClr val="EF4444"/>
                    </a:solidFill>
                  </a:tcPr>
                </a:tc>
                <a:tc>
                  <a:txBody>
                    <a:bodyPr anchor="ctr"/>
                    <a:lstStyle/>
                    <a:p>
                      <a:pPr algn="l"/>
                      <a:r>
                        <a:rPr sz="1000" b="0">
                          <a:solidFill>
                            <a:srgbClr val="111827"/>
                          </a:solidFill>
                          <a:latin typeface="Poppins"/>
                        </a:rPr>
                        <a:t>$100K starting cash reserve. Mercury credit line. No FTE hires until $50K MRR locked.</a:t>
                      </a:r>
                    </a:p>
                  </a:txBody>
                  <a:tcPr>
                    <a:solidFill>
                      <a:srgbClr val="FFFFFF"/>
                    </a:solidFill>
                  </a:tcPr>
                </a:tc>
              </a:tr>
            </a:tbl>
          </a:graphicData>
        </a:graphic>
      </p:graphicFrame>
      <p:sp>
        <p:nvSpPr>
          <p:cNvPr id="11" name="TextBox 10"/>
          <p:cNvSpPr txBox="1"/>
          <p:nvPr/>
        </p:nvSpPr>
        <p:spPr>
          <a:xfrm>
            <a:off x="457200" y="5715000"/>
            <a:ext cx="11247120" cy="274320"/>
          </a:xfrm>
          <a:prstGeom prst="rect">
            <a:avLst/>
          </a:prstGeom>
          <a:noFill/>
        </p:spPr>
        <p:txBody>
          <a:bodyPr wrap="square" lIns="45720" rIns="45720" tIns="18288" bIns="18288" anchor="t">
            <a:spAutoFit/>
          </a:bodyPr>
          <a:lstStyle/>
          <a:p>
            <a:pPr algn="l"/>
            <a:r>
              <a:rPr sz="1000" b="1" i="0">
                <a:solidFill>
                  <a:srgbClr val="4A5568"/>
                </a:solidFill>
                <a:latin typeface="Poppins"/>
              </a:rPr>
              <a:t>ALSO TRACKING</a:t>
            </a:r>
          </a:p>
        </p:txBody>
      </p:sp>
      <p:sp>
        <p:nvSpPr>
          <p:cNvPr id="12" name="Rectangle 11"/>
          <p:cNvSpPr/>
          <p:nvPr/>
        </p:nvSpPr>
        <p:spPr>
          <a:xfrm>
            <a:off x="457200" y="6035040"/>
            <a:ext cx="13716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6035040"/>
            <a:ext cx="3657600" cy="274320"/>
          </a:xfrm>
          <a:prstGeom prst="rect">
            <a:avLst/>
          </a:prstGeom>
          <a:noFill/>
        </p:spPr>
        <p:txBody>
          <a:bodyPr wrap="square" lIns="45720" rIns="45720" tIns="18288" bIns="18288" anchor="t">
            <a:spAutoFit/>
          </a:bodyPr>
          <a:lstStyle/>
          <a:p>
            <a:pPr algn="l"/>
            <a:r>
              <a:rPr sz="1000" b="1" i="0">
                <a:solidFill>
                  <a:srgbClr val="1F2A44"/>
                </a:solidFill>
                <a:latin typeface="Poppins"/>
              </a:rPr>
              <a:t>Wrong FTE #1 hire</a:t>
            </a:r>
          </a:p>
        </p:txBody>
      </p:sp>
      <p:sp>
        <p:nvSpPr>
          <p:cNvPr id="14" name="TextBox 13"/>
          <p:cNvSpPr txBox="1"/>
          <p:nvPr/>
        </p:nvSpPr>
        <p:spPr>
          <a:xfrm>
            <a:off x="4572000" y="6035040"/>
            <a:ext cx="7132320" cy="274320"/>
          </a:xfrm>
          <a:prstGeom prst="rect">
            <a:avLst/>
          </a:prstGeom>
          <a:noFill/>
        </p:spPr>
        <p:txBody>
          <a:bodyPr wrap="square" lIns="45720" rIns="45720" tIns="18288" bIns="18288" anchor="t">
            <a:spAutoFit/>
          </a:bodyPr>
          <a:lstStyle/>
          <a:p>
            <a:pPr algn="l"/>
            <a:r>
              <a:rPr sz="1000" b="0" i="0">
                <a:solidFill>
                  <a:srgbClr val="4A5568"/>
                </a:solidFill>
                <a:latin typeface="Poppins"/>
              </a:rPr>
              <a:t>Use STG network referrals. 90-day trial. Clear scorecard.</a:t>
            </a:r>
          </a:p>
        </p:txBody>
      </p:sp>
      <p:sp>
        <p:nvSpPr>
          <p:cNvPr id="15" name="Rectangle 14"/>
          <p:cNvSpPr/>
          <p:nvPr/>
        </p:nvSpPr>
        <p:spPr>
          <a:xfrm>
            <a:off x="457200" y="6355079"/>
            <a:ext cx="13716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6355079"/>
            <a:ext cx="3657600" cy="274320"/>
          </a:xfrm>
          <a:prstGeom prst="rect">
            <a:avLst/>
          </a:prstGeom>
          <a:noFill/>
        </p:spPr>
        <p:txBody>
          <a:bodyPr wrap="square" lIns="45720" rIns="45720" tIns="18288" bIns="18288" anchor="t">
            <a:spAutoFit/>
          </a:bodyPr>
          <a:lstStyle/>
          <a:p>
            <a:pPr algn="l"/>
            <a:r>
              <a:rPr sz="1000" b="1" i="0">
                <a:solidFill>
                  <a:srgbClr val="1F2A44"/>
                </a:solidFill>
                <a:latin typeface="Poppins"/>
              </a:rPr>
              <a:t>Competitor copies AI Receptionist positioning</a:t>
            </a:r>
          </a:p>
        </p:txBody>
      </p:sp>
      <p:sp>
        <p:nvSpPr>
          <p:cNvPr id="17" name="TextBox 16"/>
          <p:cNvSpPr txBox="1"/>
          <p:nvPr/>
        </p:nvSpPr>
        <p:spPr>
          <a:xfrm>
            <a:off x="4572000" y="6355079"/>
            <a:ext cx="7132320" cy="274320"/>
          </a:xfrm>
          <a:prstGeom prst="rect">
            <a:avLst/>
          </a:prstGeom>
          <a:noFill/>
        </p:spPr>
        <p:txBody>
          <a:bodyPr wrap="square" lIns="45720" rIns="45720" tIns="18288" bIns="18288" anchor="t">
            <a:spAutoFit/>
          </a:bodyPr>
          <a:lstStyle/>
          <a:p>
            <a:pPr algn="l"/>
            <a:r>
              <a:rPr sz="1000" b="0" i="0">
                <a:solidFill>
                  <a:srgbClr val="4A5568"/>
                </a:solidFill>
                <a:latin typeface="Poppins"/>
              </a:rPr>
              <a:t>Move fast. Case studies. Trademark 'Leaky Bucket Diagnostic'.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45720" rIns="45720" tIns="18288" bIns="18288" anchor="t">
            <a:spAutoFit/>
          </a:bodyPr>
          <a:lstStyle/>
          <a:p>
            <a:pPr algn="l"/>
            <a:r>
              <a:rPr sz="1000" b="1" i="0">
                <a:solidFill>
                  <a:srgbClr val="00A3E0"/>
                </a:solidFill>
                <a:latin typeface="Poppins"/>
              </a:rPr>
              <a:t>16 · THE ASK</a:t>
            </a:r>
          </a:p>
        </p:txBody>
      </p:sp>
      <p:sp>
        <p:nvSpPr>
          <p:cNvPr id="4" name="TextBox 3"/>
          <p:cNvSpPr txBox="1"/>
          <p:nvPr/>
        </p:nvSpPr>
        <p:spPr>
          <a:xfrm>
            <a:off x="457200" y="594360"/>
            <a:ext cx="11247120" cy="640080"/>
          </a:xfrm>
          <a:prstGeom prst="rect">
            <a:avLst/>
          </a:prstGeom>
          <a:noFill/>
        </p:spPr>
        <p:txBody>
          <a:bodyPr wrap="square" lIns="45720" rIns="45720" tIns="18288" bIns="18288" anchor="t">
            <a:spAutoFit/>
          </a:bodyPr>
          <a:lstStyle/>
          <a:p>
            <a:pPr algn="l"/>
            <a:r>
              <a:rPr sz="2800" b="1" i="0">
                <a:solidFill>
                  <a:srgbClr val="1F2A44"/>
                </a:solidFill>
                <a:latin typeface="Poppins"/>
              </a:rPr>
              <a:t>Three decisions Rob makes today.</a:t>
            </a:r>
          </a:p>
        </p:txBody>
      </p:sp>
      <p:sp>
        <p:nvSpPr>
          <p:cNvPr id="5" name="Rectangle 4"/>
          <p:cNvSpPr/>
          <p:nvPr/>
        </p:nvSpPr>
        <p:spPr>
          <a:xfrm>
            <a:off x="457200" y="1234440"/>
            <a:ext cx="914400" cy="4572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320040"/>
            <a:ext cx="640080" cy="274320"/>
          </a:xfrm>
          <a:prstGeom prst="rect">
            <a:avLst/>
          </a:prstGeom>
          <a:noFill/>
        </p:spPr>
        <p:txBody>
          <a:bodyPr wrap="square" lIns="45720" rIns="45720" tIns="18288" bIns="18288" anchor="t">
            <a:spAutoFit/>
          </a:bodyPr>
          <a:lstStyle/>
          <a:p>
            <a:pPr algn="r"/>
            <a:r>
              <a:rPr sz="900" b="1" i="0">
                <a:solidFill>
                  <a:srgbClr val="4A5568"/>
                </a:solidFill>
                <a:latin typeface="Poppins"/>
              </a:rPr>
              <a:t>17 / 18</a:t>
            </a:r>
          </a:p>
        </p:txBody>
      </p:sp>
      <p:sp>
        <p:nvSpPr>
          <p:cNvPr id="7" name="Rectangle 6"/>
          <p:cNvSpPr/>
          <p:nvPr/>
        </p:nvSpPr>
        <p:spPr>
          <a:xfrm>
            <a:off x="0" y="6720840"/>
            <a:ext cx="12191695" cy="1371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492240"/>
            <a:ext cx="3657600" cy="274320"/>
          </a:xfrm>
          <a:prstGeom prst="rect">
            <a:avLst/>
          </a:prstGeom>
          <a:noFill/>
        </p:spPr>
        <p:txBody>
          <a:bodyPr wrap="square" lIns="45720" rIns="45720" tIns="18288" bIns="18288" anchor="t">
            <a:spAutoFit/>
          </a:bodyPr>
          <a:lstStyle/>
          <a:p>
            <a:pPr algn="l"/>
            <a:r>
              <a:rPr sz="800" b="1" i="0">
                <a:solidFill>
                  <a:srgbClr val="1F2A44"/>
                </a:solidFill>
                <a:latin typeface="Poppins"/>
              </a:rPr>
              <a:t>CLOSECLINIC</a:t>
            </a:r>
          </a:p>
        </p:txBody>
      </p:sp>
      <p:sp>
        <p:nvSpPr>
          <p:cNvPr id="9" name="TextBox 8"/>
          <p:cNvSpPr txBox="1"/>
          <p:nvPr/>
        </p:nvSpPr>
        <p:spPr>
          <a:xfrm>
            <a:off x="6400800" y="6492240"/>
            <a:ext cx="5486400" cy="274320"/>
          </a:xfrm>
          <a:prstGeom prst="rect">
            <a:avLst/>
          </a:prstGeom>
          <a:noFill/>
        </p:spPr>
        <p:txBody>
          <a:bodyPr wrap="square" lIns="45720" rIns="45720" tIns="18288" bIns="18288" anchor="t">
            <a:spAutoFit/>
          </a:bodyPr>
          <a:lstStyle/>
          <a:p>
            <a:pPr algn="r"/>
            <a:r>
              <a:rPr sz="800" b="0" i="0">
                <a:solidFill>
                  <a:srgbClr val="4A5568"/>
                </a:solidFill>
                <a:latin typeface="Poppins"/>
              </a:rPr>
              <a:t>CloseClinic · Launch Plan · 2026-04-21 · p.17</a:t>
            </a:r>
          </a:p>
        </p:txBody>
      </p:sp>
      <p:sp>
        <p:nvSpPr>
          <p:cNvPr id="10" name="Rectangle 9"/>
          <p:cNvSpPr/>
          <p:nvPr/>
        </p:nvSpPr>
        <p:spPr>
          <a:xfrm>
            <a:off x="457200" y="1508760"/>
            <a:ext cx="3749039" cy="466344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508760"/>
            <a:ext cx="3749039" cy="114300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645920"/>
            <a:ext cx="3291839" cy="274320"/>
          </a:xfrm>
          <a:prstGeom prst="rect">
            <a:avLst/>
          </a:prstGeom>
          <a:noFill/>
        </p:spPr>
        <p:txBody>
          <a:bodyPr wrap="square" lIns="45720" rIns="45720" tIns="18288" bIns="18288" anchor="t">
            <a:spAutoFit/>
          </a:bodyPr>
          <a:lstStyle/>
          <a:p>
            <a:pPr algn="l"/>
            <a:r>
              <a:rPr sz="1000" b="1" i="0">
                <a:solidFill>
                  <a:srgbClr val="FFFFFF"/>
                </a:solidFill>
                <a:latin typeface="Poppins"/>
              </a:rPr>
              <a:t>DECISION 01</a:t>
            </a:r>
          </a:p>
        </p:txBody>
      </p:sp>
      <p:sp>
        <p:nvSpPr>
          <p:cNvPr id="13" name="TextBox 12"/>
          <p:cNvSpPr txBox="1"/>
          <p:nvPr/>
        </p:nvSpPr>
        <p:spPr>
          <a:xfrm>
            <a:off x="685800" y="1920240"/>
            <a:ext cx="3291839" cy="457200"/>
          </a:xfrm>
          <a:prstGeom prst="rect">
            <a:avLst/>
          </a:prstGeom>
          <a:noFill/>
        </p:spPr>
        <p:txBody>
          <a:bodyPr wrap="square" lIns="45720" rIns="45720" tIns="18288" bIns="18288" anchor="t">
            <a:spAutoFit/>
          </a:bodyPr>
          <a:lstStyle/>
          <a:p>
            <a:pPr algn="l"/>
            <a:r>
              <a:rPr sz="1800" b="1" i="0">
                <a:solidFill>
                  <a:srgbClr val="FFFFFF"/>
                </a:solidFill>
                <a:latin typeface="Poppins"/>
              </a:rPr>
              <a:t>Lock the name</a:t>
            </a:r>
          </a:p>
        </p:txBody>
      </p:sp>
      <p:sp>
        <p:nvSpPr>
          <p:cNvPr id="14" name="TextBox 13"/>
          <p:cNvSpPr txBox="1"/>
          <p:nvPr/>
        </p:nvSpPr>
        <p:spPr>
          <a:xfrm>
            <a:off x="731520" y="2834640"/>
            <a:ext cx="3200399" cy="1097280"/>
          </a:xfrm>
          <a:prstGeom prst="rect">
            <a:avLst/>
          </a:prstGeom>
          <a:noFill/>
        </p:spPr>
        <p:txBody>
          <a:bodyPr wrap="square" lIns="45720" rIns="45720" tIns="18288" bIns="18288" anchor="t">
            <a:spAutoFit/>
          </a:bodyPr>
          <a:lstStyle/>
          <a:p>
            <a:pPr algn="l"/>
            <a:r>
              <a:rPr sz="2000" b="1" i="0">
                <a:solidFill>
                  <a:srgbClr val="1F2A44"/>
                </a:solidFill>
                <a:latin typeface="Poppins"/>
              </a:rPr>
              <a:t>CloseClinic</a:t>
            </a:r>
          </a:p>
        </p:txBody>
      </p:sp>
      <p:sp>
        <p:nvSpPr>
          <p:cNvPr id="15" name="TextBox 14"/>
          <p:cNvSpPr txBox="1"/>
          <p:nvPr/>
        </p:nvSpPr>
        <p:spPr>
          <a:xfrm>
            <a:off x="731520" y="4114800"/>
            <a:ext cx="3200399" cy="1554480"/>
          </a:xfrm>
          <a:prstGeom prst="rect">
            <a:avLst/>
          </a:prstGeom>
          <a:noFill/>
        </p:spPr>
        <p:txBody>
          <a:bodyPr wrap="square" lIns="45720" rIns="45720" tIns="18288" bIns="18288" anchor="t">
            <a:spAutoFit/>
          </a:bodyPr>
          <a:lstStyle/>
          <a:p>
            <a:pPr algn="l"/>
            <a:r>
              <a:rPr sz="1100" b="0" i="0">
                <a:solidFill>
                  <a:srgbClr val="4A5568"/>
                </a:solidFill>
                <a:latin typeface="Poppins"/>
              </a:rPr>
              <a:t>All 3 TLDs available. Diagnostic metaphor extends to tier naming (Diagnose → Prescription → Treatment). Backup: AceClose.</a:t>
            </a:r>
          </a:p>
        </p:txBody>
      </p:sp>
      <p:sp>
        <p:nvSpPr>
          <p:cNvPr id="16" name="Rectangle 15"/>
          <p:cNvSpPr/>
          <p:nvPr/>
        </p:nvSpPr>
        <p:spPr>
          <a:xfrm>
            <a:off x="731520" y="5532120"/>
            <a:ext cx="3200399" cy="5029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532120"/>
            <a:ext cx="3200399" cy="502920"/>
          </a:xfrm>
          <a:prstGeom prst="rect">
            <a:avLst/>
          </a:prstGeom>
          <a:noFill/>
        </p:spPr>
        <p:txBody>
          <a:bodyPr wrap="square" lIns="45720" rIns="45720" tIns="18288" bIns="18288" anchor="ctr">
            <a:spAutoFit/>
          </a:bodyPr>
          <a:lstStyle/>
          <a:p>
            <a:pPr algn="ctr"/>
            <a:r>
              <a:rPr sz="1100" b="1" i="0">
                <a:solidFill>
                  <a:srgbClr val="00A3E0"/>
                </a:solidFill>
                <a:latin typeface="Poppins"/>
              </a:rPr>
              <a:t>Register .com + .ai + .co today.</a:t>
            </a:r>
          </a:p>
        </p:txBody>
      </p:sp>
      <p:sp>
        <p:nvSpPr>
          <p:cNvPr id="18" name="Rectangle 17"/>
          <p:cNvSpPr/>
          <p:nvPr/>
        </p:nvSpPr>
        <p:spPr>
          <a:xfrm>
            <a:off x="4343399" y="1508760"/>
            <a:ext cx="3749039" cy="466344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43399" y="1508760"/>
            <a:ext cx="3749039" cy="1143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1999" y="1645920"/>
            <a:ext cx="3291839" cy="274320"/>
          </a:xfrm>
          <a:prstGeom prst="rect">
            <a:avLst/>
          </a:prstGeom>
          <a:noFill/>
        </p:spPr>
        <p:txBody>
          <a:bodyPr wrap="square" lIns="45720" rIns="45720" tIns="18288" bIns="18288" anchor="t">
            <a:spAutoFit/>
          </a:bodyPr>
          <a:lstStyle/>
          <a:p>
            <a:pPr algn="l"/>
            <a:r>
              <a:rPr sz="1000" b="1" i="0">
                <a:solidFill>
                  <a:srgbClr val="FFFFFF"/>
                </a:solidFill>
                <a:latin typeface="Poppins"/>
              </a:rPr>
              <a:t>DECISION 02</a:t>
            </a:r>
          </a:p>
        </p:txBody>
      </p:sp>
      <p:sp>
        <p:nvSpPr>
          <p:cNvPr id="21" name="TextBox 20"/>
          <p:cNvSpPr txBox="1"/>
          <p:nvPr/>
        </p:nvSpPr>
        <p:spPr>
          <a:xfrm>
            <a:off x="4571999" y="1920240"/>
            <a:ext cx="3291839" cy="457200"/>
          </a:xfrm>
          <a:prstGeom prst="rect">
            <a:avLst/>
          </a:prstGeom>
          <a:noFill/>
        </p:spPr>
        <p:txBody>
          <a:bodyPr wrap="square" lIns="45720" rIns="45720" tIns="18288" bIns="18288" anchor="t">
            <a:spAutoFit/>
          </a:bodyPr>
          <a:lstStyle/>
          <a:p>
            <a:pPr algn="l"/>
            <a:r>
              <a:rPr sz="1800" b="1" i="0">
                <a:solidFill>
                  <a:srgbClr val="FFFFFF"/>
                </a:solidFill>
                <a:latin typeface="Poppins"/>
              </a:rPr>
              <a:t>Lock the ICP</a:t>
            </a:r>
          </a:p>
        </p:txBody>
      </p:sp>
      <p:sp>
        <p:nvSpPr>
          <p:cNvPr id="22" name="TextBox 21"/>
          <p:cNvSpPr txBox="1"/>
          <p:nvPr/>
        </p:nvSpPr>
        <p:spPr>
          <a:xfrm>
            <a:off x="4617719" y="2834640"/>
            <a:ext cx="3200399" cy="1097280"/>
          </a:xfrm>
          <a:prstGeom prst="rect">
            <a:avLst/>
          </a:prstGeom>
          <a:noFill/>
        </p:spPr>
        <p:txBody>
          <a:bodyPr wrap="square" lIns="45720" rIns="45720" tIns="18288" bIns="18288" anchor="t">
            <a:spAutoFit/>
          </a:bodyPr>
          <a:lstStyle/>
          <a:p>
            <a:pPr algn="l"/>
            <a:r>
              <a:rPr sz="2000" b="1" i="0">
                <a:solidFill>
                  <a:srgbClr val="1F2A44"/>
                </a:solidFill>
                <a:latin typeface="Poppins"/>
              </a:rPr>
              <a:t>$3M–$10M residential contractors, 5–15 reps</a:t>
            </a:r>
          </a:p>
        </p:txBody>
      </p:sp>
      <p:sp>
        <p:nvSpPr>
          <p:cNvPr id="23" name="TextBox 22"/>
          <p:cNvSpPr txBox="1"/>
          <p:nvPr/>
        </p:nvSpPr>
        <p:spPr>
          <a:xfrm>
            <a:off x="4617719" y="4114800"/>
            <a:ext cx="3200399" cy="1554480"/>
          </a:xfrm>
          <a:prstGeom prst="rect">
            <a:avLst/>
          </a:prstGeom>
          <a:noFill/>
        </p:spPr>
        <p:txBody>
          <a:bodyPr wrap="square" lIns="45720" rIns="45720" tIns="18288" bIns="18288" anchor="t">
            <a:spAutoFit/>
          </a:bodyPr>
          <a:lstStyle/>
          <a:p>
            <a:pPr algn="l"/>
            <a:r>
              <a:rPr sz="1100" b="0" i="0">
                <a:solidFill>
                  <a:srgbClr val="4A5568"/>
                </a:solidFill>
                <a:latin typeface="Poppins"/>
              </a:rPr>
              <a:t>Roofing / HVAC / remodeling / exteriors. US nationwide. TX/FL/CO/GA/AZ priority. Owner-led transitioning to pro sales org. Bleeding inbound.</a:t>
            </a:r>
          </a:p>
        </p:txBody>
      </p:sp>
      <p:sp>
        <p:nvSpPr>
          <p:cNvPr id="24" name="Rectangle 23"/>
          <p:cNvSpPr/>
          <p:nvPr/>
        </p:nvSpPr>
        <p:spPr>
          <a:xfrm>
            <a:off x="4617719" y="5532120"/>
            <a:ext cx="3200399" cy="5029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17719" y="5532120"/>
            <a:ext cx="3200399" cy="502920"/>
          </a:xfrm>
          <a:prstGeom prst="rect">
            <a:avLst/>
          </a:prstGeom>
          <a:noFill/>
        </p:spPr>
        <p:txBody>
          <a:bodyPr wrap="square" lIns="45720" rIns="45720" tIns="18288" bIns="18288" anchor="ctr">
            <a:spAutoFit/>
          </a:bodyPr>
          <a:lstStyle/>
          <a:p>
            <a:pPr algn="ctr"/>
            <a:r>
              <a:rPr sz="1100" b="1" i="0">
                <a:solidFill>
                  <a:srgbClr val="1F2A44"/>
                </a:solidFill>
                <a:latin typeface="Poppins"/>
              </a:rPr>
              <a:t>Confirm Tier 2 is the profit engine.</a:t>
            </a:r>
          </a:p>
        </p:txBody>
      </p:sp>
      <p:sp>
        <p:nvSpPr>
          <p:cNvPr id="26" name="Rectangle 25"/>
          <p:cNvSpPr/>
          <p:nvPr/>
        </p:nvSpPr>
        <p:spPr>
          <a:xfrm>
            <a:off x="8229598" y="1508760"/>
            <a:ext cx="3749039" cy="466344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9598" y="1508760"/>
            <a:ext cx="3749039" cy="114300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58198" y="1645920"/>
            <a:ext cx="3291839" cy="274320"/>
          </a:xfrm>
          <a:prstGeom prst="rect">
            <a:avLst/>
          </a:prstGeom>
          <a:noFill/>
        </p:spPr>
        <p:txBody>
          <a:bodyPr wrap="square" lIns="45720" rIns="45720" tIns="18288" bIns="18288" anchor="t">
            <a:spAutoFit/>
          </a:bodyPr>
          <a:lstStyle/>
          <a:p>
            <a:pPr algn="l"/>
            <a:r>
              <a:rPr sz="1000" b="1" i="0">
                <a:solidFill>
                  <a:srgbClr val="FFFFFF"/>
                </a:solidFill>
                <a:latin typeface="Poppins"/>
              </a:rPr>
              <a:t>DECISION 03</a:t>
            </a:r>
          </a:p>
        </p:txBody>
      </p:sp>
      <p:sp>
        <p:nvSpPr>
          <p:cNvPr id="29" name="TextBox 28"/>
          <p:cNvSpPr txBox="1"/>
          <p:nvPr/>
        </p:nvSpPr>
        <p:spPr>
          <a:xfrm>
            <a:off x="8458198" y="1920240"/>
            <a:ext cx="3291839" cy="457200"/>
          </a:xfrm>
          <a:prstGeom prst="rect">
            <a:avLst/>
          </a:prstGeom>
          <a:noFill/>
        </p:spPr>
        <p:txBody>
          <a:bodyPr wrap="square" lIns="45720" rIns="45720" tIns="18288" bIns="18288" anchor="t">
            <a:spAutoFit/>
          </a:bodyPr>
          <a:lstStyle/>
          <a:p>
            <a:pPr algn="l"/>
            <a:r>
              <a:rPr sz="1800" b="1" i="0">
                <a:solidFill>
                  <a:srgbClr val="FFFFFF"/>
                </a:solidFill>
                <a:latin typeface="Poppins"/>
              </a:rPr>
              <a:t>Lock the capital</a:t>
            </a:r>
          </a:p>
        </p:txBody>
      </p:sp>
      <p:sp>
        <p:nvSpPr>
          <p:cNvPr id="30" name="TextBox 29"/>
          <p:cNvSpPr txBox="1"/>
          <p:nvPr/>
        </p:nvSpPr>
        <p:spPr>
          <a:xfrm>
            <a:off x="8503918" y="2834640"/>
            <a:ext cx="3200399" cy="1097280"/>
          </a:xfrm>
          <a:prstGeom prst="rect">
            <a:avLst/>
          </a:prstGeom>
          <a:noFill/>
        </p:spPr>
        <p:txBody>
          <a:bodyPr wrap="square" lIns="45720" rIns="45720" tIns="18288" bIns="18288" anchor="t">
            <a:spAutoFit/>
          </a:bodyPr>
          <a:lstStyle/>
          <a:p>
            <a:pPr algn="l"/>
            <a:r>
              <a:rPr sz="2000" b="1" i="0">
                <a:solidFill>
                  <a:srgbClr val="1F2A44"/>
                </a:solidFill>
                <a:latin typeface="Poppins"/>
              </a:rPr>
              <a:t>$100K runway</a:t>
            </a:r>
          </a:p>
        </p:txBody>
      </p:sp>
      <p:sp>
        <p:nvSpPr>
          <p:cNvPr id="31" name="TextBox 30"/>
          <p:cNvSpPr txBox="1"/>
          <p:nvPr/>
        </p:nvSpPr>
        <p:spPr>
          <a:xfrm>
            <a:off x="8503918" y="4114800"/>
            <a:ext cx="3200399" cy="1554480"/>
          </a:xfrm>
          <a:prstGeom prst="rect">
            <a:avLst/>
          </a:prstGeom>
          <a:noFill/>
        </p:spPr>
        <p:txBody>
          <a:bodyPr wrap="square" lIns="45720" rIns="45720" tIns="18288" bIns="18288" anchor="t">
            <a:spAutoFit/>
          </a:bodyPr>
          <a:lstStyle/>
          <a:p>
            <a:pPr algn="l"/>
            <a:r>
              <a:rPr sz="1100" b="0" i="0">
                <a:solidFill>
                  <a:srgbClr val="4A5568"/>
                </a:solidFill>
                <a:latin typeface="Poppins"/>
              </a:rPr>
              <a:t>$50K hard bootstrap + $50K cushion. Legal $2K · Brand $3K · Tools + infra $5K · Marketing $5K · Personal runway $30K · Buffer $5K.</a:t>
            </a:r>
          </a:p>
        </p:txBody>
      </p:sp>
      <p:sp>
        <p:nvSpPr>
          <p:cNvPr id="32" name="Rectangle 31"/>
          <p:cNvSpPr/>
          <p:nvPr/>
        </p:nvSpPr>
        <p:spPr>
          <a:xfrm>
            <a:off x="8503918" y="5532120"/>
            <a:ext cx="3200399" cy="5029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03918" y="5532120"/>
            <a:ext cx="3200399" cy="502920"/>
          </a:xfrm>
          <a:prstGeom prst="rect">
            <a:avLst/>
          </a:prstGeom>
          <a:noFill/>
        </p:spPr>
        <p:txBody>
          <a:bodyPr wrap="square" lIns="45720" rIns="45720" tIns="18288" bIns="18288" anchor="ctr">
            <a:spAutoFit/>
          </a:bodyPr>
          <a:lstStyle/>
          <a:p>
            <a:pPr algn="ctr"/>
            <a:r>
              <a:rPr sz="1100" b="1" i="0">
                <a:solidFill>
                  <a:srgbClr val="22C55E"/>
                </a:solidFill>
                <a:latin typeface="Poppins"/>
              </a:rPr>
              <a:t>Cash-flow positive Month 2 at 10 clients.</a:t>
            </a:r>
          </a:p>
        </p:txBody>
      </p:sp>
      <p:sp>
        <p:nvSpPr>
          <p:cNvPr id="34" name="Rectangle 33"/>
          <p:cNvSpPr/>
          <p:nvPr/>
        </p:nvSpPr>
        <p:spPr>
          <a:xfrm>
            <a:off x="457200" y="6355080"/>
            <a:ext cx="11247120" cy="32004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6364224"/>
            <a:ext cx="10972800" cy="320040"/>
          </a:xfrm>
          <a:prstGeom prst="rect">
            <a:avLst/>
          </a:prstGeom>
          <a:noFill/>
        </p:spPr>
        <p:txBody>
          <a:bodyPr wrap="square" lIns="45720" rIns="45720" tIns="18288" bIns="18288" anchor="ctr">
            <a:spAutoFit/>
          </a:bodyPr>
          <a:lstStyle/>
          <a:p>
            <a:pPr algn="l"/>
            <a:r>
              <a:rPr sz="1100" b="1" i="1">
                <a:solidFill>
                  <a:srgbClr val="FFFFFF"/>
                </a:solidFill>
                <a:latin typeface="Poppins"/>
              </a:rPr>
              <a:t>Once the three decisions lock, Week 1 foundation work begins the same day.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548640"/>
            <a:ext cx="5486400" cy="274320"/>
          </a:xfrm>
          <a:prstGeom prst="rect">
            <a:avLst/>
          </a:prstGeom>
          <a:noFill/>
        </p:spPr>
        <p:txBody>
          <a:bodyPr wrap="square" lIns="45720" rIns="45720" tIns="18288" bIns="18288" anchor="t">
            <a:spAutoFit/>
          </a:bodyPr>
          <a:lstStyle/>
          <a:p>
            <a:pPr algn="l"/>
            <a:r>
              <a:rPr sz="1000" b="1" i="0">
                <a:solidFill>
                  <a:srgbClr val="00A3E0"/>
                </a:solidFill>
                <a:latin typeface="Poppins"/>
              </a:rPr>
              <a:t>CLOSING  //  THE MANIFESTO LINE</a:t>
            </a:r>
          </a:p>
        </p:txBody>
      </p:sp>
      <p:sp>
        <p:nvSpPr>
          <p:cNvPr id="5" name="TextBox 4"/>
          <p:cNvSpPr txBox="1"/>
          <p:nvPr/>
        </p:nvSpPr>
        <p:spPr>
          <a:xfrm>
            <a:off x="914400" y="1280160"/>
            <a:ext cx="10332720" cy="2926080"/>
          </a:xfrm>
          <a:prstGeom prst="rect">
            <a:avLst/>
          </a:prstGeom>
          <a:noFill/>
        </p:spPr>
        <p:txBody>
          <a:bodyPr wrap="square" lIns="45720" rIns="45720" tIns="18288" bIns="18288" anchor="t">
            <a:spAutoFit/>
          </a:bodyPr>
          <a:lstStyle/>
          <a:p>
            <a:pPr algn="l">
              <a:spcAft>
                <a:spcPts val="600"/>
              </a:spcAft>
            </a:pPr>
            <a:r>
              <a:rPr sz="6200" b="1" i="0">
                <a:solidFill>
                  <a:srgbClr val="CBD2DC"/>
                </a:solidFill>
                <a:latin typeface="Poppins"/>
              </a:rPr>
              <a:t>We don't just train.</a:t>
            </a:r>
          </a:p>
          <a:p>
            <a:pPr algn="l"/>
            <a:r>
              <a:rPr sz="6200" b="1" i="0">
                <a:solidFill>
                  <a:srgbClr val="FFFFFF"/>
                </a:solidFill>
                <a:latin typeface="Poppins"/>
              </a:rPr>
              <a:t>We install the stack.</a:t>
            </a:r>
          </a:p>
        </p:txBody>
      </p:sp>
      <p:sp>
        <p:nvSpPr>
          <p:cNvPr id="6" name="Rectangle 5"/>
          <p:cNvSpPr/>
          <p:nvPr/>
        </p:nvSpPr>
        <p:spPr>
          <a:xfrm>
            <a:off x="914400" y="4023360"/>
            <a:ext cx="2286000" cy="54864"/>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457200"/>
          </a:xfrm>
          <a:prstGeom prst="rect">
            <a:avLst/>
          </a:prstGeom>
          <a:noFill/>
        </p:spPr>
        <p:txBody>
          <a:bodyPr wrap="square" lIns="45720" rIns="45720" tIns="18288" bIns="18288" anchor="t">
            <a:spAutoFit/>
          </a:bodyPr>
          <a:lstStyle/>
          <a:p>
            <a:pPr algn="l"/>
            <a:r>
              <a:rPr sz="2000" b="0" i="1">
                <a:solidFill>
                  <a:srgbClr val="00A3E0"/>
                </a:solidFill>
                <a:latin typeface="Poppins"/>
              </a:rPr>
              <a:t>The AI-Powered Sales OS for Contractors.</a:t>
            </a:r>
          </a:p>
        </p:txBody>
      </p:sp>
      <p:sp>
        <p:nvSpPr>
          <p:cNvPr id="8" name="Rectangle 7"/>
          <p:cNvSpPr/>
          <p:nvPr/>
        </p:nvSpPr>
        <p:spPr>
          <a:xfrm>
            <a:off x="914400" y="4846320"/>
            <a:ext cx="5303520" cy="141732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4983480"/>
            <a:ext cx="5029200" cy="1280160"/>
          </a:xfrm>
          <a:prstGeom prst="rect">
            <a:avLst/>
          </a:prstGeom>
          <a:noFill/>
        </p:spPr>
        <p:txBody>
          <a:bodyPr wrap="square" lIns="45720" rIns="45720" tIns="18288" bIns="18288" anchor="t">
            <a:spAutoFit/>
          </a:bodyPr>
          <a:lstStyle/>
          <a:p>
            <a:pPr algn="l">
              <a:spcAft>
                <a:spcPts val="600"/>
              </a:spcAft>
            </a:pPr>
            <a:r>
              <a:rPr sz="900" b="1" i="0">
                <a:solidFill>
                  <a:srgbClr val="1F2A44"/>
                </a:solidFill>
                <a:latin typeface="Poppins"/>
              </a:rPr>
              <a:t>NEXT ACTION  //  TODAY</a:t>
            </a:r>
          </a:p>
          <a:p>
            <a:pPr algn="l">
              <a:spcAft>
                <a:spcPts val="400"/>
              </a:spcAft>
            </a:pPr>
            <a:r>
              <a:rPr sz="2200" b="1" i="0">
                <a:solidFill>
                  <a:srgbClr val="FFFFFF"/>
                </a:solidFill>
                <a:latin typeface="Poppins"/>
              </a:rPr>
              <a:t>Book 30-min founder call</a:t>
            </a:r>
          </a:p>
          <a:p>
            <a:pPr algn="l"/>
            <a:r>
              <a:rPr sz="1200" b="0" i="0">
                <a:solidFill>
                  <a:srgbClr val="FFFFFF"/>
                </a:solidFill>
                <a:latin typeface="Poppins"/>
              </a:rPr>
              <a:t>Go / no-go on CloseClinic + $100K capital commit</a:t>
            </a:r>
          </a:p>
        </p:txBody>
      </p:sp>
      <p:sp>
        <p:nvSpPr>
          <p:cNvPr id="10" name="Rectangle 9"/>
          <p:cNvSpPr/>
          <p:nvPr/>
        </p:nvSpPr>
        <p:spPr>
          <a:xfrm>
            <a:off x="6400800" y="4846320"/>
            <a:ext cx="4846320"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4983480"/>
            <a:ext cx="4389120" cy="1280160"/>
          </a:xfrm>
          <a:prstGeom prst="rect">
            <a:avLst/>
          </a:prstGeom>
          <a:noFill/>
        </p:spPr>
        <p:txBody>
          <a:bodyPr wrap="square" lIns="45720" rIns="45720" tIns="18288" bIns="18288" anchor="t">
            <a:spAutoFit/>
          </a:bodyPr>
          <a:lstStyle/>
          <a:p>
            <a:pPr algn="l">
              <a:spcAft>
                <a:spcPts val="600"/>
              </a:spcAft>
            </a:pPr>
            <a:r>
              <a:rPr sz="900" b="1" i="0">
                <a:solidFill>
                  <a:srgbClr val="00A3E0"/>
                </a:solidFill>
                <a:latin typeface="Poppins"/>
              </a:rPr>
              <a:t>NEXT ACTION  //  DAY 1</a:t>
            </a:r>
          </a:p>
          <a:p>
            <a:pPr algn="l">
              <a:spcAft>
                <a:spcPts val="400"/>
              </a:spcAft>
            </a:pPr>
            <a:r>
              <a:rPr sz="2200" b="1" i="0">
                <a:solidFill>
                  <a:srgbClr val="1F2A44"/>
                </a:solidFill>
                <a:latin typeface="Poppins"/>
              </a:rPr>
              <a:t>Register domains · file LLC</a:t>
            </a:r>
          </a:p>
          <a:p>
            <a:pPr algn="l"/>
            <a:r>
              <a:rPr sz="1200" b="0" i="0">
                <a:solidFill>
                  <a:srgbClr val="4A5568"/>
                </a:solidFill>
                <a:latin typeface="Poppins"/>
              </a:rPr>
              <a:t>Mercury account · Synthflow + Chatbase plans</a:t>
            </a:r>
          </a:p>
        </p:txBody>
      </p:sp>
      <p:sp>
        <p:nvSpPr>
          <p:cNvPr id="12" name="Rectangle 11"/>
          <p:cNvSpPr/>
          <p:nvPr/>
        </p:nvSpPr>
        <p:spPr>
          <a:xfrm>
            <a:off x="0" y="6583680"/>
            <a:ext cx="12191695" cy="27432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6583680"/>
            <a:ext cx="11612880" cy="274320"/>
          </a:xfrm>
          <a:prstGeom prst="rect">
            <a:avLst/>
          </a:prstGeom>
          <a:noFill/>
        </p:spPr>
        <p:txBody>
          <a:bodyPr wrap="square" lIns="45720" rIns="45720" tIns="18288" bIns="18288" anchor="ctr">
            <a:spAutoFit/>
          </a:bodyPr>
          <a:lstStyle/>
          <a:p>
            <a:pPr algn="l"/>
            <a:r>
              <a:rPr sz="900" b="1" i="0">
                <a:solidFill>
                  <a:srgbClr val="1F2A44"/>
                </a:solidFill>
                <a:latin typeface="Poppins"/>
              </a:rPr>
              <a:t>CloseClinic  ·  Launch Plan  ·  2026-04-21  ·  p.18  //  Prepared for Rob Acheson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